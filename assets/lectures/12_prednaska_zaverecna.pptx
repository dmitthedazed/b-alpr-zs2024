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96" r:id="rId5"/>
  </p:sldMasterIdLst>
  <p:sldIdLst>
    <p:sldId id="256" r:id="rId6"/>
    <p:sldId id="309" r:id="rId7"/>
    <p:sldId id="478" r:id="rId8"/>
    <p:sldId id="446" r:id="rId9"/>
    <p:sldId id="447" r:id="rId10"/>
    <p:sldId id="454" r:id="rId11"/>
    <p:sldId id="473" r:id="rId12"/>
    <p:sldId id="474" r:id="rId13"/>
    <p:sldId id="475" r:id="rId14"/>
    <p:sldId id="479" r:id="rId15"/>
    <p:sldId id="481" r:id="rId16"/>
    <p:sldId id="482" r:id="rId17"/>
    <p:sldId id="483" r:id="rId18"/>
    <p:sldId id="484" r:id="rId19"/>
    <p:sldId id="480" r:id="rId20"/>
    <p:sldId id="485" r:id="rId21"/>
    <p:sldId id="486" r:id="rId22"/>
    <p:sldId id="487" r:id="rId23"/>
    <p:sldId id="488" r:id="rId24"/>
    <p:sldId id="492" r:id="rId25"/>
    <p:sldId id="493" r:id="rId26"/>
    <p:sldId id="494" r:id="rId27"/>
    <p:sldId id="490" r:id="rId28"/>
    <p:sldId id="495" r:id="rId29"/>
    <p:sldId id="491" r:id="rId30"/>
    <p:sldId id="496" r:id="rId31"/>
    <p:sldId id="497" r:id="rId32"/>
    <p:sldId id="498" r:id="rId33"/>
    <p:sldId id="499" r:id="rId34"/>
    <p:sldId id="500" r:id="rId35"/>
    <p:sldId id="501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510" r:id="rId45"/>
    <p:sldId id="511" r:id="rId46"/>
    <p:sldId id="512" r:id="rId47"/>
    <p:sldId id="513" r:id="rId48"/>
    <p:sldId id="514" r:id="rId49"/>
    <p:sldId id="515" r:id="rId50"/>
    <p:sldId id="516" r:id="rId51"/>
    <p:sldId id="517" r:id="rId52"/>
    <p:sldId id="518" r:id="rId53"/>
    <p:sldId id="519" r:id="rId54"/>
    <p:sldId id="520" r:id="rId55"/>
    <p:sldId id="521" r:id="rId56"/>
    <p:sldId id="522" r:id="rId57"/>
    <p:sldId id="523" r:id="rId58"/>
    <p:sldId id="524" r:id="rId59"/>
    <p:sldId id="525" r:id="rId60"/>
    <p:sldId id="526" r:id="rId61"/>
    <p:sldId id="527" r:id="rId62"/>
  </p:sldIdLst>
  <p:sldSz cx="10150475" cy="7589838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91">
          <p15:clr>
            <a:srgbClr val="A4A3A4"/>
          </p15:clr>
        </p15:guide>
        <p15:guide id="2" pos="31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7BC9E-BC77-BB55-CAB7-E24BC74EDD19}" v="17" dt="2025-01-26T21:52:16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91"/>
        <p:guide pos="319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Donoval" userId="5d0fd74c-5e5b-48ac-8aa7-7b70f31f09c8" providerId="ADAL" clId="{7FCCFD88-4408-4989-A119-C1CD87666423}"/>
    <pc:docChg chg="modSld">
      <pc:chgData name="Jakub Donoval" userId="5d0fd74c-5e5b-48ac-8aa7-7b70f31f09c8" providerId="ADAL" clId="{7FCCFD88-4408-4989-A119-C1CD87666423}" dt="2024-12-17T18:02:09.724" v="2" actId="1076"/>
      <pc:docMkLst>
        <pc:docMk/>
      </pc:docMkLst>
      <pc:sldChg chg="modSp mod">
        <pc:chgData name="Jakub Donoval" userId="5d0fd74c-5e5b-48ac-8aa7-7b70f31f09c8" providerId="ADAL" clId="{7FCCFD88-4408-4989-A119-C1CD87666423}" dt="2024-12-17T18:02:09.724" v="2" actId="1076"/>
        <pc:sldMkLst>
          <pc:docMk/>
          <pc:sldMk cId="0" sldId="517"/>
        </pc:sldMkLst>
        <pc:spChg chg="mod">
          <ac:chgData name="Jakub Donoval" userId="5d0fd74c-5e5b-48ac-8aa7-7b70f31f09c8" providerId="ADAL" clId="{7FCCFD88-4408-4989-A119-C1CD87666423}" dt="2024-12-17T18:02:09.724" v="2" actId="1076"/>
          <ac:spMkLst>
            <pc:docMk/>
            <pc:sldMk cId="0" sldId="517"/>
            <ac:spMk id="17416" creationId="{99F6740B-C250-4D66-A7D1-432EFB349597}"/>
          </ac:spMkLst>
        </pc:spChg>
        <pc:spChg chg="mod">
          <ac:chgData name="Jakub Donoval" userId="5d0fd74c-5e5b-48ac-8aa7-7b70f31f09c8" providerId="ADAL" clId="{7FCCFD88-4408-4989-A119-C1CD87666423}" dt="2024-12-17T18:02:02.685" v="1" actId="1076"/>
          <ac:spMkLst>
            <pc:docMk/>
            <pc:sldMk cId="0" sldId="517"/>
            <ac:spMk id="19495" creationId="{F02E07C0-C557-462D-A867-2ADBD9D9E10D}"/>
          </ac:spMkLst>
        </pc:spChg>
      </pc:sldChg>
    </pc:docChg>
  </pc:docChgLst>
  <pc:docChgLst>
    <pc:chgData name="Patrik Kulhánek" userId="S::xkulhanek@stuba.sk::8f0f96ee-7f64-43bc-b325-9ff13f53d1aa" providerId="AD" clId="Web-{20801E89-97BA-7910-6269-B591E99C0EF4}"/>
    <pc:docChg chg="modSld">
      <pc:chgData name="Patrik Kulhánek" userId="S::xkulhanek@stuba.sk::8f0f96ee-7f64-43bc-b325-9ff13f53d1aa" providerId="AD" clId="Web-{20801E89-97BA-7910-6269-B591E99C0EF4}" dt="2024-12-16T18:42:52.759" v="0" actId="1076"/>
      <pc:docMkLst>
        <pc:docMk/>
      </pc:docMkLst>
      <pc:sldChg chg="modSp">
        <pc:chgData name="Patrik Kulhánek" userId="S::xkulhanek@stuba.sk::8f0f96ee-7f64-43bc-b325-9ff13f53d1aa" providerId="AD" clId="Web-{20801E89-97BA-7910-6269-B591E99C0EF4}" dt="2024-12-16T18:42:52.759" v="0" actId="1076"/>
        <pc:sldMkLst>
          <pc:docMk/>
          <pc:sldMk cId="0" sldId="517"/>
        </pc:sldMkLst>
        <pc:spChg chg="mod">
          <ac:chgData name="Patrik Kulhánek" userId="S::xkulhanek@stuba.sk::8f0f96ee-7f64-43bc-b325-9ff13f53d1aa" providerId="AD" clId="Web-{20801E89-97BA-7910-6269-B591E99C0EF4}" dt="2024-12-16T18:42:52.759" v="0" actId="1076"/>
          <ac:spMkLst>
            <pc:docMk/>
            <pc:sldMk cId="0" sldId="517"/>
            <ac:spMk id="17416" creationId="{99F6740B-C250-4D66-A7D1-432EFB349597}"/>
          </ac:spMkLst>
        </pc:spChg>
      </pc:sldChg>
    </pc:docChg>
  </pc:docChgLst>
  <pc:docChgLst>
    <pc:chgData name="Artem Ponomarov" userId="S::xponomarova@stuba.sk::4c812b4c-c658-48e6-866d-986a07d029b9" providerId="AD" clId="Web-{8367BC9E-BC77-BB55-CAB7-E24BC74EDD19}"/>
    <pc:docChg chg="modSld">
      <pc:chgData name="Artem Ponomarov" userId="S::xponomarova@stuba.sk::4c812b4c-c658-48e6-866d-986a07d029b9" providerId="AD" clId="Web-{8367BC9E-BC77-BB55-CAB7-E24BC74EDD19}" dt="2025-01-26T21:52:15.399" v="15" actId="20577"/>
      <pc:docMkLst>
        <pc:docMk/>
      </pc:docMkLst>
      <pc:sldChg chg="modSp">
        <pc:chgData name="Artem Ponomarov" userId="S::xponomarova@stuba.sk::4c812b4c-c658-48e6-866d-986a07d029b9" providerId="AD" clId="Web-{8367BC9E-BC77-BB55-CAB7-E24BC74EDD19}" dt="2025-01-26T21:52:15.399" v="15" actId="20577"/>
        <pc:sldMkLst>
          <pc:docMk/>
          <pc:sldMk cId="0" sldId="515"/>
        </pc:sldMkLst>
        <pc:spChg chg="mod">
          <ac:chgData name="Artem Ponomarov" userId="S::xponomarova@stuba.sk::4c812b4c-c658-48e6-866d-986a07d029b9" providerId="AD" clId="Web-{8367BC9E-BC77-BB55-CAB7-E24BC74EDD19}" dt="2025-01-26T21:52:15.399" v="15" actId="20577"/>
          <ac:spMkLst>
            <pc:docMk/>
            <pc:sldMk cId="0" sldId="515"/>
            <ac:spMk id="7" creationId="{BDA4D9D5-8ADE-4B79-BBB3-21B42DC0ADD7}"/>
          </ac:spMkLst>
        </pc:spChg>
      </pc:sldChg>
    </pc:docChg>
  </pc:docChgLst>
  <pc:docChgLst>
    <pc:chgData name="Volodymyr Tolstov" userId="S::xtolstovv@stuba.sk::c1d6c6ab-3fb0-4c89-9720-4258b9f79832" providerId="AD" clId="Web-{00DA35F5-38CF-D127-327A-95C9FC13E93F}"/>
    <pc:docChg chg="sldOrd">
      <pc:chgData name="Volodymyr Tolstov" userId="S::xtolstovv@stuba.sk::c1d6c6ab-3fb0-4c89-9720-4258b9f79832" providerId="AD" clId="Web-{00DA35F5-38CF-D127-327A-95C9FC13E93F}" dt="2024-12-13T18:54:53.537" v="3"/>
      <pc:docMkLst>
        <pc:docMk/>
      </pc:docMkLst>
      <pc:sldChg chg="ord">
        <pc:chgData name="Volodymyr Tolstov" userId="S::xtolstovv@stuba.sk::c1d6c6ab-3fb0-4c89-9720-4258b9f79832" providerId="AD" clId="Web-{00DA35F5-38CF-D127-327A-95C9FC13E93F}" dt="2024-12-13T18:54:53.537" v="3"/>
        <pc:sldMkLst>
          <pc:docMk/>
          <pc:sldMk cId="0" sldId="474"/>
        </pc:sldMkLst>
      </pc:sldChg>
      <pc:sldChg chg="ord">
        <pc:chgData name="Volodymyr Tolstov" userId="S::xtolstovv@stuba.sk::c1d6c6ab-3fb0-4c89-9720-4258b9f79832" providerId="AD" clId="Web-{00DA35F5-38CF-D127-327A-95C9FC13E93F}" dt="2024-12-13T18:54:40.145" v="2"/>
        <pc:sldMkLst>
          <pc:docMk/>
          <pc:sldMk cId="0" sldId="475"/>
        </pc:sldMkLst>
      </pc:sldChg>
    </pc:docChg>
  </pc:docChgLst>
  <pc:docChgLst>
    <pc:chgData name="Martin Široký" userId="S::xsiroky@stuba.sk::f7a3f606-d100-4835-8ad2-bf3fc6192c94" providerId="AD" clId="Web-{7139833D-47B6-2637-0A6D-AAA6576C3387}"/>
    <pc:docChg chg="modSld">
      <pc:chgData name="Martin Široký" userId="S::xsiroky@stuba.sk::f7a3f606-d100-4835-8ad2-bf3fc6192c94" providerId="AD" clId="Web-{7139833D-47B6-2637-0A6D-AAA6576C3387}" dt="2024-12-13T19:32:21.335" v="0" actId="1076"/>
      <pc:docMkLst>
        <pc:docMk/>
      </pc:docMkLst>
      <pc:sldChg chg="modSp">
        <pc:chgData name="Martin Široký" userId="S::xsiroky@stuba.sk::f7a3f606-d100-4835-8ad2-bf3fc6192c94" providerId="AD" clId="Web-{7139833D-47B6-2637-0A6D-AAA6576C3387}" dt="2024-12-13T19:32:21.335" v="0" actId="1076"/>
        <pc:sldMkLst>
          <pc:docMk/>
          <pc:sldMk cId="0" sldId="483"/>
        </pc:sldMkLst>
        <pc:spChg chg="mod">
          <ac:chgData name="Martin Široký" userId="S::xsiroky@stuba.sk::f7a3f606-d100-4835-8ad2-bf3fc6192c94" providerId="AD" clId="Web-{7139833D-47B6-2637-0A6D-AAA6576C3387}" dt="2024-12-13T19:32:21.335" v="0" actId="1076"/>
          <ac:spMkLst>
            <pc:docMk/>
            <pc:sldMk cId="0" sldId="483"/>
            <ac:spMk id="36867" creationId="{D499E7C8-1E38-4325-80F7-A9458CC7C9F3}"/>
          </ac:spMkLst>
        </pc:spChg>
      </pc:sldChg>
    </pc:docChg>
  </pc:docChgLst>
  <pc:docChgLst>
    <pc:chgData name="Matúš Dúbravka" userId="S::xdubravkam@stuba.sk::2d0b01ff-6571-414e-bc0a-8c23cc2728e7" providerId="AD" clId="Web-{240A79A8-1528-78E2-E182-873F754AA8EC}"/>
    <pc:docChg chg="modSld">
      <pc:chgData name="Matúš Dúbravka" userId="S::xdubravkam@stuba.sk::2d0b01ff-6571-414e-bc0a-8c23cc2728e7" providerId="AD" clId="Web-{240A79A8-1528-78E2-E182-873F754AA8EC}" dt="2024-12-14T15:29:59.267" v="1"/>
      <pc:docMkLst>
        <pc:docMk/>
      </pc:docMkLst>
      <pc:sldChg chg="mod modShow">
        <pc:chgData name="Matúš Dúbravka" userId="S::xdubravkam@stuba.sk::2d0b01ff-6571-414e-bc0a-8c23cc2728e7" providerId="AD" clId="Web-{240A79A8-1528-78E2-E182-873F754AA8EC}" dt="2024-12-14T15:29:59.267" v="1"/>
        <pc:sldMkLst>
          <pc:docMk/>
          <pc:sldMk cId="0" sldId="490"/>
        </pc:sldMkLst>
      </pc:sldChg>
    </pc:docChg>
  </pc:docChgLst>
  <pc:docChgLst>
    <pc:chgData name="Adam Ščepka" userId="S::xscepkaa@stuba.sk::95d63592-60d6-4993-ad53-cc9161c611ca" providerId="AD" clId="Web-{6E8E152C-DD33-209B-6456-5E3E96D881C6}"/>
    <pc:docChg chg="modSld">
      <pc:chgData name="Adam Ščepka" userId="S::xscepkaa@stuba.sk::95d63592-60d6-4993-ad53-cc9161c611ca" providerId="AD" clId="Web-{6E8E152C-DD33-209B-6456-5E3E96D881C6}" dt="2024-12-15T17:49:06.358" v="0" actId="1076"/>
      <pc:docMkLst>
        <pc:docMk/>
      </pc:docMkLst>
      <pc:sldChg chg="modSp">
        <pc:chgData name="Adam Ščepka" userId="S::xscepkaa@stuba.sk::95d63592-60d6-4993-ad53-cc9161c611ca" providerId="AD" clId="Web-{6E8E152C-DD33-209B-6456-5E3E96D881C6}" dt="2024-12-15T17:49:06.358" v="0" actId="1076"/>
        <pc:sldMkLst>
          <pc:docMk/>
          <pc:sldMk cId="0" sldId="518"/>
        </pc:sldMkLst>
        <pc:spChg chg="mod">
          <ac:chgData name="Adam Ščepka" userId="S::xscepkaa@stuba.sk::95d63592-60d6-4993-ad53-cc9161c611ca" providerId="AD" clId="Web-{6E8E152C-DD33-209B-6456-5E3E96D881C6}" dt="2024-12-15T17:49:06.358" v="0" actId="1076"/>
          <ac:spMkLst>
            <pc:docMk/>
            <pc:sldMk cId="0" sldId="518"/>
            <ac:spMk id="3" creationId="{5F51471F-CBCB-4200-9381-CA02238C9B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2" y="609601"/>
            <a:ext cx="9143999" cy="1265238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048002"/>
            <a:ext cx="6324600" cy="6731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3F251D-5803-42C1-B50F-ADF6FC15D3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858000"/>
            <a:ext cx="2114550" cy="506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C6406E-8C6D-4ACB-9803-BB2FBC291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858000"/>
            <a:ext cx="4419600" cy="506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FB4363-D12D-4901-8877-AADDE8C45D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43863" y="6858000"/>
            <a:ext cx="1862137" cy="506413"/>
          </a:xfrm>
        </p:spPr>
        <p:txBody>
          <a:bodyPr/>
          <a:lstStyle>
            <a:lvl1pPr>
              <a:defRPr sz="1600"/>
            </a:lvl1pPr>
          </a:lstStyle>
          <a:p>
            <a:fld id="{F744B634-7156-4EE1-A2F9-740CB3007309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92780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06E6B3-BE12-449E-976D-3512A39389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8B0E0D-95E8-4198-BD58-0282E3DCB8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21064A-4E90-45D4-ABA7-3F3246187B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A9FDBF-E449-4D5A-9EA3-BF293B632EFA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02333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90" y="4876801"/>
            <a:ext cx="8628062" cy="150812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90" y="3216275"/>
            <a:ext cx="8628062" cy="1660526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60" indent="0">
              <a:buNone/>
              <a:defRPr sz="1800"/>
            </a:lvl2pPr>
            <a:lvl3pPr marL="914322" indent="0">
              <a:buNone/>
              <a:defRPr sz="1600"/>
            </a:lvl3pPr>
            <a:lvl4pPr marL="1371482" indent="0">
              <a:buNone/>
              <a:defRPr sz="1400"/>
            </a:lvl4pPr>
            <a:lvl5pPr marL="1828643" indent="0">
              <a:buNone/>
              <a:defRPr sz="1400"/>
            </a:lvl5pPr>
            <a:lvl6pPr marL="2285805" indent="0">
              <a:buNone/>
              <a:defRPr sz="1400"/>
            </a:lvl6pPr>
            <a:lvl7pPr marL="2742965" indent="0">
              <a:buNone/>
              <a:defRPr sz="1400"/>
            </a:lvl7pPr>
            <a:lvl8pPr marL="3200126" indent="0">
              <a:buNone/>
              <a:defRPr sz="1400"/>
            </a:lvl8pPr>
            <a:lvl9pPr marL="365728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1F31A9-BAAC-421B-BB3E-882EF69C6A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494103-7594-4436-9A0C-968E3C5CFF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72F158-4C5A-4E0C-BF83-E75A9EDBC2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ADCBFD-353B-49F5-B6E3-0B74EA11370B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93147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0" y="1828800"/>
            <a:ext cx="4800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9850" y="1828800"/>
            <a:ext cx="4800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D08E7-EF95-46A1-B131-DF73CBDA31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1B9CF-1066-485E-BDCA-2036222D2F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5816E-A31D-4663-A50E-F002668669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FAB7BC-B601-4350-B0B8-8A9F6A1417D3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11507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9134475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2" y="1698627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0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2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5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2" y="2406652"/>
            <a:ext cx="4484688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6200" y="1698627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0" indent="0">
              <a:buNone/>
              <a:defRPr sz="2000" b="1"/>
            </a:lvl2pPr>
            <a:lvl3pPr marL="914322" indent="0">
              <a:buNone/>
              <a:defRPr sz="1800" b="1"/>
            </a:lvl3pPr>
            <a:lvl4pPr marL="1371482" indent="0">
              <a:buNone/>
              <a:defRPr sz="1600" b="1"/>
            </a:lvl4pPr>
            <a:lvl5pPr marL="1828643" indent="0">
              <a:buNone/>
              <a:defRPr sz="1600" b="1"/>
            </a:lvl5pPr>
            <a:lvl6pPr marL="2285805" indent="0">
              <a:buNone/>
              <a:defRPr sz="1600" b="1"/>
            </a:lvl6pPr>
            <a:lvl7pPr marL="2742965" indent="0">
              <a:buNone/>
              <a:defRPr sz="1600" b="1"/>
            </a:lvl7pPr>
            <a:lvl8pPr marL="3200126" indent="0">
              <a:buNone/>
              <a:defRPr sz="1600" b="1"/>
            </a:lvl8pPr>
            <a:lvl9pPr marL="365728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6200" y="2406652"/>
            <a:ext cx="4486275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7D45A4-1B15-4F7B-AE97-F13E29CCFD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BA2A085-7A9D-4803-A7C5-83E3A76066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14F9899-1E35-45DE-A434-ECF10422AA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A40BF-0833-4834-96C2-6C82B9CD2E3B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31673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739EA12-0061-4FFF-973D-2F63D5B15D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C075BF-2599-4DA4-9240-6FC26C6678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6067AE4-A654-4C8E-9579-B0FB99928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45B7A0-E95A-4903-94AB-540424C8401F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93837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DA7B775-10F7-441A-B846-2FCE1F6D5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44E2DD-08DB-48DC-B4A0-29C5EB3593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C54C3D-0AFC-4F2A-9B17-930487E11E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4A0F5-A618-4A93-BE46-D838955DA67C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171356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3" y="301628"/>
            <a:ext cx="3338513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1626"/>
            <a:ext cx="5673725" cy="647858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3" y="1587500"/>
            <a:ext cx="3338513" cy="5192713"/>
          </a:xfrm>
        </p:spPr>
        <p:txBody>
          <a:bodyPr/>
          <a:lstStyle>
            <a:lvl1pPr marL="0" indent="0">
              <a:buNone/>
              <a:defRPr sz="1400"/>
            </a:lvl1pPr>
            <a:lvl2pPr marL="457160" indent="0">
              <a:buNone/>
              <a:defRPr sz="1200"/>
            </a:lvl2pPr>
            <a:lvl3pPr marL="914322" indent="0">
              <a:buNone/>
              <a:defRPr sz="1000"/>
            </a:lvl3pPr>
            <a:lvl4pPr marL="1371482" indent="0">
              <a:buNone/>
              <a:defRPr sz="900"/>
            </a:lvl4pPr>
            <a:lvl5pPr marL="1828643" indent="0">
              <a:buNone/>
              <a:defRPr sz="900"/>
            </a:lvl5pPr>
            <a:lvl6pPr marL="2285805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EDBA0-B8ED-4F56-8D08-F74F20DC2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AA8AF-D36E-4FAA-8D25-941F54070D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A7C979-2986-4F2B-8D61-D58E4370E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2E1177-571E-4182-ADF8-7BC9EE6537D7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9901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3363"/>
            <a:ext cx="6091237" cy="6270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7866"/>
            <a:ext cx="6091237" cy="4554537"/>
          </a:xfrm>
        </p:spPr>
        <p:txBody>
          <a:bodyPr/>
          <a:lstStyle>
            <a:lvl1pPr marL="0" indent="0">
              <a:buNone/>
              <a:defRPr sz="3200"/>
            </a:lvl1pPr>
            <a:lvl2pPr marL="457160" indent="0">
              <a:buNone/>
              <a:defRPr sz="2800"/>
            </a:lvl2pPr>
            <a:lvl3pPr marL="914322" indent="0">
              <a:buNone/>
              <a:defRPr sz="2400"/>
            </a:lvl3pPr>
            <a:lvl4pPr marL="1371482" indent="0">
              <a:buNone/>
              <a:defRPr sz="2000"/>
            </a:lvl4pPr>
            <a:lvl5pPr marL="1828643" indent="0">
              <a:buNone/>
              <a:defRPr sz="2000"/>
            </a:lvl5pPr>
            <a:lvl6pPr marL="2285805" indent="0">
              <a:buNone/>
              <a:defRPr sz="2000"/>
            </a:lvl6pPr>
            <a:lvl7pPr marL="2742965" indent="0">
              <a:buNone/>
              <a:defRPr sz="2000"/>
            </a:lvl7pPr>
            <a:lvl8pPr marL="3200126" indent="0">
              <a:buNone/>
              <a:defRPr sz="2000"/>
            </a:lvl8pPr>
            <a:lvl9pPr marL="365728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0425"/>
            <a:ext cx="6091237" cy="890587"/>
          </a:xfrm>
        </p:spPr>
        <p:txBody>
          <a:bodyPr/>
          <a:lstStyle>
            <a:lvl1pPr marL="0" indent="0">
              <a:buNone/>
              <a:defRPr sz="1400"/>
            </a:lvl1pPr>
            <a:lvl2pPr marL="457160" indent="0">
              <a:buNone/>
              <a:defRPr sz="1200"/>
            </a:lvl2pPr>
            <a:lvl3pPr marL="914322" indent="0">
              <a:buNone/>
              <a:defRPr sz="1000"/>
            </a:lvl3pPr>
            <a:lvl4pPr marL="1371482" indent="0">
              <a:buNone/>
              <a:defRPr sz="900"/>
            </a:lvl4pPr>
            <a:lvl5pPr marL="1828643" indent="0">
              <a:buNone/>
              <a:defRPr sz="900"/>
            </a:lvl5pPr>
            <a:lvl6pPr marL="2285805" indent="0">
              <a:buNone/>
              <a:defRPr sz="900"/>
            </a:lvl6pPr>
            <a:lvl7pPr marL="2742965" indent="0">
              <a:buNone/>
              <a:defRPr sz="900"/>
            </a:lvl7pPr>
            <a:lvl8pPr marL="3200126" indent="0">
              <a:buNone/>
              <a:defRPr sz="900"/>
            </a:lvl8pPr>
            <a:lvl9pPr marL="365728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93C54-835B-44F0-B38E-C303352500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4CDED-D6BB-48AF-9573-A333AC4258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1E5C2C-C0FE-434A-A6F5-D365A3F4D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989C0-8611-47B0-9B2A-D5EA3E0201FA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35284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E68DC1-0C65-40EA-9300-5021433FD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08F580-B265-4834-A322-4905331E4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24A849-C9D9-473A-A0FF-693FA4A7B0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08843B-2AEC-43C8-A172-A570DCD80767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7826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12050" y="152400"/>
            <a:ext cx="24384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850" y="152400"/>
            <a:ext cx="71628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712E83-E2C9-44C9-B69A-29C889A5A1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F01D68-0D9D-4F2C-84B8-5943D025A5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59D3C8-9226-4B8C-92BA-DC9025DE8D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1C8E75-E289-4DF5-BEE0-4B0BD3807B5D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38380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609600"/>
            <a:ext cx="9144000" cy="1265238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048000"/>
            <a:ext cx="6324600" cy="6731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4227E8-F9F2-4AE5-8971-AAD86D8A4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23850" y="6858000"/>
            <a:ext cx="2114550" cy="506413"/>
          </a:xfrm>
        </p:spPr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088998-CCCB-41A8-BF32-E8DE8B4D63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858000"/>
            <a:ext cx="4419600" cy="506413"/>
          </a:xfrm>
        </p:spPr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467284-0B16-4492-B09A-C9C6E062B5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43863" y="6858000"/>
            <a:ext cx="1862137" cy="506413"/>
          </a:xfrm>
        </p:spPr>
        <p:txBody>
          <a:bodyPr/>
          <a:lstStyle>
            <a:lvl1pPr>
              <a:defRPr sz="1600" b="1">
                <a:latin typeface="Courier New" panose="02070309020205020404" pitchFamily="49" charset="0"/>
              </a:defRPr>
            </a:lvl1pPr>
          </a:lstStyle>
          <a:p>
            <a:fld id="{AD83BA86-7F13-43DC-B998-958A40EDAAF0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45766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2BD1F4-B750-455E-925B-749D633CD2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063C8D-D8CA-4DD9-8622-6C069DD42F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23181B-CE91-4BF1-8698-5025083BA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134860F2-5915-4573-B398-5242336035CD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539654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76800"/>
            <a:ext cx="8628062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6275"/>
            <a:ext cx="8628062" cy="166052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120E75-1963-4064-9EF8-5F42432B75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B5297D-4DBE-4D82-AC1E-717E1626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B2A494-6715-481D-B823-D26EB71182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21C1886D-A357-48FD-BD8C-31EEA5A94899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291835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850" y="1828800"/>
            <a:ext cx="4800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9850" y="1828800"/>
            <a:ext cx="4800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38481-1CC7-4DAC-A136-7B7B2C249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55113-DA08-4329-9CFD-0378649673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66092-3ADC-4964-A040-8B9DB75FD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41A1E788-C030-40FD-A569-E65DBA44C87B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506465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9134475" cy="12652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698625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6650"/>
            <a:ext cx="4484688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6200" y="1698625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6200" y="2406650"/>
            <a:ext cx="4486275" cy="4373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CBD333F-5929-4E24-96DA-B36CC28A90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E100E80-BC0D-49C8-8D5C-AB5E443AD4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E94E8F9-EE34-4A11-883C-B934D354C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6CFDEF71-CC18-4F95-92A2-474C856E1D90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672803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5AFF2CB-7615-49CD-894A-D89E1F60A0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D7639A-8BB0-4917-BED7-4418C994B2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2DDC1D-E1C1-458C-B881-1030A0078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40756930-6FEC-4914-8968-45DEE41AFC26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782975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EA3696-EFF7-4BD0-83E0-1AEA5FD7EF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341C487-2250-4827-9D50-B52955CA0A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9EA14B-3422-4103-AF39-5EE2A2940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B975C3CE-A776-418C-AE65-A9FC53C34D2B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07495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1625"/>
            <a:ext cx="3338513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1625"/>
            <a:ext cx="5673725" cy="64785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7500"/>
            <a:ext cx="3338513" cy="51927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7F1D1-CB1F-48E3-88B1-0048E2E237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D5CA5-ABDA-4BFA-8E25-A2574559A5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6175D-5AC5-4DC4-8E8C-1D2ABB1A07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FBBA4578-975C-42D5-9A18-EA36BD95DE12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4335065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3363"/>
            <a:ext cx="6091237" cy="6270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7863"/>
            <a:ext cx="6091237" cy="45545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0425"/>
            <a:ext cx="6091237" cy="890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D9770-EB28-4E40-B6FF-58D7A73962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BE6E6-15D8-472C-8CB2-6D45932E0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DCEA5-6925-41FA-9D12-6A9B68A96B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CBFDBD01-9FF6-4DFD-B914-CEF749987C3D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103127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EEC5F4-7913-4E7F-9F32-505BB42DA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B4B6A7-D76D-427F-B7EB-29C3B1F495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54FABD-482A-410A-B2FC-DFFCC5BB7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0DA4BE9A-31FE-4D1A-9EA0-71C798BD90C4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2537128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12050" y="152400"/>
            <a:ext cx="24384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850" y="152400"/>
            <a:ext cx="71628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61FF2D-D81A-4343-BCCB-CE27A1184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6BC015-8CDE-492C-A6C9-19CECF4498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b="1">
                <a:latin typeface="Courier New" pitchFamily="4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65E412-1A49-4BBC-8A77-35E51BD0B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Courier New" panose="02070309020205020404" pitchFamily="49" charset="0"/>
              </a:defRPr>
            </a:lvl1pPr>
          </a:lstStyle>
          <a:p>
            <a:fld id="{6A73894E-ADC8-4F22-860A-6AB6E0A9CB60}" type="slidenum">
              <a:rPr lang="en-US" altLang="sk-SK"/>
              <a:pPr/>
              <a:t>‹#›</a:t>
            </a:fld>
            <a:endParaRPr lang="en-US" altLang="sk-SK"/>
          </a:p>
        </p:txBody>
      </p:sp>
    </p:spTree>
    <p:extLst>
      <p:ext uri="{BB962C8B-B14F-4D97-AF65-F5344CB8AC3E}">
        <p14:creationId xmlns:p14="http://schemas.microsoft.com/office/powerpoint/2010/main" val="3682866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77C646-07AF-45EF-9B95-D75FDF8CA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1534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62" tIns="50681" rIns="101362" bIns="5068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0CA46C-FC61-4306-877F-86C4112EF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6850" y="1828800"/>
            <a:ext cx="9753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62" tIns="50681" rIns="101362" bIns="506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text styles</a:t>
            </a:r>
          </a:p>
          <a:p>
            <a:pPr lvl="1"/>
            <a:r>
              <a:rPr lang="en-US" altLang="sk-SK"/>
              <a:t>Second level</a:t>
            </a:r>
          </a:p>
          <a:p>
            <a:pPr lvl="2"/>
            <a:r>
              <a:rPr lang="en-US" altLang="sk-SK"/>
              <a:t>Third level</a:t>
            </a:r>
          </a:p>
          <a:p>
            <a:pPr lvl="3"/>
            <a:r>
              <a:rPr lang="en-US" altLang="sk-SK"/>
              <a:t>Fourth level</a:t>
            </a:r>
          </a:p>
          <a:p>
            <a:pPr lvl="4"/>
            <a:r>
              <a:rPr lang="en-US" altLang="sk-SK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0199D94-6430-4C52-91C7-BD6781179F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1450" y="69151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62" tIns="50681" rIns="101362" bIns="50681" numCol="1" anchor="t" anchorCtr="0" compatLnSpc="1">
            <a:prstTxWarp prst="textNoShape">
              <a:avLst/>
            </a:prstTxWarp>
          </a:bodyPr>
          <a:lstStyle>
            <a:lvl1pPr defTabSz="1014327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EEC28-5AAA-4729-9F3A-23FEF727F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915150"/>
            <a:ext cx="32131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62" tIns="50681" rIns="101362" bIns="50681" numCol="1" anchor="t" anchorCtr="0" compatLnSpc="1">
            <a:prstTxWarp prst="textNoShape">
              <a:avLst/>
            </a:prstTxWarp>
          </a:bodyPr>
          <a:lstStyle>
            <a:lvl1pPr algn="ctr" defTabSz="1014327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D33308-FEC6-4C2F-8644-54C6E1C4D0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884988"/>
            <a:ext cx="2114550" cy="50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62" tIns="50681" rIns="101362" bIns="50681" numCol="1" anchor="t" anchorCtr="0" compatLnSpc="1">
            <a:prstTxWarp prst="textNoShape">
              <a:avLst/>
            </a:prstTxWarp>
          </a:bodyPr>
          <a:lstStyle>
            <a:lvl1pPr algn="r" defTabSz="1012825">
              <a:defRPr sz="1400" b="0">
                <a:latin typeface="Arial" panose="020B0604020202020204" pitchFamily="34" charset="0"/>
              </a:defRPr>
            </a:lvl1pPr>
          </a:lstStyle>
          <a:p>
            <a:fld id="{1B1754BF-F96F-4B27-AB00-C647B5ED3E89}" type="slidenum">
              <a:rPr lang="en-US" altLang="sk-SK"/>
              <a:pPr/>
              <a:t>‹#›</a:t>
            </a:fld>
            <a:endParaRPr lang="en-US" alt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42" r:id="rId1"/>
    <p:sldLayoutId id="2147485232" r:id="rId2"/>
    <p:sldLayoutId id="2147485233" r:id="rId3"/>
    <p:sldLayoutId id="2147485234" r:id="rId4"/>
    <p:sldLayoutId id="2147485235" r:id="rId5"/>
    <p:sldLayoutId id="2147485236" r:id="rId6"/>
    <p:sldLayoutId id="2147485237" r:id="rId7"/>
    <p:sldLayoutId id="2147485238" r:id="rId8"/>
    <p:sldLayoutId id="2147485239" r:id="rId9"/>
    <p:sldLayoutId id="2147485240" r:id="rId10"/>
    <p:sldLayoutId id="2147485241" r:id="rId11"/>
  </p:sldLayoutIdLst>
  <p:txStyles>
    <p:titleStyle>
      <a:lvl1pPr algn="l" defTabSz="101282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1282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defTabSz="101282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defTabSz="101282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defTabSz="1012825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160" algn="l" defTabSz="1014327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322" algn="l" defTabSz="1014327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482" algn="l" defTabSz="1014327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643" algn="l" defTabSz="1014327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77825" indent="-377825" algn="l" defTabSz="1012825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315913" algn="l" defTabSz="1012825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265238" indent="-250825" algn="l" defTabSz="1012825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771650" indent="-250825" algn="l" defTabSz="1012825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279650" indent="-252413" algn="l" defTabSz="1012825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738204" indent="-253978" algn="l" defTabSz="1014327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195364" indent="-253978" algn="l" defTabSz="1014327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652525" indent="-253978" algn="l" defTabSz="1014327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4109687" indent="-253978" algn="l" defTabSz="1014327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0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2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2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3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5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5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6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7" algn="l" defTabSz="9143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437515-4A61-4E39-9A7D-112032C70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1534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70" tIns="50685" rIns="101370" bIns="506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3B8A7F1-A804-471F-9A9B-AE1C96FEC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6850" y="1828800"/>
            <a:ext cx="9753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70" tIns="50685" rIns="101370" bIns="506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k-SK"/>
              <a:t>Click to edit Master text styles</a:t>
            </a:r>
          </a:p>
          <a:p>
            <a:pPr lvl="1"/>
            <a:r>
              <a:rPr lang="en-US" altLang="sk-SK"/>
              <a:t>Second level</a:t>
            </a:r>
          </a:p>
          <a:p>
            <a:pPr lvl="2"/>
            <a:r>
              <a:rPr lang="en-US" altLang="sk-SK"/>
              <a:t>Third level</a:t>
            </a:r>
          </a:p>
          <a:p>
            <a:pPr lvl="3"/>
            <a:r>
              <a:rPr lang="en-US" altLang="sk-SK"/>
              <a:t>Fourth level</a:t>
            </a:r>
          </a:p>
          <a:p>
            <a:pPr lvl="4"/>
            <a:r>
              <a:rPr lang="en-US" altLang="sk-SK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9163478-A314-4623-9187-2C2903757B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1450" y="69151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70" tIns="50685" rIns="101370" bIns="50685" numCol="1" anchor="t" anchorCtr="0" compatLnSpc="1">
            <a:prstTxWarp prst="textNoShape">
              <a:avLst/>
            </a:prstTxWarp>
          </a:bodyPr>
          <a:lstStyle>
            <a:lvl1pPr algn="l" defTabSz="1014413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8411788-B0FB-4C62-B9AB-03812A0A72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915150"/>
            <a:ext cx="32131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70" tIns="50685" rIns="101370" bIns="50685" numCol="1" anchor="t" anchorCtr="0" compatLnSpc="1">
            <a:prstTxWarp prst="textNoShape">
              <a:avLst/>
            </a:prstTxWarp>
          </a:bodyPr>
          <a:lstStyle>
            <a:lvl1pPr algn="ctr" defTabSz="1014413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7910374-EA4F-453E-AA83-60E9382849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884988"/>
            <a:ext cx="2114550" cy="50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70" tIns="50685" rIns="101370" bIns="50685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fld id="{5DDA75AB-9A07-48D7-927D-6D5FDF85BF4B}" type="slidenum">
              <a:rPr lang="en-US" altLang="sk-SK"/>
              <a:pPr/>
              <a:t>‹#›</a:t>
            </a:fld>
            <a:endParaRPr lang="en-US" alt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43" r:id="rId1"/>
    <p:sldLayoutId id="2147485244" r:id="rId2"/>
    <p:sldLayoutId id="2147485245" r:id="rId3"/>
    <p:sldLayoutId id="2147485246" r:id="rId4"/>
    <p:sldLayoutId id="2147485247" r:id="rId5"/>
    <p:sldLayoutId id="2147485248" r:id="rId6"/>
    <p:sldLayoutId id="2147485249" r:id="rId7"/>
    <p:sldLayoutId id="2147485250" r:id="rId8"/>
    <p:sldLayoutId id="2147485251" r:id="rId9"/>
    <p:sldLayoutId id="2147485252" r:id="rId10"/>
    <p:sldLayoutId id="2147485253" r:id="rId11"/>
  </p:sldLayoutIdLst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l" defTabSz="1014413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79413" indent="-379413" algn="l" defTabSz="1014413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317500" algn="l" defTabSz="1014413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266825" indent="-252413" algn="l" defTabSz="1014413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773238" indent="-252413" algn="l" defTabSz="1014413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281238" indent="-2540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738438" indent="-2540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3195638" indent="-2540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652838" indent="-2540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4110038" indent="-2540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C1BFD85-DC2E-4E1E-9E1E-C3723BE830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609600"/>
            <a:ext cx="9144000" cy="1265238"/>
          </a:xfrm>
        </p:spPr>
        <p:txBody>
          <a:bodyPr/>
          <a:lstStyle/>
          <a:p>
            <a:r>
              <a:rPr lang="sk-SK" altLang="sk-SK"/>
              <a:t>Algoritmizácia a </a:t>
            </a:r>
            <a:r>
              <a:rPr lang="en-US" altLang="sk-SK"/>
              <a:t>programovani</a:t>
            </a:r>
            <a:r>
              <a:rPr lang="sk-SK" altLang="sk-SK"/>
              <a:t>e</a:t>
            </a:r>
            <a:br>
              <a:rPr lang="sk-SK" altLang="sk-SK"/>
            </a:br>
            <a:r>
              <a:rPr lang="sk-SK" altLang="sk-SK"/>
              <a:t>12. prednáška </a:t>
            </a:r>
            <a:endParaRPr lang="en-US" altLang="sk-SK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ACF4511-80CF-4FE8-B0FE-5E661CB798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3048000"/>
            <a:ext cx="6324600" cy="673100"/>
          </a:xfrm>
        </p:spPr>
        <p:txBody>
          <a:bodyPr/>
          <a:lstStyle/>
          <a:p>
            <a:r>
              <a:rPr lang="sk-SK" altLang="sk-SK"/>
              <a:t>Ján Grman</a:t>
            </a:r>
            <a:endParaRPr lang="en-US" altLang="sk-S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CB403DF-B8A2-46CD-B1C9-7698D46A4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Obsah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30F9C6C-03B0-4582-9AC4-A7CA5394C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8013" indent="-608013">
              <a:buFontTx/>
              <a:buAutoNum type="arabicPeriod"/>
            </a:pPr>
            <a:r>
              <a:rPr lang="en-US" altLang="sk-SK"/>
              <a:t>Opakovanie (</a:t>
            </a:r>
            <a:r>
              <a:rPr lang="sk-SK" altLang="sk-SK"/>
              <a:t>časté chyby)</a:t>
            </a:r>
            <a:endParaRPr lang="en-US" altLang="sk-SK"/>
          </a:p>
          <a:p>
            <a:pPr marL="608013" indent="-608013">
              <a:buFontTx/>
              <a:buAutoNum type="arabicPeriod"/>
            </a:pPr>
            <a:endParaRPr lang="en-US" alt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1712F2E-AAD8-4A49-B813-8FF8D5F75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Príklady defin</a:t>
            </a:r>
            <a:r>
              <a:rPr lang="en-US" altLang="sk-SK"/>
              <a:t>o</a:t>
            </a:r>
            <a:r>
              <a:rPr lang="sk-SK" altLang="sk-SK"/>
              <a:t>vania konštánt</a:t>
            </a:r>
            <a:endParaRPr lang="en-US" altLang="sk-SK"/>
          </a:p>
        </p:txBody>
      </p:sp>
      <p:sp>
        <p:nvSpPr>
          <p:cNvPr id="27652" name="Text Box 6">
            <a:extLst>
              <a:ext uri="{FF2B5EF4-FFF2-40B4-BE49-F238E27FC236}">
                <a16:creationId xmlns:a16="http://schemas.microsoft.com/office/drawing/2014/main" id="{F1D1BA97-E534-4425-B77A-81BA3E4DB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2244725"/>
            <a:ext cx="10053638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1" tIns="50590" rIns="101181" bIns="5059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</a:t>
            </a:r>
            <a:r>
              <a:rPr lang="sk-SK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define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MAX 1000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PI 3.14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DVE_PI (2 * PI)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MOD %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AND &amp;&amp;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MENO_SUBORU "list.txt"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#define DLHA_KONSTANTA Toto je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dlha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konstanta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, \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ktora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sa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nezmesti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do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jednoho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656" err="1">
                <a:solidFill>
                  <a:srgbClr val="000000"/>
                </a:solidFill>
                <a:latin typeface="Courier New" panose="02070309020205020404" pitchFamily="49" charset="0"/>
              </a:rPr>
              <a:t>riadku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</p:txBody>
      </p:sp>
      <p:sp>
        <p:nvSpPr>
          <p:cNvPr id="241672" name="Rectangle 8">
            <a:extLst>
              <a:ext uri="{FF2B5EF4-FFF2-40B4-BE49-F238E27FC236}">
                <a16:creationId xmlns:a16="http://schemas.microsoft.com/office/drawing/2014/main" id="{F3865727-F80C-4FFA-8980-0A046D90B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163" y="5816600"/>
            <a:ext cx="8807450" cy="1025525"/>
          </a:xfrm>
        </p:spPr>
        <p:txBody>
          <a:bodyPr/>
          <a:lstStyle/>
          <a:p>
            <a:pPr>
              <a:defRPr/>
            </a:pPr>
            <a:r>
              <a:rPr lang="en-US" altLang="sk-SK" sz="2767"/>
              <a:t>za hodnotou nie je ;</a:t>
            </a:r>
          </a:p>
          <a:p>
            <a:pPr>
              <a:defRPr/>
            </a:pPr>
            <a:r>
              <a:rPr lang="en-US" altLang="sk-SK" sz="2767"/>
              <a:t>medzi menom kon</a:t>
            </a:r>
            <a:r>
              <a:rPr lang="sk-SK" altLang="sk-SK" sz="2767"/>
              <a:t>štanty a jej hodnotou nie je =</a:t>
            </a:r>
            <a:endParaRPr lang="en-US" altLang="sk-SK" sz="2767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6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F69981A-B423-47CD-AEF7-98B50AF23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>
                <a:latin typeface="Courier New" panose="02070309020205020404" pitchFamily="49" charset="0"/>
              </a:rPr>
              <a:t>getchar</a:t>
            </a:r>
            <a:r>
              <a:rPr lang="sk-SK" altLang="sk-SK"/>
              <a:t> a </a:t>
            </a:r>
            <a:r>
              <a:rPr lang="sk-SK" altLang="sk-SK">
                <a:latin typeface="Courier New" panose="02070309020205020404" pitchFamily="49" charset="0"/>
              </a:rPr>
              <a:t>scanf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88AAB7B-4BFE-4CCB-B669-639426346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1647825"/>
            <a:ext cx="3044825" cy="147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1370" tIns="50685" rIns="101370" bIns="50685" anchor="ctr"/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endParaRPr lang="sk-SK" altLang="sk-SK">
              <a:latin typeface="Arial" panose="020B0604020202020204" pitchFamily="34" charset="0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213E4518-9485-4BC3-9472-2B072868E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685925"/>
            <a:ext cx="3122613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370" tIns="50685" rIns="101370" bIns="50685"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sk-SK" altLang="sk-SK" sz="2700"/>
              <a:t>int i</a:t>
            </a:r>
            <a:r>
              <a:rPr lang="en-US" altLang="sk-SK" sz="2700"/>
              <a:t>;</a:t>
            </a:r>
          </a:p>
          <a:p>
            <a:r>
              <a:rPr lang="en-US" altLang="sk-SK" sz="2700"/>
              <a:t>...</a:t>
            </a:r>
          </a:p>
          <a:p>
            <a:r>
              <a:rPr lang="en-US" altLang="sk-SK" sz="2700"/>
              <a:t>i = </a:t>
            </a:r>
            <a:r>
              <a:rPr lang="sk-SK" altLang="sk-SK" sz="2700"/>
              <a:t>getchar()</a:t>
            </a:r>
            <a:r>
              <a:rPr lang="en-US" altLang="sk-SK" sz="2700"/>
              <a:t>;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BF4E06D6-0DEB-48B7-A04E-825BF8F9C56F}"/>
              </a:ext>
            </a:extLst>
          </p:cNvPr>
          <p:cNvGrpSpPr>
            <a:grpSpLocks/>
          </p:cNvGrpSpPr>
          <p:nvPr/>
        </p:nvGrpSpPr>
        <p:grpSpPr bwMode="auto">
          <a:xfrm>
            <a:off x="338138" y="1433513"/>
            <a:ext cx="9053512" cy="1939925"/>
            <a:chOff x="192" y="816"/>
            <a:chExt cx="4128" cy="1104"/>
          </a:xfrm>
        </p:grpSpPr>
        <p:grpSp>
          <p:nvGrpSpPr>
            <p:cNvPr id="18442" name="Group 7">
              <a:extLst>
                <a:ext uri="{FF2B5EF4-FFF2-40B4-BE49-F238E27FC236}">
                  <a16:creationId xmlns:a16="http://schemas.microsoft.com/office/drawing/2014/main" id="{CB726DF0-690C-4CD9-93BC-E54120FB5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816"/>
              <a:ext cx="1536" cy="1104"/>
              <a:chOff x="192" y="816"/>
              <a:chExt cx="1536" cy="1104"/>
            </a:xfrm>
          </p:grpSpPr>
          <p:sp>
            <p:nvSpPr>
              <p:cNvPr id="18444" name="Line 5">
                <a:extLst>
                  <a:ext uri="{FF2B5EF4-FFF2-40B4-BE49-F238E27FC236}">
                    <a16:creationId xmlns:a16="http://schemas.microsoft.com/office/drawing/2014/main" id="{263CDE6A-A24F-4C9F-8807-B24A81D313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816"/>
                <a:ext cx="1536" cy="11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5" name="Line 6">
                <a:extLst>
                  <a:ext uri="{FF2B5EF4-FFF2-40B4-BE49-F238E27FC236}">
                    <a16:creationId xmlns:a16="http://schemas.microsoft.com/office/drawing/2014/main" id="{7158DC46-21E6-4D0E-869F-6AF4A7FEB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" y="816"/>
                <a:ext cx="1488" cy="11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3" name="AutoShape 8">
              <a:extLst>
                <a:ext uri="{FF2B5EF4-FFF2-40B4-BE49-F238E27FC236}">
                  <a16:creationId xmlns:a16="http://schemas.microsoft.com/office/drawing/2014/main" id="{627C14E2-863A-4E61-BFFB-8B0C96BFA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1872" cy="528"/>
            </a:xfrm>
            <a:prstGeom prst="wedgeRoundRectCallout">
              <a:avLst>
                <a:gd name="adj1" fmla="val -82852"/>
                <a:gd name="adj2" fmla="val 29926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pPr algn="ctr"/>
              <a:r>
                <a:rPr lang="en-US" altLang="sk-SK" sz="2200"/>
                <a:t>getchar()</a:t>
              </a:r>
              <a:r>
                <a:rPr lang="en-US" altLang="sk-SK" sz="2200">
                  <a:latin typeface="Arial" panose="020B0604020202020204" pitchFamily="34" charset="0"/>
                </a:rPr>
                <a:t> - na na</a:t>
              </a:r>
              <a:r>
                <a:rPr lang="sk-SK" altLang="sk-SK" sz="2200">
                  <a:latin typeface="Arial" panose="020B0604020202020204" pitchFamily="34" charset="0"/>
                </a:rPr>
                <a:t>čítavanie znakov, nie čísel!</a:t>
              </a:r>
              <a:endParaRPr lang="en-US" altLang="sk-SK" sz="220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F505226A-665B-422D-9E41-F81869912878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3756025"/>
            <a:ext cx="8783638" cy="2822575"/>
            <a:chOff x="144" y="2138"/>
            <a:chExt cx="4984" cy="1606"/>
          </a:xfrm>
        </p:grpSpPr>
        <p:sp>
          <p:nvSpPr>
            <p:cNvPr id="18439" name="Rectangle 10">
              <a:extLst>
                <a:ext uri="{FF2B5EF4-FFF2-40B4-BE49-F238E27FC236}">
                  <a16:creationId xmlns:a16="http://schemas.microsoft.com/office/drawing/2014/main" id="{8980062A-BF42-4155-868B-055E4598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138"/>
              <a:ext cx="2112" cy="160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endParaRPr lang="sk-SK" altLang="sk-SK">
                <a:latin typeface="Arial" panose="020B0604020202020204" pitchFamily="34" charset="0"/>
              </a:endParaRPr>
            </a:p>
          </p:txBody>
        </p:sp>
        <p:sp>
          <p:nvSpPr>
            <p:cNvPr id="18440" name="Text Box 11">
              <a:extLst>
                <a:ext uri="{FF2B5EF4-FFF2-40B4-BE49-F238E27FC236}">
                  <a16:creationId xmlns:a16="http://schemas.microsoft.com/office/drawing/2014/main" id="{51E2FC8E-96B2-4911-A863-8331525C0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60"/>
              <a:ext cx="1997" cy="1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sk-SK" altLang="sk-SK" sz="2700"/>
                <a:t>int i</a:t>
              </a:r>
              <a:r>
                <a:rPr lang="en-US" altLang="sk-SK" sz="2700"/>
                <a:t>;</a:t>
              </a:r>
              <a:endParaRPr lang="sk-SK" altLang="sk-SK" sz="2700"/>
            </a:p>
            <a:p>
              <a:r>
                <a:rPr lang="sk-SK" altLang="sk-SK" sz="2700"/>
                <a:t>char c</a:t>
              </a:r>
              <a:r>
                <a:rPr lang="en-US" altLang="sk-SK" sz="2700"/>
                <a:t>;</a:t>
              </a:r>
            </a:p>
            <a:p>
              <a:r>
                <a:rPr lang="en-US" altLang="sk-SK" sz="2700"/>
                <a:t>...</a:t>
              </a:r>
            </a:p>
            <a:p>
              <a:r>
                <a:rPr lang="en-US" altLang="sk-SK" sz="2700"/>
                <a:t>c = </a:t>
              </a:r>
              <a:r>
                <a:rPr lang="sk-SK" altLang="sk-SK" sz="2700"/>
                <a:t>getchar()</a:t>
              </a:r>
              <a:r>
                <a:rPr lang="en-US" altLang="sk-SK" sz="2700"/>
                <a:t>;</a:t>
              </a:r>
            </a:p>
            <a:p>
              <a:r>
                <a:rPr lang="en-US" altLang="sk-SK" sz="2700"/>
                <a:t>scanf("%c", &amp;c);</a:t>
              </a:r>
            </a:p>
            <a:p>
              <a:r>
                <a:rPr lang="en-US" altLang="sk-SK" sz="2700"/>
                <a:t>scanf("%d", &amp;i);</a:t>
              </a:r>
            </a:p>
          </p:txBody>
        </p:sp>
        <p:sp>
          <p:nvSpPr>
            <p:cNvPr id="18441" name="AutoShape 12">
              <a:extLst>
                <a:ext uri="{FF2B5EF4-FFF2-40B4-BE49-F238E27FC236}">
                  <a16:creationId xmlns:a16="http://schemas.microsoft.com/office/drawing/2014/main" id="{09882156-C39A-49C2-906A-073D9D07E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00"/>
              <a:ext cx="2680" cy="671"/>
            </a:xfrm>
            <a:prstGeom prst="wedgeRoundRectCallout">
              <a:avLst>
                <a:gd name="adj1" fmla="val -62532"/>
                <a:gd name="adj2" fmla="val 78384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pPr algn="ctr"/>
              <a:r>
                <a:rPr lang="en-US" altLang="sk-SK">
                  <a:latin typeface="Arial" panose="020B0604020202020204" pitchFamily="34" charset="0"/>
                </a:rPr>
                <a:t>Na</a:t>
              </a:r>
              <a:r>
                <a:rPr lang="sk-SK" altLang="sk-SK">
                  <a:latin typeface="Arial" panose="020B0604020202020204" pitchFamily="34" charset="0"/>
                </a:rPr>
                <a:t>čítanie znaku aj pomocou </a:t>
              </a:r>
              <a:r>
                <a:rPr lang="sk-SK" altLang="sk-SK"/>
                <a:t>getchar</a:t>
              </a:r>
              <a:r>
                <a:rPr lang="sk-SK" altLang="sk-SK">
                  <a:latin typeface="Arial" panose="020B0604020202020204" pitchFamily="34" charset="0"/>
                </a:rPr>
                <a:t>, aj pomocou </a:t>
              </a:r>
              <a:r>
                <a:rPr lang="sk-SK" altLang="sk-SK"/>
                <a:t>scanf</a:t>
              </a:r>
              <a:endParaRPr lang="en-US" altLang="sk-SK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690345F-1464-42AD-AF12-E0CD9A3DE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latin typeface="Courier New" panose="02070309020205020404" pitchFamily="49" charset="0"/>
              </a:rPr>
              <a:t>scanf</a:t>
            </a:r>
            <a:r>
              <a:rPr lang="en-US" altLang="sk-SK"/>
              <a:t> a </a:t>
            </a:r>
            <a:r>
              <a:rPr lang="en-US" altLang="sk-SK">
                <a:latin typeface="Courier New" panose="02070309020205020404" pitchFamily="49" charset="0"/>
              </a:rPr>
              <a:t>&amp;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E97A3CB-7135-4901-A244-C6ECE2A34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1412875"/>
            <a:ext cx="4586287" cy="28606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1370" tIns="50685" rIns="101370" bIns="50685" anchor="ctr"/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endParaRPr lang="sk-SK" altLang="sk-SK">
              <a:latin typeface="Arial" panose="020B0604020202020204" pitchFamily="34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DAFD8C9D-EE93-4799-988C-C78126904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1500188"/>
            <a:ext cx="310832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1370" tIns="50685" rIns="101370" bIns="50685"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en-US" altLang="sk-SK" sz="2200"/>
              <a:t>int i;</a:t>
            </a:r>
          </a:p>
          <a:p>
            <a:r>
              <a:rPr lang="en-US" altLang="sk-SK" sz="2200"/>
              <a:t>char c, str[10];</a:t>
            </a:r>
          </a:p>
          <a:p>
            <a:endParaRPr lang="sk-SK" altLang="sk-SK" sz="1300"/>
          </a:p>
          <a:p>
            <a:endParaRPr lang="en-US" altLang="sk-SK" sz="1300"/>
          </a:p>
          <a:p>
            <a:r>
              <a:rPr lang="en-US" altLang="sk-SK" sz="2200"/>
              <a:t>scanf("%d", &amp;i);</a:t>
            </a:r>
          </a:p>
          <a:p>
            <a:r>
              <a:rPr lang="en-US" altLang="sk-SK" sz="2200"/>
              <a:t>scanf("%c", &amp;c);</a:t>
            </a:r>
          </a:p>
          <a:p>
            <a:r>
              <a:rPr lang="en-US" altLang="sk-SK" sz="2200"/>
              <a:t>scanf("%s", str);</a:t>
            </a:r>
          </a:p>
        </p:txBody>
      </p:sp>
      <p:sp>
        <p:nvSpPr>
          <p:cNvPr id="19461" name="AutoShape 5">
            <a:extLst>
              <a:ext uri="{FF2B5EF4-FFF2-40B4-BE49-F238E27FC236}">
                <a16:creationId xmlns:a16="http://schemas.microsoft.com/office/drawing/2014/main" id="{258647A1-0404-419F-B36B-07E85EE11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3373438"/>
            <a:ext cx="5075238" cy="4132262"/>
          </a:xfrm>
          <a:prstGeom prst="wedgeRoundRectCallout">
            <a:avLst>
              <a:gd name="adj1" fmla="val -30310"/>
              <a:gd name="adj2" fmla="val -4553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01370" tIns="50685" rIns="101370" bIns="50685"/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sk-SK" altLang="sk-SK" sz="2200"/>
              <a:t>scanf</a:t>
            </a:r>
            <a:r>
              <a:rPr lang="sk-SK" altLang="sk-SK" sz="2200">
                <a:latin typeface="Arial" panose="020B0604020202020204" pitchFamily="34" charset="0"/>
              </a:rPr>
              <a:t> očakáva adresy premenných, do ktorých má zapísať načítanú hodnotu</a:t>
            </a:r>
          </a:p>
          <a:p>
            <a:r>
              <a:rPr lang="en-US" altLang="sk-SK" sz="2200">
                <a:latin typeface="Arial" panose="020B0604020202020204" pitchFamily="34" charset="0"/>
              </a:rPr>
              <a:t>vo funkcii </a:t>
            </a:r>
            <a:r>
              <a:rPr lang="en-US" altLang="sk-SK" sz="2200"/>
              <a:t>scanf</a:t>
            </a:r>
            <a:r>
              <a:rPr lang="en-US" altLang="sk-SK" sz="2200">
                <a:latin typeface="Arial" panose="020B0604020202020204" pitchFamily="34" charset="0"/>
              </a:rPr>
              <a:t> sa vytvor</a:t>
            </a:r>
            <a:r>
              <a:rPr lang="sk-SK" altLang="sk-SK" sz="2200">
                <a:latin typeface="Arial" panose="020B0604020202020204" pitchFamily="34" charset="0"/>
              </a:rPr>
              <a:t>í lokálna premenná ako kópia parametra - adresa, tam sa zapíše načítaná hodnota</a:t>
            </a:r>
          </a:p>
          <a:p>
            <a:r>
              <a:rPr lang="sk-SK" altLang="sk-SK" sz="2200">
                <a:latin typeface="Arial" panose="020B0604020202020204" pitchFamily="34" charset="0"/>
              </a:rPr>
              <a:t>keď skončí funkcia, zabudne sa lokálna kópia, teda zabudne sa adresa, no na tej adrese zostane načítaná hodnota</a:t>
            </a:r>
            <a:endParaRPr lang="en-US" altLang="sk-SK" sz="2200">
              <a:latin typeface="Arial" panose="020B0604020202020204" pitchFamily="34" charset="0"/>
            </a:endParaRPr>
          </a:p>
        </p:txBody>
      </p:sp>
      <p:sp>
        <p:nvSpPr>
          <p:cNvPr id="19462" name="AutoShape 6">
            <a:extLst>
              <a:ext uri="{FF2B5EF4-FFF2-40B4-BE49-F238E27FC236}">
                <a16:creationId xmlns:a16="http://schemas.microsoft.com/office/drawing/2014/main" id="{B38521FE-F1EA-46EB-9E4F-0F7F919F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8" y="4891088"/>
            <a:ext cx="4906962" cy="2614612"/>
          </a:xfrm>
          <a:prstGeom prst="wedgeRoundRectCallout">
            <a:avLst>
              <a:gd name="adj1" fmla="val -2806"/>
              <a:gd name="adj2" fmla="val -7605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01370" tIns="50685" rIns="101370" bIns="50685"/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sk-SK" altLang="sk-SK" sz="2200"/>
              <a:t>i</a:t>
            </a:r>
            <a:r>
              <a:rPr lang="sk-SK" altLang="sk-SK" sz="2200">
                <a:latin typeface="Arial" panose="020B0604020202020204" pitchFamily="34" charset="0"/>
              </a:rPr>
              <a:t> - premenná,</a:t>
            </a:r>
          </a:p>
          <a:p>
            <a:r>
              <a:rPr lang="en-US" altLang="sk-SK" sz="2200"/>
              <a:t>&amp;i</a:t>
            </a:r>
            <a:r>
              <a:rPr lang="en-US" altLang="sk-SK" sz="2200">
                <a:latin typeface="Arial" panose="020B0604020202020204" pitchFamily="34" charset="0"/>
              </a:rPr>
              <a:t> </a:t>
            </a:r>
            <a:r>
              <a:rPr lang="sk-SK" altLang="sk-SK" sz="2200">
                <a:latin typeface="Arial" panose="020B0604020202020204" pitchFamily="34" charset="0"/>
              </a:rPr>
              <a:t>- adresa premennej,</a:t>
            </a:r>
          </a:p>
          <a:p>
            <a:r>
              <a:rPr lang="sk-SK" altLang="sk-SK" sz="2200"/>
              <a:t>c</a:t>
            </a:r>
            <a:r>
              <a:rPr lang="sk-SK" altLang="sk-SK" sz="2200">
                <a:latin typeface="Arial" panose="020B0604020202020204" pitchFamily="34" charset="0"/>
              </a:rPr>
              <a:t> - premenná,</a:t>
            </a:r>
          </a:p>
          <a:p>
            <a:r>
              <a:rPr lang="en-US" altLang="sk-SK" sz="2200"/>
              <a:t>&amp;c</a:t>
            </a:r>
            <a:r>
              <a:rPr lang="sk-SK" altLang="sk-SK" sz="2200">
                <a:latin typeface="Arial" panose="020B0604020202020204" pitchFamily="34" charset="0"/>
              </a:rPr>
              <a:t> - adresa premennej,</a:t>
            </a:r>
          </a:p>
          <a:p>
            <a:r>
              <a:rPr lang="sk-SK" altLang="sk-SK" sz="2200"/>
              <a:t>str</a:t>
            </a:r>
            <a:r>
              <a:rPr lang="sk-SK" altLang="sk-SK" sz="2200">
                <a:latin typeface="Arial" panose="020B0604020202020204" pitchFamily="34" charset="0"/>
              </a:rPr>
              <a:t> - statická adresa poľa </a:t>
            </a:r>
            <a:endParaRPr lang="en-US" altLang="sk-SK" sz="2200">
              <a:latin typeface="Arial" panose="020B0604020202020204" pitchFamily="34" charset="0"/>
            </a:endParaRPr>
          </a:p>
          <a:p>
            <a:r>
              <a:rPr lang="en-US" altLang="sk-SK" sz="2200">
                <a:latin typeface="Arial" panose="020B0604020202020204" pitchFamily="34" charset="0"/>
              </a:rPr>
              <a:t>         </a:t>
            </a:r>
            <a:r>
              <a:rPr lang="sk-SK" altLang="sk-SK" sz="2200">
                <a:latin typeface="Arial" panose="020B0604020202020204" pitchFamily="34" charset="0"/>
              </a:rPr>
              <a:t>(reťazca znakov)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275909AC-7521-4EE0-8498-E45F9AA17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Kde sú dôležité zátvorky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398D08-CA5E-4102-8A04-126B4A007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1484313"/>
            <a:ext cx="9915525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370" tIns="50685" rIns="101370" bIns="5068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sk-SK" altLang="sk-SK" sz="2700"/>
              <a:t>Všade, ale najmä</a:t>
            </a:r>
          </a:p>
          <a:p>
            <a:pPr lvl="1"/>
            <a:r>
              <a:rPr lang="sk-SK" altLang="sk-SK" sz="2500">
                <a:solidFill>
                  <a:srgbClr val="FF0000"/>
                </a:solidFill>
              </a:rPr>
              <a:t>Pri definovaní makra </a:t>
            </a:r>
          </a:p>
          <a:p>
            <a:pPr lvl="2">
              <a:buFontTx/>
              <a:buNone/>
            </a:pPr>
            <a:r>
              <a:rPr lang="sk-SK" altLang="sk-SK" sz="2200"/>
              <a:t>napr.</a:t>
            </a:r>
            <a:endParaRPr lang="en-US" altLang="sk-SK" sz="2200"/>
          </a:p>
          <a:p>
            <a:pPr lvl="2">
              <a:buFontTx/>
              <a:buNone/>
            </a:pPr>
            <a:endParaRPr lang="en-US" altLang="sk-SK" sz="2200">
              <a:solidFill>
                <a:srgbClr val="FF0000"/>
              </a:solidFill>
            </a:endParaRPr>
          </a:p>
          <a:p>
            <a:pPr lvl="2">
              <a:buFontTx/>
              <a:buNone/>
            </a:pPr>
            <a:endParaRPr lang="en-US" altLang="sk-SK" sz="2200">
              <a:solidFill>
                <a:srgbClr val="FF0000"/>
              </a:solidFill>
            </a:endParaRPr>
          </a:p>
          <a:p>
            <a:pPr lvl="1"/>
            <a:r>
              <a:rPr lang="sk-SK" altLang="sk-SK" sz="2500">
                <a:solidFill>
                  <a:srgbClr val="FF0000"/>
                </a:solidFill>
              </a:rPr>
              <a:t>Ak v príkazoch potrebujete iné poradie vyhodnocovania ako určujú priority operátorov</a:t>
            </a:r>
          </a:p>
          <a:p>
            <a:pPr lvl="2">
              <a:buFontTx/>
              <a:buNone/>
            </a:pPr>
            <a:r>
              <a:rPr lang="sk-SK" altLang="sk-SK" sz="2200"/>
              <a:t>napr.</a:t>
            </a:r>
            <a:r>
              <a:rPr lang="en-US" altLang="sk-SK" sz="2200"/>
              <a:t> </a:t>
            </a:r>
            <a:endParaRPr lang="sk-SK" altLang="sk-SK" sz="22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E44DE4-46DF-4F6C-A5A9-D98ADD567584}"/>
              </a:ext>
            </a:extLst>
          </p:cNvPr>
          <p:cNvGrpSpPr>
            <a:grpSpLocks/>
          </p:cNvGrpSpPr>
          <p:nvPr/>
        </p:nvGrpSpPr>
        <p:grpSpPr bwMode="auto">
          <a:xfrm>
            <a:off x="1362075" y="2997200"/>
            <a:ext cx="8189913" cy="442913"/>
            <a:chOff x="1226486" y="2708920"/>
            <a:chExt cx="7377962" cy="400110"/>
          </a:xfrm>
        </p:grpSpPr>
        <p:sp>
          <p:nvSpPr>
            <p:cNvPr id="20494" name="Rectangle 1027">
              <a:extLst>
                <a:ext uri="{FF2B5EF4-FFF2-40B4-BE49-F238E27FC236}">
                  <a16:creationId xmlns:a16="http://schemas.microsoft.com/office/drawing/2014/main" id="{F13FA3E9-92F2-4A42-A625-F2FEE860B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486" y="2739532"/>
              <a:ext cx="7056784" cy="36949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20495" name="Text Box 1028">
              <a:extLst>
                <a:ext uri="{FF2B5EF4-FFF2-40B4-BE49-F238E27FC236}">
                  <a16:creationId xmlns:a16="http://schemas.microsoft.com/office/drawing/2014/main" id="{B0BE156D-B210-48C8-A0AD-8CE927466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086" y="2708920"/>
              <a:ext cx="734536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#define obvod_obdlznika(a,b) 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2*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a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</a:t>
              </a:r>
              <a:r>
                <a:rPr lang="en-US" altLang="sk-SK" sz="2200">
                  <a:latin typeface="Courier New" panose="02070309020205020404" pitchFamily="49" charset="0"/>
                </a:rPr>
                <a:t> + 2*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b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E5C9621-B89D-407F-B3FD-C546568390E2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5387975"/>
            <a:ext cx="8189912" cy="442913"/>
            <a:chOff x="1233754" y="4869160"/>
            <a:chExt cx="7377962" cy="400110"/>
          </a:xfrm>
        </p:grpSpPr>
        <p:sp>
          <p:nvSpPr>
            <p:cNvPr id="20492" name="Rectangle 1027">
              <a:extLst>
                <a:ext uri="{FF2B5EF4-FFF2-40B4-BE49-F238E27FC236}">
                  <a16:creationId xmlns:a16="http://schemas.microsoft.com/office/drawing/2014/main" id="{25908403-1D9E-48B7-8D59-245B79C9F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754" y="4899772"/>
              <a:ext cx="7056784" cy="36949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20493" name="Text Box 1028">
              <a:extLst>
                <a:ext uri="{FF2B5EF4-FFF2-40B4-BE49-F238E27FC236}">
                  <a16:creationId xmlns:a16="http://schemas.microsoft.com/office/drawing/2014/main" id="{73EC31B1-9865-45EF-9C58-315DBFE65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6354" y="4869160"/>
              <a:ext cx="734536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if(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i&lt;0 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||</a:t>
              </a:r>
              <a:r>
                <a:rPr lang="en-US" altLang="sk-SK" sz="2200">
                  <a:latin typeface="Courier New" panose="02070309020205020404" pitchFamily="49" charset="0"/>
                </a:rPr>
                <a:t> i&gt;=N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 &amp;&amp; (</a:t>
              </a:r>
              <a:r>
                <a:rPr lang="en-US" altLang="sk-SK" sz="2200">
                  <a:latin typeface="Courier New" panose="02070309020205020404" pitchFamily="49" charset="0"/>
                </a:rPr>
                <a:t>j&lt;0 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||</a:t>
              </a:r>
              <a:r>
                <a:rPr lang="en-US" altLang="sk-SK" sz="2200">
                  <a:latin typeface="Courier New" panose="02070309020205020404" pitchFamily="49" charset="0"/>
                </a:rPr>
                <a:t> j&gt;=N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</a:t>
              </a:r>
              <a:r>
                <a:rPr lang="en-US" altLang="sk-SK" sz="2200">
                  <a:latin typeface="Courier New" panose="02070309020205020404" pitchFamily="49" charset="0"/>
                </a:rPr>
                <a:t>)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94305EB-A4EE-46B1-AF27-71F8CF094174}"/>
              </a:ext>
            </a:extLst>
          </p:cNvPr>
          <p:cNvGrpSpPr>
            <a:grpSpLocks/>
          </p:cNvGrpSpPr>
          <p:nvPr/>
        </p:nvGrpSpPr>
        <p:grpSpPr bwMode="auto">
          <a:xfrm>
            <a:off x="1362075" y="5946775"/>
            <a:ext cx="8499475" cy="1125538"/>
            <a:chOff x="1226486" y="5373216"/>
            <a:chExt cx="7657368" cy="1016244"/>
          </a:xfrm>
        </p:grpSpPr>
        <p:sp>
          <p:nvSpPr>
            <p:cNvPr id="20487" name="Rectangle 1027">
              <a:extLst>
                <a:ext uri="{FF2B5EF4-FFF2-40B4-BE49-F238E27FC236}">
                  <a16:creationId xmlns:a16="http://schemas.microsoft.com/office/drawing/2014/main" id="{FAE68DBA-FD48-4865-9936-5FE810F03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486" y="5403828"/>
              <a:ext cx="7056784" cy="36949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20488" name="Text Box 1028">
              <a:extLst>
                <a:ext uri="{FF2B5EF4-FFF2-40B4-BE49-F238E27FC236}">
                  <a16:creationId xmlns:a16="http://schemas.microsoft.com/office/drawing/2014/main" id="{CE3A11DE-EE5F-4123-8335-D9D36BDC7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086" y="5373216"/>
              <a:ext cx="734536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while(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c = getchar()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</a:t>
              </a:r>
              <a:r>
                <a:rPr lang="en-US" altLang="sk-SK" sz="2200">
                  <a:latin typeface="Courier New" panose="02070309020205020404" pitchFamily="49" charset="0"/>
                </a:rPr>
                <a:t> != '*') …</a:t>
              </a:r>
              <a:endParaRPr lang="en-US" altLang="sk-SK" sz="220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489" name="Rectangle 1027">
              <a:extLst>
                <a:ext uri="{FF2B5EF4-FFF2-40B4-BE49-F238E27FC236}">
                  <a16:creationId xmlns:a16="http://schemas.microsoft.com/office/drawing/2014/main" id="{96B5B85D-1F71-4D75-AC4E-78E2A23D3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486" y="6019962"/>
              <a:ext cx="7056784" cy="36949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sk-SK" sz="2000"/>
            </a:p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20490" name="Text Box 1028">
              <a:extLst>
                <a:ext uri="{FF2B5EF4-FFF2-40B4-BE49-F238E27FC236}">
                  <a16:creationId xmlns:a16="http://schemas.microsoft.com/office/drawing/2014/main" id="{0C5CC82A-178A-493C-A981-F5E256B4C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086" y="5989350"/>
              <a:ext cx="734536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if(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200">
                  <a:latin typeface="Courier New" panose="02070309020205020404" pitchFamily="49" charset="0"/>
                </a:rPr>
                <a:t>f = fopen("a.txt"), "r"</a:t>
              </a:r>
              <a:r>
                <a:rPr lang="en-US" altLang="sk-SK" sz="2200">
                  <a:solidFill>
                    <a:srgbClr val="FF0000"/>
                  </a:solidFill>
                  <a:latin typeface="Courier New" panose="02070309020205020404" pitchFamily="49" charset="0"/>
                </a:rPr>
                <a:t>)</a:t>
              </a:r>
              <a:r>
                <a:rPr lang="en-US" altLang="sk-SK" sz="2200">
                  <a:latin typeface="Courier New" panose="02070309020205020404" pitchFamily="49" charset="0"/>
                </a:rPr>
                <a:t>) != NULL) …</a:t>
              </a:r>
              <a:endParaRPr lang="en-US" altLang="sk-SK" sz="220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491" name="Rounded Rectangle 2">
              <a:extLst>
                <a:ext uri="{FF2B5EF4-FFF2-40B4-BE49-F238E27FC236}">
                  <a16:creationId xmlns:a16="http://schemas.microsoft.com/office/drawing/2014/main" id="{664C9834-13BE-4029-A4A8-A80805C5F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3654" y="5406160"/>
              <a:ext cx="1800200" cy="6871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sk-SK" altLang="sk-SK" sz="2000"/>
                <a:t>p</a:t>
              </a:r>
              <a:r>
                <a:rPr lang="en-US" altLang="sk-SK" sz="2000"/>
                <a:t>riradenie m</a:t>
              </a:r>
              <a:r>
                <a:rPr lang="sk-SK" altLang="sk-SK" sz="2000"/>
                <a:t>á nízku prioritu</a:t>
              </a:r>
              <a:endParaRPr lang="en-US" altLang="sk-SK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>
            <a:extLst>
              <a:ext uri="{FF2B5EF4-FFF2-40B4-BE49-F238E27FC236}">
                <a16:creationId xmlns:a16="http://schemas.microsoft.com/office/drawing/2014/main" id="{188E3EEA-92DF-419D-A0C9-5CD875762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872288"/>
            <a:ext cx="48006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6" tIns="45718" rIns="91436" bIns="4571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97C7E526-4527-4086-A8B0-9C3D7383C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076825"/>
            <a:ext cx="48006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6" tIns="45718" rIns="91436" bIns="4571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4B8113BB-8746-4C85-8930-D6F9F1C29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Skrátené vyhodnocovanie logických výrazov</a:t>
            </a:r>
            <a:endParaRPr lang="en-US" altLang="sk-SK"/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3F011F1E-092C-47B0-B9C9-981A07BAC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850" y="1600200"/>
            <a:ext cx="9752013" cy="5029200"/>
          </a:xfrm>
        </p:spPr>
        <p:txBody>
          <a:bodyPr/>
          <a:lstStyle/>
          <a:p>
            <a:r>
              <a:rPr lang="sk-SK" altLang="sk-SK" sz="2800"/>
              <a:t>v jazyku C sa logický súčet a súčin vyhodnocujú v skrátenom vyhodnocovaní (</a:t>
            </a:r>
            <a:r>
              <a:rPr lang="sk-SK" altLang="sk-SK" sz="2800" i="1"/>
              <a:t>short circuit</a:t>
            </a:r>
            <a:r>
              <a:rPr lang="sk-SK" altLang="sk-SK" sz="2800"/>
              <a:t>)</a:t>
            </a:r>
          </a:p>
          <a:p>
            <a:pPr lvl="1"/>
            <a:r>
              <a:rPr lang="sk-SK" altLang="sk-SK" sz="2400"/>
              <a:t>argumenty sú vyhodnocované zľava a hneď ako je zrejmý konečný výsledok, vyhodnocovanie sa skončí</a:t>
            </a:r>
          </a:p>
          <a:p>
            <a:pPr lvl="1">
              <a:buFontTx/>
              <a:buNone/>
            </a:pPr>
            <a:endParaRPr lang="sk-SK" altLang="sk-SK" sz="2400"/>
          </a:p>
          <a:p>
            <a:pPr lvl="1">
              <a:buFontTx/>
              <a:buNone/>
            </a:pPr>
            <a:endParaRPr lang="sk-SK" altLang="sk-SK" sz="2400"/>
          </a:p>
          <a:p>
            <a:pPr lvl="1">
              <a:buFontTx/>
              <a:buNone/>
            </a:pPr>
            <a:endParaRPr lang="sk-SK" altLang="sk-SK" sz="2400"/>
          </a:p>
          <a:p>
            <a:pPr lvl="1">
              <a:buFontTx/>
              <a:buNone/>
            </a:pPr>
            <a:endParaRPr lang="sk-SK" altLang="sk-SK" sz="2400"/>
          </a:p>
          <a:p>
            <a:pPr lvl="1">
              <a:buFontTx/>
              <a:buNone/>
            </a:pPr>
            <a:r>
              <a:rPr lang="sk-SK" altLang="sk-SK" sz="2400"/>
              <a:t>	   	</a:t>
            </a:r>
            <a:r>
              <a:rPr lang="en-US" altLang="sk-SK" sz="2400" b="1">
                <a:latin typeface="Courier New" panose="02070309020205020404" pitchFamily="49" charset="0"/>
              </a:rPr>
              <a:t>(</a:t>
            </a:r>
            <a:r>
              <a:rPr lang="en-US" altLang="sk-SK" sz="2400"/>
              <a:t>y</a:t>
            </a:r>
            <a:r>
              <a:rPr lang="sk-SK" altLang="sk-SK" sz="2400" b="1">
                <a:latin typeface="Courier New" panose="02070309020205020404" pitchFamily="49" charset="0"/>
              </a:rPr>
              <a:t> != 0</a:t>
            </a:r>
            <a:r>
              <a:rPr lang="en-US" altLang="sk-SK" sz="2400" b="1">
                <a:latin typeface="Courier New" panose="02070309020205020404" pitchFamily="49" charset="0"/>
              </a:rPr>
              <a:t>)</a:t>
            </a:r>
            <a:r>
              <a:rPr lang="sk-SK" altLang="sk-SK" sz="2400" b="1">
                <a:latin typeface="Courier New" panose="02070309020205020404" pitchFamily="49" charset="0"/>
              </a:rPr>
              <a:t> </a:t>
            </a:r>
            <a:r>
              <a:rPr lang="en-US" altLang="sk-SK" sz="2400" b="1">
                <a:latin typeface="Courier New" panose="02070309020205020404" pitchFamily="49" charset="0"/>
              </a:rPr>
              <a:t> &amp;&amp;  (x / y &lt; z)</a:t>
            </a:r>
            <a:r>
              <a:rPr lang="en-US" altLang="sk-SK" sz="2400"/>
              <a:t> </a:t>
            </a:r>
            <a:r>
              <a:rPr lang="sk-SK" altLang="sk-SK" sz="2400"/>
              <a:t> </a:t>
            </a:r>
            <a:endParaRPr lang="en-US" altLang="sk-SK" sz="2400"/>
          </a:p>
          <a:p>
            <a:pPr lvl="1">
              <a:buFontTx/>
              <a:buNone/>
            </a:pPr>
            <a:endParaRPr lang="en-US" altLang="sk-SK" sz="2400"/>
          </a:p>
          <a:p>
            <a:pPr lvl="1">
              <a:buFontTx/>
              <a:buNone/>
            </a:pPr>
            <a:endParaRPr lang="en-US" altLang="sk-SK" sz="2400"/>
          </a:p>
          <a:p>
            <a:pPr lvl="1">
              <a:buFontTx/>
              <a:buNone/>
            </a:pPr>
            <a:endParaRPr lang="en-US" altLang="sk-SK" sz="2400"/>
          </a:p>
          <a:p>
            <a:pPr lvl="1">
              <a:buFontTx/>
              <a:buNone/>
            </a:pPr>
            <a:r>
              <a:rPr lang="en-US" altLang="sk-SK" sz="2400" b="1">
                <a:latin typeface="Courier New" panose="02070309020205020404" pitchFamily="49" charset="0"/>
              </a:rPr>
              <a:t>			</a:t>
            </a:r>
            <a:r>
              <a:rPr lang="sk-SK" altLang="sk-SK" sz="2400" b="1">
                <a:latin typeface="Courier New" panose="02070309020205020404" pitchFamily="49" charset="0"/>
              </a:rPr>
              <a:t>(</a:t>
            </a:r>
            <a:r>
              <a:rPr lang="en-US" altLang="sk-SK" sz="2400" b="1">
                <a:latin typeface="Courier New" panose="02070309020205020404" pitchFamily="49" charset="0"/>
              </a:rPr>
              <a:t>x &gt; 10)  ||  (x % 5)</a:t>
            </a:r>
            <a:r>
              <a:rPr lang="sk-SK" altLang="sk-SK" sz="2400"/>
              <a:t>  </a:t>
            </a:r>
            <a:endParaRPr lang="en-US" altLang="sk-SK" sz="2400"/>
          </a:p>
        </p:txBody>
      </p:sp>
      <p:sp>
        <p:nvSpPr>
          <p:cNvPr id="49156" name="AutoShape 4">
            <a:extLst>
              <a:ext uri="{FF2B5EF4-FFF2-40B4-BE49-F238E27FC236}">
                <a16:creationId xmlns:a16="http://schemas.microsoft.com/office/drawing/2014/main" id="{3D17A930-6611-4EC6-A705-B0986C3D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3743325"/>
            <a:ext cx="9848850" cy="989013"/>
          </a:xfrm>
          <a:prstGeom prst="wedgeRoundRectCallout">
            <a:avLst>
              <a:gd name="adj1" fmla="val -18009"/>
              <a:gd name="adj2" fmla="val 8493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k-SK" altLang="sk-SK" sz="2000"/>
              <a:t>logický súčin: ak hodnota 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sk-SK" altLang="sk-SK" sz="2000"/>
              <a:t>-teho podvýrazu je 0, celý výraz je 0: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k-SK" altLang="sk-SK" sz="2000"/>
              <a:t>- </a:t>
            </a:r>
            <a:r>
              <a:rPr lang="en-US" altLang="sk-SK" sz="2000"/>
              <a:t>ak </a:t>
            </a:r>
            <a:r>
              <a:rPr lang="en-US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y == 0</a:t>
            </a:r>
            <a:r>
              <a:rPr lang="en-US" altLang="sk-SK" sz="2000"/>
              <a:t>, </a:t>
            </a:r>
            <a:r>
              <a:rPr lang="sk-SK" altLang="sk-SK" sz="2000"/>
              <a:t>hodnota výrazu je FALSE a delenie nulou nenastane</a:t>
            </a:r>
            <a:endParaRPr lang="en-US" altLang="sk-SK" sz="2000"/>
          </a:p>
        </p:txBody>
      </p:sp>
      <p:sp>
        <p:nvSpPr>
          <p:cNvPr id="49157" name="AutoShape 5">
            <a:extLst>
              <a:ext uri="{FF2B5EF4-FFF2-40B4-BE49-F238E27FC236}">
                <a16:creationId xmlns:a16="http://schemas.microsoft.com/office/drawing/2014/main" id="{24020F5B-CB1F-40F7-8708-4D2354F7C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5715000"/>
            <a:ext cx="9848850" cy="914400"/>
          </a:xfrm>
          <a:prstGeom prst="wedgeRoundRectCallout">
            <a:avLst>
              <a:gd name="adj1" fmla="val -18606"/>
              <a:gd name="adj2" fmla="val 7725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k-SK" altLang="sk-SK" sz="2000"/>
              <a:t>logický súčet: ak hodnota 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sk-SK" altLang="sk-SK" sz="2000"/>
              <a:t>-teho podvýrazu je 1, celý výraz je 1: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sk-SK" altLang="sk-SK" sz="2000"/>
              <a:t>- </a:t>
            </a:r>
            <a:r>
              <a:rPr lang="en-US" altLang="sk-SK" sz="2000"/>
              <a:t>ak 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US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sk-SK" sz="2000"/>
              <a:t>, </a:t>
            </a:r>
            <a:r>
              <a:rPr lang="sk-SK" altLang="sk-SK" sz="2000"/>
              <a:t>hodnota výrazu je FALSE a 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% 5</a:t>
            </a:r>
            <a:r>
              <a:rPr lang="sk-SK" altLang="sk-SK" sz="2000"/>
              <a:t> nenastane</a:t>
            </a:r>
            <a:endParaRPr lang="en-US" altLang="sk-SK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nimBg="1" autoUpdateAnimBg="0"/>
      <p:bldP spid="4915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>
            <a:extLst>
              <a:ext uri="{FF2B5EF4-FFF2-40B4-BE49-F238E27FC236}">
                <a16:creationId xmlns:a16="http://schemas.microsoft.com/office/drawing/2014/main" id="{77142C04-FBC7-4195-8F97-457154759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Skrátené vyhodnocovanie logických výrazov</a:t>
            </a:r>
            <a:r>
              <a:rPr lang="en-US" altLang="sk-SK"/>
              <a:t> – vyu</a:t>
            </a:r>
            <a:r>
              <a:rPr lang="sk-SK" altLang="sk-SK"/>
              <a:t>žitie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118D8F8C-FA5B-4B34-BC1C-9A49FAF2D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3316288"/>
            <a:ext cx="8023225" cy="4429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22532" name="Text Box 1028">
            <a:extLst>
              <a:ext uri="{FF2B5EF4-FFF2-40B4-BE49-F238E27FC236}">
                <a16:creationId xmlns:a16="http://schemas.microsoft.com/office/drawing/2014/main" id="{37164321-71EE-41C7-9CC7-E33A48644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88" y="3316288"/>
            <a:ext cx="7226300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i</a:t>
            </a:r>
            <a:r>
              <a:rPr lang="sk-SK" altLang="sk-SK" sz="2200">
                <a:latin typeface="Courier New" panose="02070309020205020404" pitchFamily="49" charset="0"/>
              </a:rPr>
              <a:t>f (</a:t>
            </a:r>
            <a:r>
              <a:rPr lang="en-US" altLang="sk-SK" sz="2200">
                <a:latin typeface="Courier New" panose="02070309020205020404" pitchFamily="49" charset="0"/>
              </a:rPr>
              <a:t>x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&gt; 0 &amp;&amp; logaritmus(x) &gt; 0.5) …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148A6882-5A2D-4FA4-95C2-6095E28E2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2068513"/>
            <a:ext cx="9752013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370" tIns="50685" rIns="101370" bIns="50685"/>
          <a:lstStyle>
            <a:lvl1pPr marL="514350" indent="-5143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sk-SK" altLang="sk-SK" sz="2700"/>
              <a:t>Prvá časť podmienky je kontrola</a:t>
            </a:r>
          </a:p>
          <a:p>
            <a:pPr lvl="1"/>
            <a:r>
              <a:rPr lang="sk-SK" altLang="sk-SK" sz="2200"/>
              <a:t>Len, keď prejdeme kontrolou, vykonáva sa druhá časť podmienky </a:t>
            </a:r>
          </a:p>
          <a:p>
            <a:pPr lvl="1"/>
            <a:endParaRPr lang="sk-SK" altLang="sk-SK" sz="2200"/>
          </a:p>
          <a:p>
            <a:pPr lvl="1"/>
            <a:endParaRPr lang="en-US" altLang="sk-SK" sz="2200"/>
          </a:p>
          <a:p>
            <a:pPr lvl="1"/>
            <a:endParaRPr lang="sk-SK" altLang="sk-SK" sz="2200"/>
          </a:p>
          <a:p>
            <a:pPr lvl="1"/>
            <a:endParaRPr lang="en-US" altLang="sk-SK" sz="2200"/>
          </a:p>
          <a:p>
            <a:pPr lvl="1"/>
            <a:endParaRPr lang="sk-SK" altLang="sk-SK" sz="2200"/>
          </a:p>
          <a:p>
            <a:pPr>
              <a:buFontTx/>
              <a:buAutoNum type="arabicPeriod"/>
            </a:pPr>
            <a:r>
              <a:rPr lang="sk-SK" altLang="sk-SK" sz="2700"/>
              <a:t>Usporiadanie podmienok tak, aby časovo/priestorovo menej náročná časť podmienky bola kontrolovaná skôr</a:t>
            </a:r>
            <a:endParaRPr lang="en-US" altLang="sk-SK" sz="2700"/>
          </a:p>
        </p:txBody>
      </p:sp>
      <p:sp>
        <p:nvSpPr>
          <p:cNvPr id="22534" name="Rectangle 1027">
            <a:extLst>
              <a:ext uri="{FF2B5EF4-FFF2-40B4-BE49-F238E27FC236}">
                <a16:creationId xmlns:a16="http://schemas.microsoft.com/office/drawing/2014/main" id="{DB091788-F237-46B3-A2B4-1F017AF00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3883025"/>
            <a:ext cx="8023225" cy="4429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22535" name="Text Box 1028">
            <a:extLst>
              <a:ext uri="{FF2B5EF4-FFF2-40B4-BE49-F238E27FC236}">
                <a16:creationId xmlns:a16="http://schemas.microsoft.com/office/drawing/2014/main" id="{CD18A62B-D9A2-4205-A169-0322F6FCC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88" y="3883025"/>
            <a:ext cx="7226300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i</a:t>
            </a:r>
            <a:r>
              <a:rPr lang="sk-SK" altLang="sk-SK" sz="2200">
                <a:latin typeface="Courier New" panose="02070309020205020404" pitchFamily="49" charset="0"/>
              </a:rPr>
              <a:t>f (</a:t>
            </a:r>
            <a:r>
              <a:rPr lang="en-US" altLang="sk-SK" sz="2200">
                <a:latin typeface="Courier New" panose="02070309020205020404" pitchFamily="49" charset="0"/>
              </a:rPr>
              <a:t>y != NULL &amp;&amp; y-&gt;data == 100) …</a:t>
            </a:r>
          </a:p>
        </p:txBody>
      </p:sp>
      <p:sp>
        <p:nvSpPr>
          <p:cNvPr id="22536" name="Rectangle 1027">
            <a:extLst>
              <a:ext uri="{FF2B5EF4-FFF2-40B4-BE49-F238E27FC236}">
                <a16:creationId xmlns:a16="http://schemas.microsoft.com/office/drawing/2014/main" id="{98686ABE-E764-49EF-8803-4CD26157A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6142038"/>
            <a:ext cx="8023225" cy="4429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22537" name="Text Box 1028">
            <a:extLst>
              <a:ext uri="{FF2B5EF4-FFF2-40B4-BE49-F238E27FC236}">
                <a16:creationId xmlns:a16="http://schemas.microsoft.com/office/drawing/2014/main" id="{21784E99-D7C2-4148-8A9E-D2D1EF81E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88" y="6142038"/>
            <a:ext cx="8154987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i</a:t>
            </a:r>
            <a:r>
              <a:rPr lang="sk-SK" altLang="sk-SK" sz="2200">
                <a:latin typeface="Courier New" panose="02070309020205020404" pitchFamily="49" charset="0"/>
              </a:rPr>
              <a:t>f (</a:t>
            </a:r>
            <a:r>
              <a:rPr lang="en-US" altLang="sk-SK" sz="2200">
                <a:latin typeface="Courier New" panose="02070309020205020404" pitchFamily="49" charset="0"/>
              </a:rPr>
              <a:t>lacny_vypocet(z) || drahy_vypocet(z)))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6D7095B-A6D2-4D27-8715-A3AC998D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Skr</a:t>
            </a:r>
            <a:r>
              <a:rPr lang="sk-SK" altLang="sk-SK"/>
              <a:t>átené vyhodnocovanie logických výrazov</a:t>
            </a:r>
            <a:endParaRPr lang="en-US" altLang="sk-SK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21FAF6F-F822-4EA3-8BDE-393AB4D5C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438" y="1801813"/>
            <a:ext cx="9753600" cy="1914525"/>
          </a:xfrm>
        </p:spPr>
        <p:txBody>
          <a:bodyPr/>
          <a:lstStyle/>
          <a:p>
            <a:r>
              <a:rPr lang="sk-SK" altLang="sk-SK" sz="2700"/>
              <a:t>Vyhodnocovanie zľava doprava</a:t>
            </a:r>
          </a:p>
          <a:p>
            <a:r>
              <a:rPr lang="sk-SK" altLang="sk-SK" sz="2700"/>
              <a:t>keď je jasný výsledok logického súčtu alebo súčinu, s vyhodnocovaním sa skončí</a:t>
            </a:r>
            <a:endParaRPr lang="en-US" altLang="sk-SK" sz="27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C4A0DA6-CF9F-4B81-9066-F6FE86DCE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3871913"/>
            <a:ext cx="6846888" cy="327183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1370" tIns="50685" rIns="101370" bIns="50685" anchor="ctr"/>
          <a:lstStyle>
            <a:lvl1pPr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urier New" panose="02070309020205020404" pitchFamily="49" charset="0"/>
              </a:defRPr>
            </a:lvl9pPr>
          </a:lstStyle>
          <a:p>
            <a:r>
              <a:rPr lang="sk-SK" altLang="sk-SK">
                <a:cs typeface="Courier New" panose="02070309020205020404" pitchFamily="49" charset="0"/>
              </a:rPr>
              <a:t>#include &lt;stdio.h&gt;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int main(void)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{	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   int i = 22, j = 10;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   if ((i %= j) || ++j == 11)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      printf ("Logicky sucet\n"); </a:t>
            </a:r>
          </a:p>
          <a:p>
            <a:r>
              <a:rPr lang="sk-SK" altLang="sk-SK">
                <a:cs typeface="Courier New" panose="02070309020205020404" pitchFamily="49" charset="0"/>
              </a:rPr>
              <a:t>   printf("i = %d  j = %d\n", i, j); </a:t>
            </a:r>
          </a:p>
          <a:p>
            <a:r>
              <a:rPr lang="sk-SK" altLang="sk-SK">
                <a:cs typeface="Courier New" panose="02070309020205020404" pitchFamily="49" charset="0"/>
              </a:rPr>
              <a:t>   return 0;</a:t>
            </a:r>
            <a:endParaRPr lang="en-US" altLang="sk-SK">
              <a:cs typeface="Courier New" panose="02070309020205020404" pitchFamily="49" charset="0"/>
            </a:endParaRPr>
          </a:p>
          <a:p>
            <a:r>
              <a:rPr lang="sk-SK" altLang="sk-SK">
                <a:cs typeface="Courier New" panose="02070309020205020404" pitchFamily="49" charset="0"/>
              </a:rPr>
              <a:t>}</a:t>
            </a:r>
            <a:endParaRPr lang="en-US" altLang="sk-SK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C3DA5F63-61F2-4597-86BE-82C479E33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30388"/>
            <a:ext cx="8186737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9" rIns="91276" bIns="45639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2D92615-EA0A-4B35-8EC8-816B25E37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Priority vyhodnocovania logických výrazov</a:t>
            </a:r>
            <a:endParaRPr lang="en-US" altLang="sk-SK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48CE527C-511E-43C6-BA55-D50B9B74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38400"/>
            <a:ext cx="8186737" cy="44640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76" tIns="45639" rIns="91276" bIns="45639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31749" name="Text Box 5">
            <a:extLst>
              <a:ext uri="{FF2B5EF4-FFF2-40B4-BE49-F238E27FC236}">
                <a16:creationId xmlns:a16="http://schemas.microsoft.com/office/drawing/2014/main" id="{D7DC33BC-03E8-43C0-80D5-3CEE32886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65313"/>
            <a:ext cx="8366125" cy="46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76" tIns="45639" rIns="91276" bIns="45639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767">
                <a:solidFill>
                  <a:srgbClr val="000000"/>
                </a:solidFill>
              </a:rPr>
              <a:t>Operátor			smer vyhodnocovania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767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! ++ -- - + (</a:t>
            </a:r>
            <a:r>
              <a:rPr lang="en-US" altLang="sk-SK" sz="2435" i="1">
                <a:solidFill>
                  <a:srgbClr val="000000"/>
                </a:solidFill>
                <a:latin typeface="Courier New" panose="02070309020205020404" pitchFamily="49" charset="0"/>
              </a:rPr>
              <a:t>typ</a:t>
            </a: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sk-SK" altLang="sk-SK" sz="2435">
                <a:solidFill>
                  <a:srgbClr val="000000"/>
                </a:solidFill>
              </a:rPr>
              <a:t>	z</a:t>
            </a:r>
            <a:r>
              <a:rPr lang="en-US" altLang="sk-SK" sz="2435">
                <a:solidFill>
                  <a:srgbClr val="000000"/>
                </a:solidFill>
              </a:rPr>
              <a:t>prava do</a:t>
            </a:r>
            <a:r>
              <a:rPr lang="sk-SK" altLang="sk-SK" sz="2435">
                <a:solidFill>
                  <a:srgbClr val="000000"/>
                </a:solidFill>
              </a:rPr>
              <a:t>ľava</a:t>
            </a:r>
            <a:endParaRPr lang="en-US" altLang="sk-SK" sz="2435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* / %</a:t>
            </a:r>
            <a:r>
              <a:rPr lang="sk-SK" altLang="sk-SK" sz="2435">
                <a:solidFill>
                  <a:srgbClr val="000000"/>
                </a:solidFill>
              </a:rPr>
              <a:t>	 			zľava doprava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+ -</a:t>
            </a:r>
            <a:r>
              <a:rPr lang="en-US" altLang="sk-SK" sz="2435">
                <a:solidFill>
                  <a:srgbClr val="000000"/>
                </a:solidFill>
              </a:rPr>
              <a:t>	</a:t>
            </a:r>
            <a:r>
              <a:rPr lang="sk-SK" altLang="sk-SK" sz="2435">
                <a:solidFill>
                  <a:srgbClr val="000000"/>
                </a:solidFill>
              </a:rPr>
              <a:t>			zľava doprava</a:t>
            </a:r>
            <a:endParaRPr lang="en-US" altLang="sk-SK" sz="2435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&lt; &lt;= &gt;= &gt;</a:t>
            </a:r>
            <a:r>
              <a:rPr lang="sk-SK" altLang="sk-SK" sz="2435">
                <a:solidFill>
                  <a:srgbClr val="000000"/>
                </a:solidFill>
              </a:rPr>
              <a:t>			zľava doprava</a:t>
            </a:r>
            <a:endParaRPr lang="en-US" altLang="sk-SK" sz="2435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</a:rPr>
              <a:t>== !=</a:t>
            </a:r>
            <a:r>
              <a:rPr lang="sk-SK" altLang="sk-SK" sz="2435">
                <a:solidFill>
                  <a:srgbClr val="000000"/>
                </a:solidFill>
              </a:rPr>
              <a:t>				zľava doprava</a:t>
            </a:r>
            <a:endParaRPr lang="en-US" altLang="sk-SK" sz="2435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&amp;&amp;</a:t>
            </a:r>
            <a:r>
              <a:rPr lang="sk-SK" altLang="sk-SK" sz="2435">
                <a:solidFill>
                  <a:srgbClr val="000000"/>
                </a:solidFill>
              </a:rPr>
              <a:t>				zľava doprava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||</a:t>
            </a:r>
            <a:r>
              <a:rPr lang="sk-SK" altLang="sk-SK" sz="2435">
                <a:solidFill>
                  <a:srgbClr val="000000"/>
                </a:solidFill>
              </a:rPr>
              <a:t>				zľava doprava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? :</a:t>
            </a:r>
            <a:r>
              <a:rPr lang="sk-SK" altLang="sk-SK" sz="2435">
                <a:solidFill>
                  <a:srgbClr val="000000"/>
                </a:solidFill>
              </a:rPr>
              <a:t>				z</a:t>
            </a:r>
            <a:r>
              <a:rPr lang="en-US" altLang="sk-SK" sz="2435">
                <a:solidFill>
                  <a:srgbClr val="000000"/>
                </a:solidFill>
              </a:rPr>
              <a:t>prava do</a:t>
            </a:r>
            <a:r>
              <a:rPr lang="sk-SK" altLang="sk-SK" sz="2435">
                <a:solidFill>
                  <a:srgbClr val="000000"/>
                </a:solidFill>
              </a:rPr>
              <a:t>ľava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= += -= *= ... </a:t>
            </a:r>
            <a:r>
              <a:rPr lang="sk-SK" altLang="sk-SK" sz="2435">
                <a:solidFill>
                  <a:srgbClr val="000000"/>
                </a:solidFill>
              </a:rPr>
              <a:t>	 	zľava doprava</a:t>
            </a:r>
            <a:endParaRPr lang="en-US" altLang="sk-SK" sz="2435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sk-SK" altLang="sk-SK" sz="2435">
                <a:solidFill>
                  <a:srgbClr val="000000"/>
                </a:solidFill>
              </a:rPr>
              <a:t>				zľava doprava</a:t>
            </a:r>
            <a:endParaRPr lang="en-US" altLang="sk-SK" sz="2435">
              <a:solidFill>
                <a:srgbClr val="000000"/>
              </a:solidFill>
            </a:endParaRPr>
          </a:p>
        </p:txBody>
      </p:sp>
      <p:grpSp>
        <p:nvGrpSpPr>
          <p:cNvPr id="50187" name="Group 11">
            <a:extLst>
              <a:ext uri="{FF2B5EF4-FFF2-40B4-BE49-F238E27FC236}">
                <a16:creationId xmlns:a16="http://schemas.microsoft.com/office/drawing/2014/main" id="{4C0EBD66-AF3B-4ED1-8A1A-BEAA4EE35006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6980238"/>
            <a:ext cx="4941887" cy="466725"/>
            <a:chOff x="236" y="4397"/>
            <a:chExt cx="3123" cy="294"/>
          </a:xfrm>
        </p:grpSpPr>
        <p:sp>
          <p:nvSpPr>
            <p:cNvPr id="31765" name="Rectangle 8">
              <a:extLst>
                <a:ext uri="{FF2B5EF4-FFF2-40B4-BE49-F238E27FC236}">
                  <a16:creationId xmlns:a16="http://schemas.microsoft.com/office/drawing/2014/main" id="{D97255BD-1351-4029-8125-442138F26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4398"/>
              <a:ext cx="302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66" name="Rectangle 9">
              <a:extLst>
                <a:ext uri="{FF2B5EF4-FFF2-40B4-BE49-F238E27FC236}">
                  <a16:creationId xmlns:a16="http://schemas.microsoft.com/office/drawing/2014/main" id="{4EF3D544-3FEF-4A8A-8800-1D1566924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4397"/>
              <a:ext cx="3071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435">
                  <a:solidFill>
                    <a:srgbClr val="000000"/>
                  </a:solidFill>
                </a:rPr>
                <a:t>y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 != 0</a:t>
              </a:r>
              <a:r>
                <a:rPr lang="en-US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)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 </a:t>
              </a:r>
              <a:r>
                <a:rPr lang="en-US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 &amp;&amp;  (x / y &lt; z)</a:t>
              </a:r>
            </a:p>
          </p:txBody>
        </p:sp>
      </p:grpSp>
      <p:grpSp>
        <p:nvGrpSpPr>
          <p:cNvPr id="50188" name="Group 12">
            <a:extLst>
              <a:ext uri="{FF2B5EF4-FFF2-40B4-BE49-F238E27FC236}">
                <a16:creationId xmlns:a16="http://schemas.microsoft.com/office/drawing/2014/main" id="{46DA29F5-F11A-4EC9-92DF-DE93EA4FF4FF}"/>
              </a:ext>
            </a:extLst>
          </p:cNvPr>
          <p:cNvGrpSpPr>
            <a:grpSpLocks/>
          </p:cNvGrpSpPr>
          <p:nvPr/>
        </p:nvGrpSpPr>
        <p:grpSpPr bwMode="auto">
          <a:xfrm>
            <a:off x="5349875" y="6980238"/>
            <a:ext cx="4389438" cy="466725"/>
            <a:chOff x="3370" y="4397"/>
            <a:chExt cx="2774" cy="294"/>
          </a:xfrm>
        </p:grpSpPr>
        <p:sp>
          <p:nvSpPr>
            <p:cNvPr id="31763" name="Rectangle 7">
              <a:extLst>
                <a:ext uri="{FF2B5EF4-FFF2-40B4-BE49-F238E27FC236}">
                  <a16:creationId xmlns:a16="http://schemas.microsoft.com/office/drawing/2014/main" id="{7117CA1E-2307-4758-86C8-96101E9EE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4397"/>
              <a:ext cx="277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64" name="Rectangle 10">
              <a:extLst>
                <a:ext uri="{FF2B5EF4-FFF2-40B4-BE49-F238E27FC236}">
                  <a16:creationId xmlns:a16="http://schemas.microsoft.com/office/drawing/2014/main" id="{BF6308B2-D0EC-466F-836B-AB55599C1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4397"/>
              <a:ext cx="2602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x &gt; 10)  ||  (x % 5)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F3EB67-67B2-4D13-80B3-B3BF82D96BEF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6994525"/>
            <a:ext cx="4524375" cy="381000"/>
            <a:chOff x="539552" y="5877272"/>
            <a:chExt cx="4087784" cy="344263"/>
          </a:xfrm>
        </p:grpSpPr>
        <p:sp>
          <p:nvSpPr>
            <p:cNvPr id="31759" name="Rectangle 13">
              <a:extLst>
                <a:ext uri="{FF2B5EF4-FFF2-40B4-BE49-F238E27FC236}">
                  <a16:creationId xmlns:a16="http://schemas.microsoft.com/office/drawing/2014/main" id="{85B84A38-A2C5-4897-B9DC-F668EE823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5877272"/>
              <a:ext cx="137694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60" name="Rectangle 14">
              <a:extLst>
                <a:ext uri="{FF2B5EF4-FFF2-40B4-BE49-F238E27FC236}">
                  <a16:creationId xmlns:a16="http://schemas.microsoft.com/office/drawing/2014/main" id="{DA0DD4B3-38C1-4DF4-87F6-29F7436C9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304" y="5877272"/>
              <a:ext cx="137694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61" name="Rectangle 15">
              <a:extLst>
                <a:ext uri="{FF2B5EF4-FFF2-40B4-BE49-F238E27FC236}">
                  <a16:creationId xmlns:a16="http://schemas.microsoft.com/office/drawing/2014/main" id="{E34D0FC4-5BC1-4FAF-9462-77EC97BF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044" y="5877272"/>
              <a:ext cx="137694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62" name="Rectangle 16">
              <a:extLst>
                <a:ext uri="{FF2B5EF4-FFF2-40B4-BE49-F238E27FC236}">
                  <a16:creationId xmlns:a16="http://schemas.microsoft.com/office/drawing/2014/main" id="{20F3302E-E05F-4298-B1FB-C49494E13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642" y="5877272"/>
              <a:ext cx="137694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7B7358-5101-48FD-A9F3-52AB82D1B61A}"/>
              </a:ext>
            </a:extLst>
          </p:cNvPr>
          <p:cNvGrpSpPr>
            <a:grpSpLocks/>
          </p:cNvGrpSpPr>
          <p:nvPr/>
        </p:nvGrpSpPr>
        <p:grpSpPr bwMode="auto">
          <a:xfrm>
            <a:off x="5721350" y="6999288"/>
            <a:ext cx="3841750" cy="381000"/>
            <a:chOff x="5156499" y="5893049"/>
            <a:chExt cx="3469215" cy="344263"/>
          </a:xfrm>
        </p:grpSpPr>
        <p:sp>
          <p:nvSpPr>
            <p:cNvPr id="31755" name="Rectangle 19">
              <a:extLst>
                <a:ext uri="{FF2B5EF4-FFF2-40B4-BE49-F238E27FC236}">
                  <a16:creationId xmlns:a16="http://schemas.microsoft.com/office/drawing/2014/main" id="{6319293A-D2AA-4530-B4AD-0A1284F0A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6499" y="5893049"/>
              <a:ext cx="137622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56" name="Rectangle 20">
              <a:extLst>
                <a:ext uri="{FF2B5EF4-FFF2-40B4-BE49-F238E27FC236}">
                  <a16:creationId xmlns:a16="http://schemas.microsoft.com/office/drawing/2014/main" id="{8E4C9195-459B-4BA8-B105-18308C0DA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3" y="5893049"/>
              <a:ext cx="137622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57" name="Rectangle 21">
              <a:extLst>
                <a:ext uri="{FF2B5EF4-FFF2-40B4-BE49-F238E27FC236}">
                  <a16:creationId xmlns:a16="http://schemas.microsoft.com/office/drawing/2014/main" id="{68D59A27-EB1A-4DA1-B119-A298CA6B8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0474" y="5893049"/>
              <a:ext cx="137622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31758" name="Rectangle 22">
              <a:extLst>
                <a:ext uri="{FF2B5EF4-FFF2-40B4-BE49-F238E27FC236}">
                  <a16:creationId xmlns:a16="http://schemas.microsoft.com/office/drawing/2014/main" id="{2FF9E0EB-9D66-4011-86C6-45AE573A2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8092" y="5893049"/>
              <a:ext cx="137622" cy="34426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31754" name="AutoShape 25">
            <a:extLst>
              <a:ext uri="{FF2B5EF4-FFF2-40B4-BE49-F238E27FC236}">
                <a16:creationId xmlns:a16="http://schemas.microsoft.com/office/drawing/2014/main" id="{7B2BFFCB-04A5-4ADE-A31D-3B16408DC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2590800"/>
            <a:ext cx="3098800" cy="914400"/>
          </a:xfrm>
          <a:prstGeom prst="wedgeRoundRectCallout">
            <a:avLst>
              <a:gd name="adj1" fmla="val -67519"/>
              <a:gd name="adj2" fmla="val -1145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76" tIns="45639" rIns="91276" bIns="45639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solidFill>
                  <a:srgbClr val="000000"/>
                </a:solidFill>
              </a:rPr>
              <a:t>un</a:t>
            </a:r>
            <a:r>
              <a:rPr lang="sk-SK" altLang="sk-SK" sz="2435">
                <a:solidFill>
                  <a:srgbClr val="000000"/>
                </a:solidFill>
              </a:rPr>
              <a:t>árne operátory</a:t>
            </a:r>
            <a:r>
              <a:rPr lang="en-US" altLang="sk-SK" sz="2435">
                <a:solidFill>
                  <a:srgbClr val="000000"/>
                </a:solidFill>
              </a:rPr>
              <a:t> +</a:t>
            </a:r>
            <a:r>
              <a:rPr lang="sk-SK" altLang="sk-SK" sz="2435">
                <a:solidFill>
                  <a:srgbClr val="000000"/>
                </a:solidFill>
              </a:rPr>
              <a:t> pretypovanie</a:t>
            </a:r>
            <a:endParaRPr lang="en-US" altLang="sk-SK" sz="2435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3772CC-1305-4F77-A918-593791824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Príkaz </a:t>
            </a:r>
            <a:r>
              <a:rPr lang="sk-SK" altLang="sk-SK">
                <a:latin typeface="Courier New" panose="02070309020205020404" pitchFamily="49" charset="0"/>
              </a:rPr>
              <a:t>while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3EB0146-5D12-46C8-B51F-27F1425B3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600200"/>
            <a:ext cx="9721850" cy="5410200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cyklus iteruje pokým platí </a:t>
            </a:r>
            <a:r>
              <a:rPr lang="sk-SK" altLang="sk-SK" sz="2767" b="1">
                <a:latin typeface="Courier New" panose="02070309020205020404" pitchFamily="49" charset="0"/>
              </a:rPr>
              <a:t>podmienka</a:t>
            </a:r>
            <a:r>
              <a:rPr lang="sk-SK" altLang="sk-SK" sz="2767" b="1"/>
              <a:t>:</a:t>
            </a:r>
          </a:p>
          <a:p>
            <a:pPr>
              <a:defRPr/>
            </a:pPr>
            <a:endParaRPr lang="sk-SK" altLang="sk-SK" sz="2767" b="1"/>
          </a:p>
          <a:p>
            <a:pPr>
              <a:defRPr/>
            </a:pPr>
            <a:endParaRPr lang="sk-SK" altLang="sk-SK" sz="2767" b="1"/>
          </a:p>
          <a:p>
            <a:pPr>
              <a:defRPr/>
            </a:pPr>
            <a:endParaRPr lang="sk-SK" altLang="sk-SK" sz="2767"/>
          </a:p>
          <a:p>
            <a:pPr>
              <a:defRPr/>
            </a:pPr>
            <a:endParaRPr lang="sk-SK" altLang="sk-SK" sz="2767"/>
          </a:p>
          <a:p>
            <a:pPr>
              <a:defRPr/>
            </a:pPr>
            <a:r>
              <a:rPr lang="sk-SK" altLang="sk-SK" sz="2767"/>
              <a:t>testuje podmienku </a:t>
            </a:r>
            <a:r>
              <a:rPr lang="sk-SK" altLang="sk-SK" sz="2767" b="1"/>
              <a:t>pred</a:t>
            </a:r>
            <a:r>
              <a:rPr lang="sk-SK" altLang="sk-SK" sz="2767"/>
              <a:t> prechodom cyklu</a:t>
            </a:r>
          </a:p>
          <a:p>
            <a:pPr lvl="1">
              <a:defRPr/>
            </a:pPr>
            <a:r>
              <a:rPr lang="sk-SK" altLang="sk-SK" sz="2435"/>
              <a:t>cyklus teda nemusí prebehnúť ani raz</a:t>
            </a:r>
          </a:p>
          <a:p>
            <a:pPr>
              <a:defRPr/>
            </a:pPr>
            <a:r>
              <a:rPr lang="sk-SK" altLang="sk-SK" sz="2767"/>
              <a:t>používame ho, keď ukončovacia podmienka závisí na nejakom príkaze v tele cyklu </a:t>
            </a:r>
          </a:p>
          <a:p>
            <a:pPr lvl="1">
              <a:defRPr/>
            </a:pPr>
            <a:r>
              <a:rPr lang="sk-SK" altLang="sk-SK" sz="2435"/>
              <a:t>ak nie, podmienka by bola splnená stále a cyklus by bol nekonečný</a:t>
            </a:r>
            <a:endParaRPr lang="en-US" altLang="sk-SK" sz="2435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0BE446F2-CBE1-48BE-A7D7-1C808CAFF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2590800"/>
            <a:ext cx="3419475" cy="9890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latin typeface="Courier New" panose="02070309020205020404" pitchFamily="49" charset="0"/>
            </a:endParaRPr>
          </a:p>
        </p:txBody>
      </p:sp>
      <p:sp>
        <p:nvSpPr>
          <p:cNvPr id="34821" name="Text Box 5">
            <a:extLst>
              <a:ext uri="{FF2B5EF4-FFF2-40B4-BE49-F238E27FC236}">
                <a16:creationId xmlns:a16="http://schemas.microsoft.com/office/drawing/2014/main" id="{571F3418-600C-4529-8050-CF9E44FFE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633663"/>
            <a:ext cx="337185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while (podmienka)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   prikaz</a:t>
            </a:r>
            <a:r>
              <a:rPr lang="en-US" altLang="sk-SK" sz="2435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883332-B11C-440F-A35D-E35AAC83C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Príkaz </a:t>
            </a:r>
            <a:r>
              <a:rPr lang="sk-SK" altLang="sk-SK">
                <a:latin typeface="Courier New" panose="02070309020205020404" pitchFamily="49" charset="0"/>
              </a:rPr>
              <a:t>while</a:t>
            </a:r>
            <a:r>
              <a:rPr lang="sk-SK" altLang="sk-SK"/>
              <a:t>: príklad</a:t>
            </a:r>
            <a:endParaRPr lang="en-US" altLang="sk-SK"/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02FF365D-9E45-4CE4-94E7-85591755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3048000"/>
            <a:ext cx="7188200" cy="44037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latin typeface="Courier New" panose="02070309020205020404" pitchFamily="49" charset="0"/>
            </a:endParaRPr>
          </a:p>
        </p:txBody>
      </p:sp>
      <p:sp>
        <p:nvSpPr>
          <p:cNvPr id="70661" name="Text Box 5">
            <a:extLst>
              <a:ext uri="{FF2B5EF4-FFF2-40B4-BE49-F238E27FC236}">
                <a16:creationId xmlns:a16="http://schemas.microsoft.com/office/drawing/2014/main" id="{363A3D8B-CCDF-4687-B84C-EA0008B0E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3163888"/>
            <a:ext cx="6748462" cy="428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#include &lt;stdio.h&gt;</a:t>
            </a:r>
            <a:endParaRPr lang="sk-SK" altLang="sk-SK" sz="2435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439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int main()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   </a:t>
            </a:r>
            <a:r>
              <a:rPr lang="en-US" altLang="sk-SK" sz="2435">
                <a:latin typeface="Courier New" panose="02070309020205020404" pitchFamily="49" charset="0"/>
              </a:rPr>
              <a:t>int c;</a:t>
            </a:r>
            <a:endParaRPr lang="sk-SK" altLang="sk-SK" sz="2435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439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   wh</a:t>
            </a:r>
            <a:r>
              <a:rPr lang="en-US" altLang="sk-SK" sz="2435">
                <a:latin typeface="Courier New" panose="02070309020205020404" pitchFamily="49" charset="0"/>
              </a:rPr>
              <a:t>il</a:t>
            </a:r>
            <a:r>
              <a:rPr lang="sk-SK" altLang="sk-SK" sz="2435">
                <a:latin typeface="Courier New" panose="02070309020205020404" pitchFamily="49" charset="0"/>
              </a:rPr>
              <a:t>e ((</a:t>
            </a:r>
            <a:r>
              <a:rPr lang="en-US" altLang="sk-SK" sz="2435">
                <a:latin typeface="Courier New" panose="02070309020205020404" pitchFamily="49" charset="0"/>
              </a:rPr>
              <a:t>c = getchar()</a:t>
            </a:r>
            <a:r>
              <a:rPr lang="sk-SK" altLang="sk-SK" sz="2435">
                <a:latin typeface="Courier New" panose="02070309020205020404" pitchFamily="49" charset="0"/>
              </a:rPr>
              <a:t>) </a:t>
            </a:r>
            <a:r>
              <a:rPr lang="en-US" altLang="sk-SK" sz="2435">
                <a:latin typeface="Courier New" panose="02070309020205020404" pitchFamily="49" charset="0"/>
              </a:rPr>
              <a:t>!= '*')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   if (c </a:t>
            </a:r>
            <a:r>
              <a:rPr lang="sk-SK" altLang="sk-SK" sz="2435">
                <a:latin typeface="Courier New" panose="02070309020205020404" pitchFamily="49" charset="0"/>
              </a:rPr>
              <a:t>!</a:t>
            </a:r>
            <a:r>
              <a:rPr lang="en-US" altLang="sk-SK" sz="2435">
                <a:latin typeface="Courier New" panose="02070309020205020404" pitchFamily="49" charset="0"/>
              </a:rPr>
              <a:t>= ' ')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      putchar(c);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return 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5845" name="AutoShape 6">
            <a:extLst>
              <a:ext uri="{FF2B5EF4-FFF2-40B4-BE49-F238E27FC236}">
                <a16:creationId xmlns:a16="http://schemas.microsoft.com/office/drawing/2014/main" id="{DDEE54E1-B6C9-4C7D-97AE-D4C7239C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990600"/>
            <a:ext cx="7218363" cy="2057400"/>
          </a:xfrm>
          <a:prstGeom prst="cloudCallout">
            <a:avLst>
              <a:gd name="adj1" fmla="val -63204"/>
              <a:gd name="adj2" fmla="val 4892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  <a:defRPr/>
            </a:pPr>
            <a:r>
              <a:rPr lang="sk-SK" altLang="sk-SK" sz="2435"/>
              <a:t>program číta znaky z klávesnice,  opisuje ich na obrazovku, medzery si nevšíma a skončí po prečítaní znaku *</a:t>
            </a:r>
            <a:endParaRPr lang="en-US" altLang="sk-SK" sz="177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F715CCE-B314-47A7-8A72-E8536FD13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Príkaz </a:t>
            </a:r>
            <a:r>
              <a:rPr lang="en-US" altLang="sk-SK">
                <a:latin typeface="Courier New" panose="02070309020205020404" pitchFamily="49" charset="0"/>
              </a:rPr>
              <a:t>do-w</a:t>
            </a:r>
            <a:r>
              <a:rPr lang="sk-SK" altLang="sk-SK">
                <a:latin typeface="Courier New" panose="02070309020205020404" pitchFamily="49" charset="0"/>
              </a:rPr>
              <a:t>hile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499E7C8-1E38-4325-80F7-A9458CC7C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850" y="1848519"/>
            <a:ext cx="9753600" cy="4876800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testuje podmienku </a:t>
            </a:r>
            <a:r>
              <a:rPr lang="sk-SK" altLang="sk-SK" sz="2767" b="1"/>
              <a:t>p</a:t>
            </a:r>
            <a:r>
              <a:rPr lang="en-US" altLang="sk-SK" sz="2767" b="1"/>
              <a:t>o</a:t>
            </a:r>
            <a:r>
              <a:rPr lang="sk-SK" altLang="sk-SK" sz="2767"/>
              <a:t> prechod</a:t>
            </a:r>
            <a:r>
              <a:rPr lang="en-US" altLang="sk-SK" sz="2767"/>
              <a:t>e</a:t>
            </a:r>
            <a:r>
              <a:rPr lang="sk-SK" altLang="sk-SK" sz="2767"/>
              <a:t> cyklu</a:t>
            </a:r>
            <a:endParaRPr lang="en-US" altLang="sk-SK" sz="2767"/>
          </a:p>
          <a:p>
            <a:pPr lvl="1">
              <a:defRPr/>
            </a:pPr>
            <a:r>
              <a:rPr lang="en-US" altLang="sk-SK" sz="2435"/>
              <a:t>cyklus sa vykon</a:t>
            </a:r>
            <a:r>
              <a:rPr lang="sk-SK" altLang="sk-SK" sz="2435"/>
              <a:t>á aspoň raz</a:t>
            </a:r>
            <a:endParaRPr lang="en-US" altLang="sk-SK" sz="2435"/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sk-SK" altLang="sk-SK" sz="2767"/>
          </a:p>
          <a:p>
            <a:pPr>
              <a:defRPr/>
            </a:pPr>
            <a:r>
              <a:rPr lang="en-US" altLang="sk-SK" sz="2767"/>
              <a:t>program op</a:t>
            </a:r>
            <a:r>
              <a:rPr lang="sk-SK" altLang="sk-SK" sz="2767"/>
              <a:t>úšťa cyklus pri </a:t>
            </a:r>
            <a:r>
              <a:rPr lang="sk-SK" altLang="sk-SK" sz="2767" b="1"/>
              <a:t>nesplnenej</a:t>
            </a:r>
            <a:r>
              <a:rPr lang="sk-SK" altLang="sk-SK" sz="2767"/>
              <a:t> podmienke</a:t>
            </a:r>
            <a:endParaRPr lang="en-US" altLang="sk-SK" sz="2767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34E54946-DA49-4EB2-BACE-DD0223317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3276600"/>
            <a:ext cx="3722688" cy="1371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latin typeface="Courier New" panose="02070309020205020404" pitchFamily="49" charset="0"/>
            </a:endParaRP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5EA46474-D5F2-4A38-BA15-5D370E5E2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3319463"/>
            <a:ext cx="3560762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do </a:t>
            </a:r>
            <a:r>
              <a:rPr lang="en-US" altLang="sk-SK" sz="2435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prikazy;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}while</a:t>
            </a:r>
            <a:r>
              <a:rPr lang="sk-SK" altLang="sk-SK" sz="2435">
                <a:latin typeface="Courier New" panose="02070309020205020404" pitchFamily="49" charset="0"/>
              </a:rPr>
              <a:t> (podmienka)</a:t>
            </a:r>
            <a:endParaRPr lang="en-US" altLang="sk-SK" sz="2435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F3FF834-B0D9-4ED7-B671-B1B71D336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Príkaz </a:t>
            </a:r>
            <a:r>
              <a:rPr lang="en-US" altLang="sk-SK">
                <a:latin typeface="Courier New" panose="02070309020205020404" pitchFamily="49" charset="0"/>
              </a:rPr>
              <a:t>for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C54D60C-4CAF-498E-A988-BBEFE41A2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676400"/>
            <a:ext cx="9721850" cy="1981200"/>
          </a:xfrm>
        </p:spPr>
        <p:txBody>
          <a:bodyPr/>
          <a:lstStyle/>
          <a:p>
            <a:pPr>
              <a:defRPr/>
            </a:pPr>
            <a:r>
              <a:rPr lang="en-US" altLang="sk-SK" sz="2767"/>
              <a:t>pou</a:t>
            </a:r>
            <a:r>
              <a:rPr lang="sk-SK" altLang="sk-SK" sz="2767"/>
              <a:t>žíva sa, keď dopredu vieme počet prechodov cyklom</a:t>
            </a:r>
            <a:endParaRPr lang="en-US" altLang="sk-SK" sz="2767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D6C1153A-7582-416F-9FC6-DB1F8475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2514600"/>
            <a:ext cx="7900988" cy="914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435">
              <a:latin typeface="Courier New" panose="02070309020205020404" pitchFamily="49" charset="0"/>
            </a:endParaRP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5D10DE54-CC0E-4ABB-BA92-9EBDB448E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2557463"/>
            <a:ext cx="7874000" cy="84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Courier New" panose="02070309020205020404" pitchFamily="49" charset="0"/>
              </a:rPr>
              <a:t>for (vyraz_start</a:t>
            </a:r>
            <a:r>
              <a:rPr lang="en-US" altLang="sk-SK" sz="2435">
                <a:latin typeface="Courier New" panose="02070309020205020404" pitchFamily="49" charset="0"/>
              </a:rPr>
              <a:t>; vyraz_stop; vyraz_iter)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Courier New" panose="02070309020205020404" pitchFamily="49" charset="0"/>
              </a:rPr>
              <a:t>   prikaz;</a:t>
            </a:r>
          </a:p>
        </p:txBody>
      </p:sp>
      <p:grpSp>
        <p:nvGrpSpPr>
          <p:cNvPr id="75785" name="Group 9">
            <a:extLst>
              <a:ext uri="{FF2B5EF4-FFF2-40B4-BE49-F238E27FC236}">
                <a16:creationId xmlns:a16="http://schemas.microsoft.com/office/drawing/2014/main" id="{C8D53E80-B407-4373-A5B9-E45F7610DE21}"/>
              </a:ext>
            </a:extLst>
          </p:cNvPr>
          <p:cNvGrpSpPr>
            <a:grpSpLocks/>
          </p:cNvGrpSpPr>
          <p:nvPr/>
        </p:nvGrpSpPr>
        <p:grpSpPr bwMode="auto">
          <a:xfrm>
            <a:off x="514350" y="4572000"/>
            <a:ext cx="9175750" cy="2743200"/>
            <a:chOff x="432" y="2880"/>
            <a:chExt cx="5616" cy="1728"/>
          </a:xfrm>
        </p:grpSpPr>
        <p:sp>
          <p:nvSpPr>
            <p:cNvPr id="37896" name="Rectangle 6">
              <a:extLst>
                <a:ext uri="{FF2B5EF4-FFF2-40B4-BE49-F238E27FC236}">
                  <a16:creationId xmlns:a16="http://schemas.microsoft.com/office/drawing/2014/main" id="{243F0010-F3C0-4F52-AA1D-8B2E8725B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936"/>
              <a:ext cx="5568" cy="67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435">
                <a:latin typeface="Courier New" panose="02070309020205020404" pitchFamily="49" charset="0"/>
              </a:endParaRPr>
            </a:p>
          </p:txBody>
        </p:sp>
        <p:sp>
          <p:nvSpPr>
            <p:cNvPr id="37897" name="Text Box 7">
              <a:extLst>
                <a:ext uri="{FF2B5EF4-FFF2-40B4-BE49-F238E27FC236}">
                  <a16:creationId xmlns:a16="http://schemas.microsoft.com/office/drawing/2014/main" id="{E49D36CB-D825-46EF-AB16-14942626A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" y="3981"/>
              <a:ext cx="5384" cy="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latin typeface="Courier New" panose="02070309020205020404" pitchFamily="49" charset="0"/>
                </a:rPr>
                <a:t>for (i = </a:t>
              </a:r>
              <a:r>
                <a:rPr lang="en-US" altLang="sk-SK" sz="2435">
                  <a:latin typeface="Courier New" panose="02070309020205020404" pitchFamily="49" charset="0"/>
                </a:rPr>
                <a:t>1;</a:t>
              </a:r>
              <a:r>
                <a:rPr lang="sk-SK" altLang="sk-SK" sz="2435">
                  <a:latin typeface="Courier New" panose="02070309020205020404" pitchFamily="49" charset="0"/>
                </a:rPr>
                <a:t> i </a:t>
              </a:r>
              <a:r>
                <a:rPr lang="en-US" altLang="sk-SK" sz="2435">
                  <a:latin typeface="Courier New" panose="02070309020205020404" pitchFamily="49" charset="0"/>
                </a:rPr>
                <a:t>&lt;= 100; i++)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435">
                  <a:latin typeface="Courier New" panose="02070309020205020404" pitchFamily="49" charset="0"/>
                </a:rPr>
                <a:t>   printf("%d: I will not cut corners</a:t>
              </a:r>
              <a:r>
                <a:rPr lang="sk-SK" altLang="sk-SK" sz="2435"/>
                <a:t>.</a:t>
              </a:r>
              <a:r>
                <a:rPr lang="en-US" altLang="sk-SK" sz="2435"/>
                <a:t> </a:t>
              </a:r>
              <a:r>
                <a:rPr lang="en-US" altLang="sk-SK" sz="2435">
                  <a:latin typeface="Courier New" panose="02070309020205020404" pitchFamily="49" charset="0"/>
                </a:rPr>
                <a:t>\n", i);</a:t>
              </a:r>
            </a:p>
          </p:txBody>
        </p:sp>
        <p:sp>
          <p:nvSpPr>
            <p:cNvPr id="37898" name="AutoShape 8">
              <a:extLst>
                <a:ext uri="{FF2B5EF4-FFF2-40B4-BE49-F238E27FC236}">
                  <a16:creationId xmlns:a16="http://schemas.microsoft.com/office/drawing/2014/main" id="{48A3FE0C-D018-4B72-ABE4-1131E1675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880"/>
              <a:ext cx="5568" cy="960"/>
            </a:xfrm>
            <a:prstGeom prst="cloudCallout">
              <a:avLst>
                <a:gd name="adj1" fmla="val -43750"/>
                <a:gd name="adj2" fmla="val 6104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435"/>
                <a:t>nap</a:t>
              </a:r>
              <a:r>
                <a:rPr lang="sk-SK" altLang="sk-SK" sz="2435"/>
                <a:t>íš 100x "</a:t>
              </a:r>
              <a:r>
                <a:rPr lang="en-US" altLang="sk-SK" sz="2435">
                  <a:latin typeface="Courier New" panose="02070309020205020404" pitchFamily="49" charset="0"/>
                </a:rPr>
                <a:t>I will not cut corners</a:t>
              </a:r>
              <a:r>
                <a:rPr lang="sk-SK" altLang="sk-SK" sz="2435"/>
                <a:t>" - vždy do nového riadku, každý riadok začni číslom riadku</a:t>
              </a:r>
              <a:endParaRPr lang="en-US" altLang="sk-SK" sz="2435"/>
            </a:p>
          </p:txBody>
        </p:sp>
      </p:grpSp>
      <p:sp>
        <p:nvSpPr>
          <p:cNvPr id="75786" name="AutoShape 10">
            <a:extLst>
              <a:ext uri="{FF2B5EF4-FFF2-40B4-BE49-F238E27FC236}">
                <a16:creationId xmlns:a16="http://schemas.microsoft.com/office/drawing/2014/main" id="{CE6B18F5-8263-48FF-8DBD-6D3C70FCC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3579813"/>
            <a:ext cx="6608763" cy="534987"/>
          </a:xfrm>
          <a:prstGeom prst="wedgeRoundRectCallout">
            <a:avLst>
              <a:gd name="adj1" fmla="val -9171"/>
              <a:gd name="adj2" fmla="val -16547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435"/>
              <a:t>keď nesplnený </a:t>
            </a:r>
            <a:r>
              <a:rPr lang="sk-SK" altLang="sk-SK" sz="2435">
                <a:latin typeface="Courier New" panose="02070309020205020404" pitchFamily="49" charset="0"/>
              </a:rPr>
              <a:t>vyraz_stop</a:t>
            </a:r>
            <a:r>
              <a:rPr lang="sk-SK" altLang="sk-SK" sz="2435"/>
              <a:t> - končí cyklus</a:t>
            </a:r>
            <a:endParaRPr lang="en-US" altLang="sk-SK" sz="243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3419A85A-321A-42F4-AE52-B94392A9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P</a:t>
            </a:r>
            <a:r>
              <a:rPr lang="sk-SK" altLang="sk-SK"/>
              <a:t>ríklad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AEF482E-BD99-49C7-8664-97202456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25" y="1828800"/>
            <a:ext cx="9721850" cy="52339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k-SK" altLang="sk-SK"/>
              <a:t>Prepíšte nasledujúci cyklus tak, aby ste nepoužili príkazy </a:t>
            </a: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sk-SK" altLang="sk-SK"/>
              <a:t> a </a:t>
            </a: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sk-SK" altLang="sk-SK"/>
              <a:t>.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while (i &lt;= k) {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	c = fgetc(f);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	if (c == EOF) break;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	if (c == '*') continue;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	if (c == '\n') i++;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	else poc++;</a:t>
            </a:r>
          </a:p>
          <a:p>
            <a:pPr marL="0" indent="0">
              <a:buFontTx/>
              <a:buNone/>
            </a:pPr>
            <a:r>
              <a:rPr lang="sk-SK" altLang="sk-SK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>
            <a:extLst>
              <a:ext uri="{FF2B5EF4-FFF2-40B4-BE49-F238E27FC236}">
                <a16:creationId xmlns:a16="http://schemas.microsoft.com/office/drawing/2014/main" id="{50996B03-A8A8-44D8-9EAB-F9EEB2B9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447800"/>
            <a:ext cx="6154737" cy="4343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5D4D472-0634-47CA-B0AC-55D586414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ASCII tabuľka</a:t>
            </a:r>
            <a:endParaRPr lang="en-US" altLang="sk-SK"/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4DE6535-5006-4143-AD0B-6C089CB2C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600200"/>
            <a:ext cx="9721850" cy="57150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sk-SK" altLang="sk-SK" sz="2767"/>
              <a:t>riadiace znaky	0	  -   31</a:t>
            </a:r>
          </a:p>
          <a:p>
            <a:pPr>
              <a:buFontTx/>
              <a:buNone/>
              <a:defRPr/>
            </a:pPr>
            <a:r>
              <a:rPr lang="sk-SK" altLang="sk-SK" sz="2767"/>
              <a:t>medzera		32 </a:t>
            </a:r>
            <a:r>
              <a:rPr lang="en-US" altLang="sk-SK" sz="2767"/>
              <a:t> ' '</a:t>
            </a:r>
          </a:p>
          <a:p>
            <a:pPr>
              <a:buFontTx/>
              <a:buNone/>
              <a:defRPr/>
            </a:pPr>
            <a:r>
              <a:rPr lang="en-US" altLang="sk-SK" sz="2767"/>
              <a:t>pomocn</a:t>
            </a:r>
            <a:r>
              <a:rPr lang="sk-SK" altLang="sk-SK" sz="2767"/>
              <a:t>é znaky</a:t>
            </a:r>
            <a:r>
              <a:rPr lang="en-US" altLang="sk-SK" sz="2767"/>
              <a:t>	33  '!'	</a:t>
            </a:r>
            <a:r>
              <a:rPr lang="sk-SK" altLang="sk-SK" sz="2767"/>
              <a:t>  </a:t>
            </a:r>
            <a:r>
              <a:rPr lang="en-US" altLang="sk-SK" sz="2767"/>
              <a:t>-</a:t>
            </a:r>
            <a:r>
              <a:rPr lang="sk-SK" altLang="sk-SK" sz="2767"/>
              <a:t>   </a:t>
            </a:r>
            <a:r>
              <a:rPr lang="en-US" altLang="sk-SK" sz="2767"/>
              <a:t>47  '/'</a:t>
            </a:r>
          </a:p>
          <a:p>
            <a:pPr>
              <a:buFontTx/>
              <a:buNone/>
              <a:defRPr/>
            </a:pPr>
            <a:r>
              <a:rPr lang="sk-SK" altLang="sk-SK" sz="2767"/>
              <a:t>číslice</a:t>
            </a:r>
            <a:r>
              <a:rPr lang="en-US" altLang="sk-SK" sz="2767"/>
              <a:t>			48  '0'	</a:t>
            </a:r>
            <a:r>
              <a:rPr lang="sk-SK" altLang="sk-SK" sz="2767"/>
              <a:t>  </a:t>
            </a:r>
            <a:r>
              <a:rPr lang="en-US" altLang="sk-SK" sz="2767"/>
              <a:t>-</a:t>
            </a:r>
            <a:r>
              <a:rPr lang="sk-SK" altLang="sk-SK" sz="2767"/>
              <a:t>   </a:t>
            </a:r>
            <a:r>
              <a:rPr lang="en-US" altLang="sk-SK" sz="2767"/>
              <a:t>57  '9'</a:t>
            </a:r>
          </a:p>
          <a:p>
            <a:pPr>
              <a:buFontTx/>
              <a:buNone/>
              <a:defRPr/>
            </a:pPr>
            <a:r>
              <a:rPr lang="sk-SK" altLang="sk-SK" sz="2767"/>
              <a:t>pomocné znaky</a:t>
            </a:r>
            <a:r>
              <a:rPr lang="en-US" altLang="sk-SK" sz="2767"/>
              <a:t>	58  ':'	</a:t>
            </a:r>
            <a:r>
              <a:rPr lang="sk-SK" altLang="sk-SK" sz="2767"/>
              <a:t>  </a:t>
            </a:r>
            <a:r>
              <a:rPr lang="en-US" altLang="sk-SK" sz="2767"/>
              <a:t>-</a:t>
            </a:r>
            <a:r>
              <a:rPr lang="sk-SK" altLang="sk-SK" sz="2767"/>
              <a:t>   </a:t>
            </a:r>
            <a:r>
              <a:rPr lang="en-US" altLang="sk-SK" sz="2767"/>
              <a:t>64  '@'</a:t>
            </a:r>
          </a:p>
          <a:p>
            <a:pPr>
              <a:buFontTx/>
              <a:buNone/>
              <a:defRPr/>
            </a:pPr>
            <a:r>
              <a:rPr lang="sk-SK" altLang="sk-SK" sz="2767"/>
              <a:t>veľké písmená</a:t>
            </a:r>
            <a:r>
              <a:rPr lang="en-US" altLang="sk-SK" sz="2767"/>
              <a:t>	65  'A'	</a:t>
            </a:r>
            <a:r>
              <a:rPr lang="sk-SK" altLang="sk-SK" sz="2767"/>
              <a:t>  </a:t>
            </a:r>
            <a:r>
              <a:rPr lang="en-US" altLang="sk-SK" sz="2767"/>
              <a:t>-</a:t>
            </a:r>
            <a:r>
              <a:rPr lang="sk-SK" altLang="sk-SK" sz="2767"/>
              <a:t>   </a:t>
            </a:r>
            <a:r>
              <a:rPr lang="en-US" altLang="sk-SK" sz="2767"/>
              <a:t>90  'Z'</a:t>
            </a:r>
          </a:p>
          <a:p>
            <a:pPr>
              <a:buFontTx/>
              <a:buNone/>
              <a:defRPr/>
            </a:pPr>
            <a:r>
              <a:rPr lang="sk-SK" altLang="sk-SK" sz="2767"/>
              <a:t>malé písmená</a:t>
            </a:r>
            <a:r>
              <a:rPr lang="en-US" altLang="sk-SK" sz="2767"/>
              <a:t>	97  'a'   -   122 'z'</a:t>
            </a:r>
            <a:endParaRPr lang="sk-SK" altLang="sk-SK" sz="2767"/>
          </a:p>
          <a:p>
            <a:pPr>
              <a:buFontTx/>
              <a:buNone/>
              <a:defRPr/>
            </a:pPr>
            <a:r>
              <a:rPr lang="sk-SK" altLang="sk-SK" sz="2767"/>
              <a:t>pomocné znaky</a:t>
            </a:r>
            <a:r>
              <a:rPr lang="en-US" altLang="sk-SK" sz="2767"/>
              <a:t>	123 '{'   -   126  '-'</a:t>
            </a:r>
            <a:endParaRPr lang="sk-SK" altLang="sk-SK" sz="2767"/>
          </a:p>
          <a:p>
            <a:pPr>
              <a:buFontTx/>
              <a:buNone/>
              <a:defRPr/>
            </a:pPr>
            <a:endParaRPr lang="en-US" altLang="sk-SK" sz="2767"/>
          </a:p>
          <a:p>
            <a:pPr>
              <a:defRPr/>
            </a:pPr>
            <a:r>
              <a:rPr lang="en-US" altLang="sk-SK" sz="2767"/>
              <a:t>nevidite</a:t>
            </a:r>
            <a:r>
              <a:rPr lang="sk-SK" altLang="sk-SK" sz="2767"/>
              <a:t>ľné znaky:</a:t>
            </a:r>
          </a:p>
          <a:p>
            <a:pPr lvl="1">
              <a:defRPr/>
            </a:pPr>
            <a:r>
              <a:rPr lang="sk-SK" altLang="sk-SK" sz="2435"/>
              <a:t>7 Bell, 8 BackSpace, 9 Tab, 10 LineFeed, 13 Carriage Return, ...</a:t>
            </a:r>
          </a:p>
          <a:p>
            <a:pPr>
              <a:buFontTx/>
              <a:buNone/>
              <a:defRPr/>
            </a:pPr>
            <a:endParaRPr lang="en-US" altLang="sk-SK" sz="2767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>
            <a:extLst>
              <a:ext uri="{FF2B5EF4-FFF2-40B4-BE49-F238E27FC236}">
                <a16:creationId xmlns:a16="http://schemas.microsoft.com/office/drawing/2014/main" id="{B213703D-858C-48B1-82BB-DCBF7A1D4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Nájdenie maxima, minima a pod. v poli</a:t>
            </a:r>
            <a:r>
              <a:rPr lang="en-US" altLang="sk-SK"/>
              <a:t> (najpo</a:t>
            </a:r>
            <a:r>
              <a:rPr lang="sk-SK" altLang="sk-SK"/>
              <a:t>četnejší prvok)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0B9A71C-0F2B-4FE5-B629-E6B89B3DC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" y="1484313"/>
            <a:ext cx="9915525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370" tIns="50685" rIns="101370" bIns="5068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sk-SK" altLang="sk-SK" sz="2700">
                <a:solidFill>
                  <a:srgbClr val="FF0000"/>
                </a:solidFill>
              </a:rPr>
              <a:t>Na nájdenie maxima/minima (napr. počtu výskytov čísel), stačí pamätať si doteraz nájdené maximum/minimum</a:t>
            </a:r>
          </a:p>
          <a:p>
            <a:pPr lvl="1"/>
            <a:r>
              <a:rPr lang="sk-SK" altLang="sk-SK" sz="2200"/>
              <a:t>Napr. nájdenie čísla, ktoré sa v poli najčastejšie vyskytuje</a:t>
            </a:r>
          </a:p>
          <a:p>
            <a:pPr lvl="2"/>
            <a:r>
              <a:rPr lang="sk-SK" altLang="sk-SK" sz="2200">
                <a:solidFill>
                  <a:srgbClr val="FF0000"/>
                </a:solidFill>
              </a:rPr>
              <a:t>Nerobte histogram výskytu všetkých celých čísel!</a:t>
            </a:r>
          </a:p>
          <a:p>
            <a:pPr lvl="2"/>
            <a:r>
              <a:rPr lang="en-US" altLang="sk-SK" sz="2200">
                <a:solidFill>
                  <a:srgbClr val="FF0000"/>
                </a:solidFill>
              </a:rPr>
              <a:t>Pou</a:t>
            </a:r>
            <a:r>
              <a:rPr lang="sk-SK" altLang="sk-SK" sz="2200">
                <a:solidFill>
                  <a:srgbClr val="FF0000"/>
                </a:solidFill>
              </a:rPr>
              <a:t>žite vnorený cyklus </a:t>
            </a:r>
            <a:r>
              <a:rPr lang="sk-SK" altLang="sk-SK" sz="2200"/>
              <a:t>a pamätajte si </a:t>
            </a:r>
            <a:endParaRPr lang="en-US" altLang="sk-SK" sz="2200"/>
          </a:p>
          <a:p>
            <a:pPr lvl="3"/>
            <a:r>
              <a:rPr lang="sk-SK" altLang="sk-SK" sz="2200"/>
              <a:t>doteraz najčastejšie číslo </a:t>
            </a:r>
            <a:r>
              <a:rPr lang="en-US" altLang="sk-SK" sz="2200"/>
              <a:t>(alebo jeho index) - ak to bude treba</a:t>
            </a:r>
          </a:p>
          <a:p>
            <a:pPr lvl="3"/>
            <a:r>
              <a:rPr lang="sk-SK" altLang="sk-SK" sz="2200"/>
              <a:t>jeho počet výskytov           </a:t>
            </a:r>
            <a:r>
              <a:rPr lang="sk-SK" altLang="sk-SK" sz="2200">
                <a:solidFill>
                  <a:srgbClr val="FF0000"/>
                </a:solidFill>
              </a:rPr>
              <a:t>-</a:t>
            </a:r>
            <a:r>
              <a:rPr lang="en-US" altLang="sk-SK" sz="2200">
                <a:solidFill>
                  <a:srgbClr val="FF0000"/>
                </a:solidFill>
              </a:rPr>
              <a:t>&gt; 1 alebo 2 celo</a:t>
            </a:r>
            <a:r>
              <a:rPr lang="sk-SK" altLang="sk-SK" sz="2200">
                <a:solidFill>
                  <a:srgbClr val="FF0000"/>
                </a:solidFill>
              </a:rPr>
              <a:t>číselné premenné</a:t>
            </a:r>
            <a:endParaRPr lang="en-US" altLang="sk-SK" sz="2200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5557F2-0E67-4040-B085-8AE763F86744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4778375"/>
            <a:ext cx="9548813" cy="2827338"/>
            <a:chOff x="323528" y="4316180"/>
            <a:chExt cx="8601552" cy="2554545"/>
          </a:xfrm>
        </p:grpSpPr>
        <p:sp>
          <p:nvSpPr>
            <p:cNvPr id="31749" name="Rectangle 1027">
              <a:extLst>
                <a:ext uri="{FF2B5EF4-FFF2-40B4-BE49-F238E27FC236}">
                  <a16:creationId xmlns:a16="http://schemas.microsoft.com/office/drawing/2014/main" id="{62DAFCD8-82A2-4F30-B9A4-F03EA0443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4346792"/>
              <a:ext cx="8601552" cy="241766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31750" name="Text Box 1028">
              <a:extLst>
                <a:ext uri="{FF2B5EF4-FFF2-40B4-BE49-F238E27FC236}">
                  <a16:creationId xmlns:a16="http://schemas.microsoft.com/office/drawing/2014/main" id="{634B682B-1FED-45F0-A0BB-EFF84557B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28" y="4316180"/>
              <a:ext cx="7345362" cy="2554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sk-SK" altLang="sk-SK" sz="2200">
                  <a:latin typeface="Courier New" panose="02070309020205020404" pitchFamily="49" charset="0"/>
                </a:rPr>
                <a:t>for</a:t>
              </a:r>
              <a:r>
                <a:rPr lang="en-US" altLang="sk-SK" sz="2200">
                  <a:latin typeface="Courier New" panose="02070309020205020404" pitchFamily="49" charset="0"/>
                </a:rPr>
                <a:t>(i=0; i&lt;N; i++) 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vyskyt = 1;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for(j=i+1; j&lt;N; j++)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   if(pole[i] == pole[j]) vyskyt++;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if(vyskyt &gt; max) {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   cislo = pole[i]; /* index = i */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      max = vyskyt;</a:t>
              </a:r>
              <a:endParaRPr lang="sk-SK" altLang="sk-SK" sz="2200">
                <a:latin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}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>
            <a:extLst>
              <a:ext uri="{FF2B5EF4-FFF2-40B4-BE49-F238E27FC236}">
                <a16:creationId xmlns:a16="http://schemas.microsoft.com/office/drawing/2014/main" id="{F7ED1058-61FD-4264-8F92-FEC9023D3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Vrátenie hodnoty cez parameter funkcie</a:t>
            </a:r>
            <a:endParaRPr lang="en-US" altLang="sk-SK"/>
          </a:p>
        </p:txBody>
      </p:sp>
      <p:sp>
        <p:nvSpPr>
          <p:cNvPr id="32771" name="Rectangle 1027">
            <a:extLst>
              <a:ext uri="{FF2B5EF4-FFF2-40B4-BE49-F238E27FC236}">
                <a16:creationId xmlns:a16="http://schemas.microsoft.com/office/drawing/2014/main" id="{81D303F6-3169-4CE8-A68E-82800C81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1433513"/>
            <a:ext cx="9218612" cy="57562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32772" name="Text Box 1028">
            <a:extLst>
              <a:ext uri="{FF2B5EF4-FFF2-40B4-BE49-F238E27FC236}">
                <a16:creationId xmlns:a16="http://schemas.microsoft.com/office/drawing/2014/main" id="{483B90D5-3765-4C11-9B7B-2659ACD6F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3" y="1520825"/>
            <a:ext cx="8916987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int naj</a:t>
            </a:r>
            <a:r>
              <a:rPr lang="sk-SK" altLang="sk-SK" sz="2200">
                <a:latin typeface="Courier New" panose="02070309020205020404" pitchFamily="49" charset="0"/>
              </a:rPr>
              <a:t>vyssia</a:t>
            </a:r>
            <a:r>
              <a:rPr lang="en-US" altLang="sk-SK" sz="2200">
                <a:latin typeface="Courier New" panose="02070309020205020404" pitchFamily="49" charset="0"/>
              </a:rPr>
              <a:t>_</a:t>
            </a:r>
            <a:r>
              <a:rPr lang="sk-SK" altLang="sk-SK" sz="2200">
                <a:latin typeface="Courier New" panose="02070309020205020404" pitchFamily="49" charset="0"/>
              </a:rPr>
              <a:t>hodnota</a:t>
            </a:r>
            <a:r>
              <a:rPr lang="en-US" altLang="sk-SK" sz="2200">
                <a:latin typeface="Courier New" panose="02070309020205020404" pitchFamily="49" charset="0"/>
              </a:rPr>
              <a:t>(</a:t>
            </a:r>
            <a:r>
              <a:rPr lang="sk-SK" altLang="sk-SK" sz="2200">
                <a:latin typeface="Courier New" panose="02070309020205020404" pitchFamily="49" charset="0"/>
              </a:rPr>
              <a:t>int</a:t>
            </a:r>
            <a:r>
              <a:rPr lang="en-US" altLang="sk-SK" sz="2200">
                <a:latin typeface="Courier New" panose="02070309020205020404" pitchFamily="49" charset="0"/>
              </a:rPr>
              <a:t> *</a:t>
            </a:r>
            <a:r>
              <a:rPr lang="sk-SK" altLang="sk-SK" sz="2200">
                <a:latin typeface="Courier New" panose="02070309020205020404" pitchFamily="49" charset="0"/>
              </a:rPr>
              <a:t>pole</a:t>
            </a:r>
            <a:r>
              <a:rPr lang="en-US" altLang="sk-SK" sz="2200">
                <a:latin typeface="Courier New" panose="02070309020205020404" pitchFamily="49" charset="0"/>
              </a:rPr>
              <a:t>, int n, int *pocet)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int i, </a:t>
            </a:r>
            <a:r>
              <a:rPr lang="sk-SK" altLang="sk-SK" sz="2200">
                <a:latin typeface="Courier New" panose="02070309020205020404" pitchFamily="49" charset="0"/>
              </a:rPr>
              <a:t>hodnota = pole</a:t>
            </a:r>
            <a:r>
              <a:rPr lang="en-US" altLang="sk-SK" sz="2200">
                <a:latin typeface="Courier New" panose="02070309020205020404" pitchFamily="49" charset="0"/>
              </a:rPr>
              <a:t>[0];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for (i=1; i&lt;n; i++)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if (pole[i] &gt; hodnota)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   hodnota = pole[i];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*pocet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for (i=0; i&lt;n; i++)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if (pole[i] == hodnota)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   (*pocet)++;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return (hodnota);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32773" name="Group 1">
            <a:extLst>
              <a:ext uri="{FF2B5EF4-FFF2-40B4-BE49-F238E27FC236}">
                <a16:creationId xmlns:a16="http://schemas.microsoft.com/office/drawing/2014/main" id="{8E9E79FB-D8D3-4F2C-B2DA-E76A8A112137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6122988"/>
            <a:ext cx="9529763" cy="1338262"/>
            <a:chOff x="2162174" y="5286375"/>
            <a:chExt cx="8585344" cy="1209675"/>
          </a:xfrm>
        </p:grpSpPr>
        <p:sp>
          <p:nvSpPr>
            <p:cNvPr id="32774" name="Rectangle 1029">
              <a:extLst>
                <a:ext uri="{FF2B5EF4-FFF2-40B4-BE49-F238E27FC236}">
                  <a16:creationId xmlns:a16="http://schemas.microsoft.com/office/drawing/2014/main" id="{EA932632-D09B-41A2-8855-129A3B668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2174" y="5286375"/>
              <a:ext cx="7738417" cy="120967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sk-SK" altLang="sk-SK" sz="2000"/>
            </a:p>
          </p:txBody>
        </p:sp>
        <p:sp>
          <p:nvSpPr>
            <p:cNvPr id="32775" name="Text Box 1030">
              <a:extLst>
                <a:ext uri="{FF2B5EF4-FFF2-40B4-BE49-F238E27FC236}">
                  <a16:creationId xmlns:a16="http://schemas.microsoft.com/office/drawing/2014/main" id="{7AFF96A4-DBFB-4AAC-A73D-03D77ECDD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175" y="5361998"/>
              <a:ext cx="8585343" cy="1001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int a[100], najvyssi, pocet_opakovani;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...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sk-SK" sz="2200">
                  <a:latin typeface="Courier New" panose="02070309020205020404" pitchFamily="49" charset="0"/>
                </a:rPr>
                <a:t>najvyssi = najvyssia_hodnota(a, 100, &amp;pocet_opakovani);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>
            <a:extLst>
              <a:ext uri="{FF2B5EF4-FFF2-40B4-BE49-F238E27FC236}">
                <a16:creationId xmlns:a16="http://schemas.microsoft.com/office/drawing/2014/main" id="{9E86B4CB-841E-4F4C-BCCE-F51AC57D5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Typová konverzia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0855D08B-C331-4292-985E-8C0EF95FC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1173163"/>
            <a:ext cx="10112375" cy="64166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33796" name="Text Box 1028">
            <a:extLst>
              <a:ext uri="{FF2B5EF4-FFF2-40B4-BE49-F238E27FC236}">
                <a16:creationId xmlns:a16="http://schemas.microsoft.com/office/drawing/2014/main" id="{8A284246-842D-4F50-98CD-C5EDB5CF6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262063"/>
            <a:ext cx="10455275" cy="623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#include &lt;stdio.h&gt;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int main(void)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k-SK" altLang="sk-SK" sz="2200">
                <a:latin typeface="Courier New" panose="02070309020205020404" pitchFamily="49" charset="0"/>
              </a:rPr>
              <a:t>   </a:t>
            </a:r>
            <a:r>
              <a:rPr lang="en-US" altLang="sk-SK" sz="2200">
                <a:latin typeface="Courier New" panose="02070309020205020404" pitchFamily="49" charset="0"/>
              </a:rPr>
              <a:t>int i</a:t>
            </a:r>
            <a:r>
              <a:rPr lang="sk-SK" altLang="sk-SK" sz="2200">
                <a:latin typeface="Courier New" panose="02070309020205020404" pitchFamily="49" charset="0"/>
              </a:rPr>
              <a:t> = 5</a:t>
            </a:r>
            <a:r>
              <a:rPr lang="en-US" altLang="sk-SK" sz="2200">
                <a:latin typeface="Courier New" panose="02070309020205020404" pitchFamily="49" charset="0"/>
              </a:rPr>
              <a:t>, j</a:t>
            </a:r>
            <a:r>
              <a:rPr lang="sk-SK" altLang="sk-SK" sz="2200">
                <a:latin typeface="Courier New" panose="02070309020205020404" pitchFamily="49" charset="0"/>
              </a:rPr>
              <a:t> = 2</a:t>
            </a:r>
            <a:r>
              <a:rPr lang="en-US" altLang="sk-SK" sz="220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float f;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9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k-SK" altLang="sk-SK" sz="2200">
                <a:latin typeface="Courier New" panose="02070309020205020404" pitchFamily="49" charset="0"/>
              </a:rPr>
              <a:t>   </a:t>
            </a:r>
            <a:r>
              <a:rPr lang="en-US" altLang="sk-SK" sz="2200">
                <a:latin typeface="Courier New" panose="02070309020205020404" pitchFamily="49" charset="0"/>
              </a:rPr>
              <a:t>f = (float) i /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printf("Typova konverz</a:t>
            </a:r>
            <a:r>
              <a:rPr lang="sk-SK" altLang="sk-SK" sz="2200">
                <a:latin typeface="Courier New" panose="02070309020205020404" pitchFamily="49" charset="0"/>
              </a:rPr>
              <a:t>ia:</a:t>
            </a:r>
            <a:r>
              <a:rPr lang="en-US" altLang="sk-SK" sz="2200">
                <a:latin typeface="Courier New" panose="02070309020205020404" pitchFamily="49" charset="0"/>
              </a:rPr>
              <a:t> 1. moznost: %lf\n", f);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9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f = i / (float)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printf("Typova konverz</a:t>
            </a:r>
            <a:r>
              <a:rPr lang="sk-SK" altLang="sk-SK" sz="2200">
                <a:latin typeface="Courier New" panose="02070309020205020404" pitchFamily="49" charset="0"/>
              </a:rPr>
              <a:t>ia:</a:t>
            </a:r>
            <a:r>
              <a:rPr lang="en-US" altLang="sk-SK" sz="2200">
                <a:latin typeface="Courier New" panose="02070309020205020404" pitchFamily="49" charset="0"/>
              </a:rPr>
              <a:t> 2. moznost: %lf\n", f);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9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f = (float) i / (float)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printf("Typova konverz</a:t>
            </a:r>
            <a:r>
              <a:rPr lang="sk-SK" altLang="sk-SK" sz="2200">
                <a:latin typeface="Courier New" panose="02070309020205020404" pitchFamily="49" charset="0"/>
              </a:rPr>
              <a:t>ia:</a:t>
            </a:r>
            <a:r>
              <a:rPr lang="en-US" altLang="sk-SK" sz="2200">
                <a:latin typeface="Courier New" panose="02070309020205020404" pitchFamily="49" charset="0"/>
              </a:rPr>
              <a:t> 3. moznost: %lf\n", f);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9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k-SK" altLang="sk-SK" sz="2200">
                <a:latin typeface="Courier New" panose="02070309020205020404" pitchFamily="49" charset="0"/>
              </a:rPr>
              <a:t>   </a:t>
            </a:r>
            <a:r>
              <a:rPr lang="en-US" altLang="sk-SK" sz="2200">
                <a:latin typeface="Courier New" panose="02070309020205020404" pitchFamily="49" charset="0"/>
              </a:rPr>
              <a:t>f = (float) (i / j);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printf("Explicitn</a:t>
            </a:r>
            <a:r>
              <a:rPr lang="sk-SK" altLang="sk-SK" sz="2200">
                <a:latin typeface="Courier New" panose="02070309020205020404" pitchFamily="49" charset="0"/>
              </a:rPr>
              <a:t>a</a:t>
            </a:r>
            <a:r>
              <a:rPr lang="en-US" altLang="sk-SK" sz="2200">
                <a:latin typeface="Courier New" panose="02070309020205020404" pitchFamily="49" charset="0"/>
              </a:rPr>
              <a:t> typ</a:t>
            </a:r>
            <a:r>
              <a:rPr lang="sk-SK" altLang="sk-SK" sz="2200">
                <a:latin typeface="Courier New" panose="02070309020205020404" pitchFamily="49" charset="0"/>
              </a:rPr>
              <a:t>. </a:t>
            </a:r>
            <a:r>
              <a:rPr lang="en-US" altLang="sk-SK" sz="2200">
                <a:latin typeface="Courier New" panose="02070309020205020404" pitchFamily="49" charset="0"/>
              </a:rPr>
              <a:t>konverz</a:t>
            </a:r>
            <a:r>
              <a:rPr lang="sk-SK" altLang="sk-SK" sz="2200">
                <a:latin typeface="Courier New" panose="02070309020205020404" pitchFamily="49" charset="0"/>
              </a:rPr>
              <a:t>ia</a:t>
            </a:r>
            <a:r>
              <a:rPr lang="en-US" altLang="sk-SK" sz="2200">
                <a:latin typeface="Courier New" panose="02070309020205020404" pitchFamily="49" charset="0"/>
              </a:rPr>
              <a:t> - chybn</a:t>
            </a:r>
            <a:r>
              <a:rPr lang="sk-SK" altLang="sk-SK" sz="2200">
                <a:latin typeface="Courier New" panose="02070309020205020404" pitchFamily="49" charset="0"/>
              </a:rPr>
              <a:t>e</a:t>
            </a:r>
            <a:r>
              <a:rPr lang="en-US" altLang="sk-SK" sz="2200">
                <a:latin typeface="Courier New" panose="02070309020205020404" pitchFamily="49" charset="0"/>
              </a:rPr>
              <a:t>: %lf\n", f);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k-SK" sz="9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f = i / j;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</a:t>
            </a:r>
            <a:r>
              <a:rPr lang="sk-SK" altLang="sk-SK" sz="2200"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printf("Implicitn</a:t>
            </a:r>
            <a:r>
              <a:rPr lang="sk-SK" altLang="sk-SK" sz="2200">
                <a:latin typeface="Courier New" panose="02070309020205020404" pitchFamily="49" charset="0"/>
              </a:rPr>
              <a:t>a</a:t>
            </a:r>
            <a:r>
              <a:rPr lang="en-US" altLang="sk-SK" sz="2200">
                <a:latin typeface="Courier New" panose="02070309020205020404" pitchFamily="49" charset="0"/>
              </a:rPr>
              <a:t> typ</a:t>
            </a:r>
            <a:r>
              <a:rPr lang="sk-SK" altLang="sk-SK" sz="2200">
                <a:latin typeface="Courier New" panose="02070309020205020404" pitchFamily="49" charset="0"/>
              </a:rPr>
              <a:t>.</a:t>
            </a:r>
            <a:r>
              <a:rPr lang="en-US" altLang="sk-SK" sz="2200">
                <a:latin typeface="Courier New" panose="02070309020205020404" pitchFamily="49" charset="0"/>
              </a:rPr>
              <a:t> konverz</a:t>
            </a:r>
            <a:r>
              <a:rPr lang="sk-SK" altLang="sk-SK" sz="2200">
                <a:latin typeface="Courier New" panose="02070309020205020404" pitchFamily="49" charset="0"/>
              </a:rPr>
              <a:t>ia</a:t>
            </a:r>
            <a:r>
              <a:rPr lang="en-US" altLang="sk-SK" sz="2200">
                <a:latin typeface="Courier New" panose="02070309020205020404" pitchFamily="49" charset="0"/>
              </a:rPr>
              <a:t> - chybn</a:t>
            </a:r>
            <a:r>
              <a:rPr lang="sk-SK" altLang="sk-SK" sz="2200">
                <a:latin typeface="Courier New" panose="02070309020205020404" pitchFamily="49" charset="0"/>
              </a:rPr>
              <a:t>e</a:t>
            </a:r>
            <a:r>
              <a:rPr lang="en-US" altLang="sk-SK" sz="2200">
                <a:latin typeface="Courier New" panose="02070309020205020404" pitchFamily="49" charset="0"/>
              </a:rPr>
              <a:t>: %lf\n", f);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k-SK" altLang="sk-SK" sz="2200">
                <a:latin typeface="Courier New" panose="02070309020205020404" pitchFamily="49" charset="0"/>
              </a:rPr>
              <a:t>   </a:t>
            </a:r>
            <a:r>
              <a:rPr lang="en-US" altLang="sk-SK" sz="2200">
                <a:latin typeface="Courier New" panose="02070309020205020404" pitchFamily="49" charset="0"/>
              </a:rPr>
              <a:t>return 0; </a:t>
            </a:r>
            <a:endParaRPr lang="sk-SK" altLang="sk-SK" sz="220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3797" name="AutoShape 3">
            <a:extLst>
              <a:ext uri="{FF2B5EF4-FFF2-40B4-BE49-F238E27FC236}">
                <a16:creationId xmlns:a16="http://schemas.microsoft.com/office/drawing/2014/main" id="{4E8C2289-E9CF-4D36-AE97-E2112DBBB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209550"/>
            <a:ext cx="4957763" cy="1306513"/>
          </a:xfrm>
          <a:prstGeom prst="cloudCallout">
            <a:avLst>
              <a:gd name="adj1" fmla="val -58843"/>
              <a:gd name="adj2" fmla="val 226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70" tIns="50685" rIns="101370" bIns="5068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k-SK" altLang="sk-SK" sz="2000"/>
              <a:t>Reálne delenie dvoch celých čísel.</a:t>
            </a:r>
            <a:endParaRPr lang="en-US" altLang="sk-SK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2C3674B-9940-4A4C-9C5A-CC8A3DA9F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Testovanie spr</a:t>
            </a:r>
            <a:r>
              <a:rPr lang="sk-SK" altLang="sk-SK"/>
              <a:t>ávnosti otvorenia súboru</a:t>
            </a:r>
            <a:endParaRPr lang="en-US" altLang="sk-SK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D4F793B-407D-4F76-8856-616BCEB91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828800"/>
            <a:ext cx="9721850" cy="1676400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akcie: otvorenie a zatvorenie súboru</a:t>
            </a:r>
          </a:p>
          <a:p>
            <a:pPr lvl="1">
              <a:defRPr/>
            </a:pPr>
            <a:r>
              <a:rPr lang="sk-SK" altLang="sk-SK" sz="2435"/>
              <a:t>nemusia byť úspešné</a:t>
            </a:r>
          </a:p>
          <a:p>
            <a:pPr lvl="1">
              <a:defRPr/>
            </a:pPr>
            <a:r>
              <a:rPr lang="sk-SK" altLang="sk-SK" sz="2435"/>
              <a:t>preto testovať úspešnosť a podľa toho pokračovať</a:t>
            </a:r>
          </a:p>
          <a:p>
            <a:pPr lvl="1">
              <a:defRPr/>
            </a:pPr>
            <a:endParaRPr lang="sk-SK" altLang="sk-SK" sz="1771"/>
          </a:p>
          <a:p>
            <a:pPr>
              <a:defRPr/>
            </a:pPr>
            <a:r>
              <a:rPr lang="sk-SK" altLang="sk-SK" sz="2767"/>
              <a:t> </a:t>
            </a:r>
            <a:endParaRPr lang="en-US" altLang="sk-SK" sz="2767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840AFB71-5DEA-4E56-95D8-594285BA0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3568700"/>
            <a:ext cx="1593850" cy="4556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B2910EC0-9E9C-4CD5-9942-469F56DAC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3579813"/>
            <a:ext cx="1620837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fopen()</a:t>
            </a:r>
            <a:endParaRPr lang="en-US" altLang="sk-SK" sz="2656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4038" name="AutoShape 6">
            <a:extLst>
              <a:ext uri="{FF2B5EF4-FFF2-40B4-BE49-F238E27FC236}">
                <a16:creationId xmlns:a16="http://schemas.microsoft.com/office/drawing/2014/main" id="{7A4566BC-9F06-44C4-AD4B-6A4AFCA74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3579813"/>
            <a:ext cx="6954838" cy="1754187"/>
          </a:xfrm>
          <a:prstGeom prst="wedgeRoundRectCallout">
            <a:avLst>
              <a:gd name="adj1" fmla="val -58333"/>
              <a:gd name="adj2" fmla="val -4266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- ak sa podarí otvoriť súbor - vracia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  ukazovateľ na súbor,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- inak - vracia konštantu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NULL</a:t>
            </a:r>
            <a:r>
              <a:rPr lang="en-US" altLang="sk-SK" sz="2656">
                <a:solidFill>
                  <a:srgbClr val="000000"/>
                </a:solidFill>
              </a:rPr>
              <a:t> </a:t>
            </a:r>
            <a:r>
              <a:rPr lang="sk-SK" altLang="sk-SK" sz="2656">
                <a:solidFill>
                  <a:srgbClr val="000000"/>
                </a:solidFill>
              </a:rPr>
              <a:t>(definovaná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  v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stdio.h</a:t>
            </a:r>
            <a:r>
              <a:rPr lang="sk-SK" altLang="sk-SK" sz="2656">
                <a:solidFill>
                  <a:srgbClr val="000000"/>
                </a:solidFill>
              </a:rPr>
              <a:t>, má hodnotu 0)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44039" name="Text Box 7">
            <a:extLst>
              <a:ext uri="{FF2B5EF4-FFF2-40B4-BE49-F238E27FC236}">
                <a16:creationId xmlns:a16="http://schemas.microsoft.com/office/drawing/2014/main" id="{D14D450A-7274-4969-AF14-88C127175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5257800"/>
            <a:ext cx="1982787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testovanie: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B6443035-7286-47C7-B565-29615D853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5930900"/>
            <a:ext cx="9237663" cy="16097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8D67B2CE-C20E-4B09-8CCC-42B6C530C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5888038"/>
            <a:ext cx="9213850" cy="17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if(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(fr =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fopen(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"test.txt", "r"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 == NULL)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  printf("Subor sa nepodarilo otvorit.\n");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  return 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0AB1E10-3B1B-464E-8B46-108DBB058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Testovanie spr</a:t>
            </a:r>
            <a:r>
              <a:rPr lang="sk-SK" altLang="sk-SK"/>
              <a:t>ávnosti zatvorenia súboru</a:t>
            </a:r>
            <a:endParaRPr lang="en-US" altLang="sk-SK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17D47061-B106-44D9-BDE0-33919E90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2425700"/>
            <a:ext cx="159385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5060" name="Text Box 5">
            <a:extLst>
              <a:ext uri="{FF2B5EF4-FFF2-40B4-BE49-F238E27FC236}">
                <a16:creationId xmlns:a16="http://schemas.microsoft.com/office/drawing/2014/main" id="{F77BA159-DFB1-4572-8B66-997ED08B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438400"/>
            <a:ext cx="18256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fclose()</a:t>
            </a:r>
            <a:endParaRPr lang="en-US" altLang="sk-SK" sz="2656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5061" name="AutoShape 6">
            <a:extLst>
              <a:ext uri="{FF2B5EF4-FFF2-40B4-BE49-F238E27FC236}">
                <a16:creationId xmlns:a16="http://schemas.microsoft.com/office/drawing/2014/main" id="{26BDCEE0-A27F-439D-87BC-BE8573D2E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1950" y="1968500"/>
            <a:ext cx="6381750" cy="1827213"/>
          </a:xfrm>
          <a:prstGeom prst="wedgeRoundRectCallout">
            <a:avLst>
              <a:gd name="adj1" fmla="val -58167"/>
              <a:gd name="adj2" fmla="val -1338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-"/>
              <a:defRPr/>
            </a:pPr>
            <a:r>
              <a:rPr lang="en-US" altLang="sk-SK" sz="2656">
                <a:solidFill>
                  <a:srgbClr val="000000"/>
                </a:solidFill>
              </a:rPr>
              <a:t>Ak sa podar</a:t>
            </a:r>
            <a:r>
              <a:rPr lang="sk-SK" altLang="sk-SK" sz="2656">
                <a:solidFill>
                  <a:srgbClr val="000000"/>
                </a:solidFill>
              </a:rPr>
              <a:t>í</a:t>
            </a:r>
            <a:r>
              <a:rPr lang="en-US" altLang="sk-SK" sz="2656">
                <a:solidFill>
                  <a:srgbClr val="000000"/>
                </a:solidFill>
              </a:rPr>
              <a:t> otvori</a:t>
            </a:r>
            <a:r>
              <a:rPr lang="sk-SK" altLang="sk-SK" sz="2656">
                <a:solidFill>
                  <a:srgbClr val="000000"/>
                </a:solidFill>
              </a:rPr>
              <a:t>ť súbor – vracia hodnotu 0</a:t>
            </a:r>
          </a:p>
          <a:p>
            <a:pPr>
              <a:spcBef>
                <a:spcPct val="0"/>
              </a:spcBef>
              <a:buFontTx/>
              <a:buChar char="-"/>
              <a:defRPr/>
            </a:pPr>
            <a:r>
              <a:rPr lang="sk-SK" altLang="sk-SK" sz="2656">
                <a:solidFill>
                  <a:srgbClr val="000000"/>
                </a:solidFill>
              </a:rPr>
              <a:t>Ak sa nepodarí otvoriť súbor - vracia konštantu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EOF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45062" name="Text Box 7">
            <a:extLst>
              <a:ext uri="{FF2B5EF4-FFF2-40B4-BE49-F238E27FC236}">
                <a16:creationId xmlns:a16="http://schemas.microsoft.com/office/drawing/2014/main" id="{5FF0E4CA-5CA2-4975-9F3D-768EDB648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88" y="4114800"/>
            <a:ext cx="1982787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testovanie: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45063" name="Rectangle 8">
            <a:extLst>
              <a:ext uri="{FF2B5EF4-FFF2-40B4-BE49-F238E27FC236}">
                <a16:creationId xmlns:a16="http://schemas.microsoft.com/office/drawing/2014/main" id="{22889243-EEA3-4199-AC80-7DD72F8D4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87900"/>
            <a:ext cx="9442450" cy="10795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5064" name="Text Box 9">
            <a:extLst>
              <a:ext uri="{FF2B5EF4-FFF2-40B4-BE49-F238E27FC236}">
                <a16:creationId xmlns:a16="http://schemas.microsoft.com/office/drawing/2014/main" id="{2B9C67BA-474C-4CD2-8121-0D280EAA1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76800"/>
            <a:ext cx="9417050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if(fclose(fr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 ==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EOF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  printf("Subor sa nepodarilo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za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tvorit.\n");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E560E1E-47BE-482F-9E80-4CC58F06D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Testovanie konca s</a:t>
            </a:r>
            <a:r>
              <a:rPr lang="sk-SK" altLang="sk-SK"/>
              <a:t>úboru: </a:t>
            </a:r>
            <a:r>
              <a:rPr lang="sk-SK" altLang="sk-SK">
                <a:latin typeface="Courier New" panose="02070309020205020404" pitchFamily="49" charset="0"/>
              </a:rPr>
              <a:t>EOF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13B382C-F21D-4A02-A423-22F3C4AAB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sk-SK" altLang="sk-SK" sz="2767"/>
              <a:t>symbolická konštanta </a:t>
            </a:r>
            <a:r>
              <a:rPr lang="sk-SK" altLang="sk-SK" sz="2767" b="1">
                <a:latin typeface="Courier New" panose="02070309020205020404" pitchFamily="49" charset="0"/>
              </a:rPr>
              <a:t>EOF</a:t>
            </a:r>
          </a:p>
          <a:p>
            <a:pPr lvl="1">
              <a:defRPr/>
            </a:pPr>
            <a:r>
              <a:rPr lang="sk-SK" altLang="sk-SK" sz="2435"/>
              <a:t>väčšinou definovaná v </a:t>
            </a:r>
            <a:r>
              <a:rPr lang="sk-SK" altLang="sk-SK" sz="2435" b="1">
                <a:latin typeface="Courier New" panose="02070309020205020404" pitchFamily="49" charset="0"/>
              </a:rPr>
              <a:t>stdio.h</a:t>
            </a:r>
            <a:r>
              <a:rPr lang="sk-SK" altLang="sk-SK" sz="2435"/>
              <a:t> </a:t>
            </a:r>
          </a:p>
          <a:p>
            <a:pPr lvl="1">
              <a:defRPr/>
            </a:pPr>
            <a:r>
              <a:rPr lang="sk-SK" altLang="sk-SK" sz="2435"/>
              <a:t>väčšinou má hodnotu -1</a:t>
            </a:r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en-US" altLang="sk-SK" sz="2767"/>
          </a:p>
          <a:p>
            <a:pPr>
              <a:defRPr/>
            </a:pPr>
            <a:endParaRPr lang="en-US" altLang="sk-SK" sz="2767"/>
          </a:p>
          <a:p>
            <a:pPr lvl="1">
              <a:defRPr/>
            </a:pPr>
            <a:endParaRPr lang="sk-SK" altLang="sk-SK" sz="2435"/>
          </a:p>
          <a:p>
            <a:pPr lvl="1">
              <a:defRPr/>
            </a:pPr>
            <a:r>
              <a:rPr lang="en-US" altLang="sk-SK" sz="2435"/>
              <a:t>premenn</a:t>
            </a:r>
            <a:r>
              <a:rPr lang="sk-SK" altLang="sk-SK" sz="2435"/>
              <a:t>á </a:t>
            </a:r>
            <a:r>
              <a:rPr lang="sk-SK" altLang="sk-SK" sz="2435" b="1">
                <a:latin typeface="Courier New" panose="02070309020205020404" pitchFamily="49" charset="0"/>
              </a:rPr>
              <a:t>c</a:t>
            </a:r>
            <a:r>
              <a:rPr lang="sk-SK" altLang="sk-SK" sz="2435"/>
              <a:t> nesmie byť definovaná ako </a:t>
            </a:r>
            <a:r>
              <a:rPr lang="sk-SK" altLang="sk-SK" sz="2435" b="1">
                <a:latin typeface="Courier New" panose="02070309020205020404" pitchFamily="49" charset="0"/>
              </a:rPr>
              <a:t>char</a:t>
            </a:r>
            <a:r>
              <a:rPr lang="sk-SK" altLang="sk-SK" sz="2435"/>
              <a:t>, pretože </a:t>
            </a:r>
            <a:r>
              <a:rPr lang="sk-SK" altLang="sk-SK" sz="2435" b="1">
                <a:latin typeface="Courier New" panose="02070309020205020404" pitchFamily="49" charset="0"/>
              </a:rPr>
              <a:t>EOF</a:t>
            </a:r>
            <a:r>
              <a:rPr lang="sk-SK" altLang="sk-SK" sz="2435"/>
              <a:t> je reprezentovaná ako </a:t>
            </a:r>
            <a:r>
              <a:rPr lang="sk-SK" altLang="sk-SK" sz="2435" b="1">
                <a:latin typeface="Courier New" panose="02070309020205020404" pitchFamily="49" charset="0"/>
              </a:rPr>
              <a:t>int</a:t>
            </a:r>
            <a:r>
              <a:rPr lang="sk-SK" altLang="sk-SK" sz="2435"/>
              <a:t> s hodnotou -1 (-1 by bola na char konvertovaná ako iný znak)</a:t>
            </a:r>
          </a:p>
          <a:p>
            <a:pPr lvl="1">
              <a:defRPr/>
            </a:pPr>
            <a:endParaRPr lang="en-US" altLang="sk-SK" sz="2435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675F84D7-27D1-4F6E-B42E-2DA52BBE1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3810000"/>
            <a:ext cx="5767388" cy="838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E5EC60AE-9372-4A34-B303-788EEBDC5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3" y="3810000"/>
            <a:ext cx="5724525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if 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((c = getc(fr)) != EOF)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   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43F14D8-5FCA-4800-ADED-331F5DF2B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Kontrola konca s</a:t>
            </a:r>
            <a:r>
              <a:rPr lang="sk-SK" altLang="sk-SK"/>
              <a:t>úbora</a:t>
            </a:r>
            <a:r>
              <a:rPr lang="en-US" altLang="sk-SK"/>
              <a:t> – aj vo vnoren</a:t>
            </a:r>
            <a:r>
              <a:rPr lang="sk-SK" altLang="sk-SK"/>
              <a:t>ých cykloch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644FE86-2113-47CB-A81C-B7FDA1334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3749675"/>
            <a:ext cx="8742362" cy="29146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k-SK" altLang="sk-SK" sz="2000"/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6A6CC3F7-02E2-4B96-8D6A-70C72A627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36988"/>
            <a:ext cx="8674100" cy="282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370" tIns="50685" rIns="101370" bIns="50685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k-SK" altLang="sk-SK" sz="2200">
                <a:latin typeface="Courier New" panose="02070309020205020404" pitchFamily="49" charset="0"/>
              </a:rPr>
              <a:t>…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w</a:t>
            </a:r>
            <a:r>
              <a:rPr lang="sk-SK" altLang="sk-SK" sz="2200">
                <a:latin typeface="Courier New" panose="02070309020205020404" pitchFamily="49" charset="0"/>
              </a:rPr>
              <a:t>hile</a:t>
            </a:r>
            <a:r>
              <a:rPr lang="en-US" altLang="sk-SK" sz="2200">
                <a:latin typeface="Courier New" panose="02070309020205020404" pitchFamily="49" charset="0"/>
              </a:rPr>
              <a:t>((c = getc(f)) != EOF)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if(isalpha(c))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while ((c = getc(f))</a:t>
            </a:r>
            <a:r>
              <a:rPr lang="en-US" altLang="sk-SK" sz="220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!= ‘ ‘)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      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   …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640C1F1A-9C8F-4E01-A646-DC7DF29EA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759075"/>
            <a:ext cx="9064625" cy="876300"/>
          </a:xfrm>
          <a:prstGeom prst="wedgeRoundRectCallout">
            <a:avLst>
              <a:gd name="adj1" fmla="val 6690"/>
              <a:gd name="adj2" fmla="val 18012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101370" tIns="50685" rIns="101370" bIns="50685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000"/>
              <a:t>Aj tu je potrebn</a:t>
            </a:r>
            <a:r>
              <a:rPr lang="sk-SK" altLang="sk-SK" sz="2000"/>
              <a:t>é kontrolovať, či skončil súbor. Ak </a:t>
            </a:r>
            <a:r>
              <a:rPr lang="sk-SK" altLang="sk-SK" sz="2000">
                <a:latin typeface="Courier New" panose="02070309020205020404" pitchFamily="49" charset="0"/>
                <a:cs typeface="Courier New" panose="02070309020205020404" pitchFamily="49" charset="0"/>
              </a:rPr>
              <a:t>c == EOF</a:t>
            </a:r>
            <a:r>
              <a:rPr lang="sk-SK" altLang="sk-SK" sz="2000"/>
              <a:t>, tak sa budete cykliť donekonečna...</a:t>
            </a:r>
            <a:endParaRPr lang="en-US" altLang="sk-SK" sz="200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85C1A17-25B0-455D-BA90-548B91AD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859338"/>
            <a:ext cx="6016625" cy="398462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370" tIns="50685" rIns="101370" bIns="50685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sk-SK" sz="2200">
                <a:latin typeface="Courier New" panose="02070309020205020404" pitchFamily="49" charset="0"/>
              </a:rPr>
              <a:t>((c = getc(f)) </a:t>
            </a:r>
            <a:r>
              <a:rPr lang="en-US" altLang="sk-SK" sz="2200">
                <a:solidFill>
                  <a:srgbClr val="FF0000"/>
                </a:solidFill>
                <a:latin typeface="Courier New" panose="02070309020205020404" pitchFamily="49" charset="0"/>
              </a:rPr>
              <a:t>!= EOF &amp;&amp; </a:t>
            </a:r>
            <a:r>
              <a:rPr lang="en-US" altLang="sk-SK" sz="2200">
                <a:latin typeface="Courier New" panose="02070309020205020404" pitchFamily="49" charset="0"/>
              </a:rPr>
              <a:t>c</a:t>
            </a:r>
            <a:r>
              <a:rPr lang="en-US" altLang="sk-SK" sz="220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k-SK" sz="2200">
                <a:latin typeface="Courier New" panose="02070309020205020404" pitchFamily="49" charset="0"/>
              </a:rPr>
              <a:t>!= ‘ ‘) </a:t>
            </a:r>
            <a:endParaRPr lang="en-US" altLang="sk-SK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36B0FB4-37FE-4452-9A70-C63DDBDA6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Základné práce s otvoreným súborom</a:t>
            </a:r>
            <a:endParaRPr lang="en-US" altLang="sk-SK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FC8D813-E52A-48F1-8B8E-E874467D0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585913"/>
            <a:ext cx="9721850" cy="1143000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funkcie štandardnej knižnice </a:t>
            </a:r>
            <a:r>
              <a:rPr lang="sk-SK" altLang="sk-SK" sz="2767" b="1">
                <a:latin typeface="Courier New" panose="02070309020205020404" pitchFamily="49" charset="0"/>
              </a:rPr>
              <a:t>stdio.h</a:t>
            </a:r>
            <a:r>
              <a:rPr lang="sk-SK" altLang="sk-SK" sz="2767"/>
              <a:t>, premenná </a:t>
            </a:r>
            <a:r>
              <a:rPr lang="sk-SK" altLang="sk-SK" sz="2767" b="1">
                <a:latin typeface="Courier New" panose="02070309020205020404" pitchFamily="49" charset="0"/>
              </a:rPr>
              <a:t>f</a:t>
            </a:r>
            <a:r>
              <a:rPr lang="sk-SK" altLang="sk-SK" sz="2767"/>
              <a:t> je typu </a:t>
            </a:r>
            <a:r>
              <a:rPr lang="sk-SK" altLang="sk-SK" sz="2767" b="1">
                <a:latin typeface="Courier New" panose="02070309020205020404" pitchFamily="49" charset="0"/>
              </a:rPr>
              <a:t>FILE *</a:t>
            </a:r>
            <a:r>
              <a:rPr lang="sk-SK" altLang="sk-SK" sz="2767"/>
              <a:t>:</a:t>
            </a:r>
          </a:p>
          <a:p>
            <a:pPr>
              <a:defRPr/>
            </a:pPr>
            <a:endParaRPr lang="en-US" altLang="sk-SK" sz="2767"/>
          </a:p>
        </p:txBody>
      </p:sp>
      <p:grpSp>
        <p:nvGrpSpPr>
          <p:cNvPr id="50192" name="Group 16">
            <a:extLst>
              <a:ext uri="{FF2B5EF4-FFF2-40B4-BE49-F238E27FC236}">
                <a16:creationId xmlns:a16="http://schemas.microsoft.com/office/drawing/2014/main" id="{7FCCB1E6-8EBF-4840-B2EA-ABD0EB702992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3184525"/>
            <a:ext cx="6076950" cy="503238"/>
            <a:chOff x="432" y="1920"/>
            <a:chExt cx="3744" cy="316"/>
          </a:xfrm>
        </p:grpSpPr>
        <p:sp>
          <p:nvSpPr>
            <p:cNvPr id="48150" name="Rectangle 4">
              <a:extLst>
                <a:ext uri="{FF2B5EF4-FFF2-40B4-BE49-F238E27FC236}">
                  <a16:creationId xmlns:a16="http://schemas.microsoft.com/office/drawing/2014/main" id="{41A41896-B406-442A-95D5-C072AED1D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920"/>
              <a:ext cx="374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48151" name="Text Box 5">
              <a:extLst>
                <a:ext uri="{FF2B5EF4-FFF2-40B4-BE49-F238E27FC236}">
                  <a16:creationId xmlns:a16="http://schemas.microsoft.com/office/drawing/2014/main" id="{4394282D-CF73-4C81-81BC-0F4252031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920"/>
              <a:ext cx="2389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int getc(FILE *f)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  <p:sp>
        <p:nvSpPr>
          <p:cNvPr id="50182" name="AutoShape 6">
            <a:extLst>
              <a:ext uri="{FF2B5EF4-FFF2-40B4-BE49-F238E27FC236}">
                <a16:creationId xmlns:a16="http://schemas.microsoft.com/office/drawing/2014/main" id="{BC9C60D3-58B7-4230-9B9B-0850625CE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0" y="2805113"/>
            <a:ext cx="2811463" cy="838200"/>
          </a:xfrm>
          <a:prstGeom prst="wedgeRoundRectCallout">
            <a:avLst>
              <a:gd name="adj1" fmla="val -80384"/>
              <a:gd name="adj2" fmla="val -227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čítanie znaku zo súboru</a:t>
            </a:r>
            <a:endParaRPr lang="en-US" altLang="sk-SK" sz="2656">
              <a:solidFill>
                <a:srgbClr val="000000"/>
              </a:solidFill>
            </a:endParaRPr>
          </a:p>
        </p:txBody>
      </p:sp>
      <p:grpSp>
        <p:nvGrpSpPr>
          <p:cNvPr id="50193" name="Group 17">
            <a:extLst>
              <a:ext uri="{FF2B5EF4-FFF2-40B4-BE49-F238E27FC236}">
                <a16:creationId xmlns:a16="http://schemas.microsoft.com/office/drawing/2014/main" id="{F0CE0BDF-8A39-4724-8F7E-54FDD75D3878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4635500"/>
            <a:ext cx="6076950" cy="500063"/>
            <a:chOff x="432" y="2640"/>
            <a:chExt cx="3744" cy="317"/>
          </a:xfrm>
        </p:grpSpPr>
        <p:sp>
          <p:nvSpPr>
            <p:cNvPr id="48148" name="Rectangle 7">
              <a:extLst>
                <a:ext uri="{FF2B5EF4-FFF2-40B4-BE49-F238E27FC236}">
                  <a16:creationId xmlns:a16="http://schemas.microsoft.com/office/drawing/2014/main" id="{EBD758A0-FDAD-4326-945B-252BEEA55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40"/>
              <a:ext cx="374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48149" name="Text Box 8">
              <a:extLst>
                <a:ext uri="{FF2B5EF4-FFF2-40B4-BE49-F238E27FC236}">
                  <a16:creationId xmlns:a16="http://schemas.microsoft.com/office/drawing/2014/main" id="{AF4570E4-4BC3-4161-B751-C1E8AD3E2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640"/>
              <a:ext cx="3276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int putc(int c, FILE *f)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  <p:sp>
        <p:nvSpPr>
          <p:cNvPr id="48135" name="Rectangle 9">
            <a:extLst>
              <a:ext uri="{FF2B5EF4-FFF2-40B4-BE49-F238E27FC236}">
                <a16:creationId xmlns:a16="http://schemas.microsoft.com/office/drawing/2014/main" id="{AC8A2A71-FD08-4897-AA57-AD41B0CC9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621338"/>
            <a:ext cx="6823075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8136" name="Text Box 10">
            <a:extLst>
              <a:ext uri="{FF2B5EF4-FFF2-40B4-BE49-F238E27FC236}">
                <a16:creationId xmlns:a16="http://schemas.microsoft.com/office/drawing/2014/main" id="{E13E14C6-410D-44FB-BF94-070FCF7C4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5621338"/>
            <a:ext cx="675005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fscanf(FILE *f, "</a:t>
            </a:r>
            <a:r>
              <a:rPr lang="sk-SK" altLang="sk-SK" sz="2656" i="1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", </a:t>
            </a:r>
            <a:r>
              <a:rPr lang="sk-SK" altLang="sk-SK" sz="2656" i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48137" name="Rectangle 11">
            <a:extLst>
              <a:ext uri="{FF2B5EF4-FFF2-40B4-BE49-F238E27FC236}">
                <a16:creationId xmlns:a16="http://schemas.microsoft.com/office/drawing/2014/main" id="{6A23F359-18DB-49E7-BEB7-1630BEE9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615113"/>
            <a:ext cx="6894513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48138" name="Text Box 12">
            <a:extLst>
              <a:ext uri="{FF2B5EF4-FFF2-40B4-BE49-F238E27FC236}">
                <a16:creationId xmlns:a16="http://schemas.microsoft.com/office/drawing/2014/main" id="{258CF1CD-22B7-4FCC-9DDA-96B7AB667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6615113"/>
            <a:ext cx="6954837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f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printf(FILE *f, "</a:t>
            </a:r>
            <a:r>
              <a:rPr lang="sk-SK" altLang="sk-SK" sz="2656" i="1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", </a:t>
            </a:r>
            <a:r>
              <a:rPr lang="sk-SK" altLang="sk-SK" sz="2656" i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50189" name="AutoShape 13">
            <a:extLst>
              <a:ext uri="{FF2B5EF4-FFF2-40B4-BE49-F238E27FC236}">
                <a16:creationId xmlns:a16="http://schemas.microsoft.com/office/drawing/2014/main" id="{C1B840C7-B800-4C5B-B6F9-4FDCEA147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363" y="4024313"/>
            <a:ext cx="2811462" cy="838200"/>
          </a:xfrm>
          <a:prstGeom prst="wedgeRoundRectCallout">
            <a:avLst>
              <a:gd name="adj1" fmla="val -80440"/>
              <a:gd name="adj2" fmla="val 2241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zápis znaku do súboru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0190" name="AutoShape 14">
            <a:extLst>
              <a:ext uri="{FF2B5EF4-FFF2-40B4-BE49-F238E27FC236}">
                <a16:creationId xmlns:a16="http://schemas.microsoft.com/office/drawing/2014/main" id="{8E03FDB7-A3C6-45DA-9476-650D71F10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938" y="4954588"/>
            <a:ext cx="2811462" cy="1389062"/>
          </a:xfrm>
          <a:prstGeom prst="wedgeRoundRectCallout">
            <a:avLst>
              <a:gd name="adj1" fmla="val -58347"/>
              <a:gd name="adj2" fmla="val -228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formátované čítanie zo súboru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0191" name="AutoShape 15">
            <a:extLst>
              <a:ext uri="{FF2B5EF4-FFF2-40B4-BE49-F238E27FC236}">
                <a16:creationId xmlns:a16="http://schemas.microsoft.com/office/drawing/2014/main" id="{EFE9DF84-4981-46B0-B273-D8C90426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650" y="6523038"/>
            <a:ext cx="2811463" cy="938212"/>
          </a:xfrm>
          <a:prstGeom prst="wedgeRoundRectCallout">
            <a:avLst>
              <a:gd name="adj1" fmla="val -60315"/>
              <a:gd name="adj2" fmla="val -39634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formátovaný zápis do súboru</a:t>
            </a:r>
            <a:endParaRPr lang="en-US" altLang="sk-SK" sz="2656">
              <a:solidFill>
                <a:srgbClr val="000000"/>
              </a:solidFill>
            </a:endParaRPr>
          </a:p>
        </p:txBody>
      </p:sp>
      <p:grpSp>
        <p:nvGrpSpPr>
          <p:cNvPr id="33" name="Group 16">
            <a:extLst>
              <a:ext uri="{FF2B5EF4-FFF2-40B4-BE49-F238E27FC236}">
                <a16:creationId xmlns:a16="http://schemas.microsoft.com/office/drawing/2014/main" id="{C22F79ED-DAE9-46D0-A223-7936BEEFE397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2728913"/>
            <a:ext cx="6076950" cy="501650"/>
            <a:chOff x="432" y="1920"/>
            <a:chExt cx="3744" cy="316"/>
          </a:xfrm>
        </p:grpSpPr>
        <p:sp>
          <p:nvSpPr>
            <p:cNvPr id="48146" name="Rectangle 4">
              <a:extLst>
                <a:ext uri="{FF2B5EF4-FFF2-40B4-BE49-F238E27FC236}">
                  <a16:creationId xmlns:a16="http://schemas.microsoft.com/office/drawing/2014/main" id="{26CF1722-6C27-4EE6-9061-DDFA8699B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920"/>
              <a:ext cx="374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48147" name="Text Box 5">
              <a:extLst>
                <a:ext uri="{FF2B5EF4-FFF2-40B4-BE49-F238E27FC236}">
                  <a16:creationId xmlns:a16="http://schemas.microsoft.com/office/drawing/2014/main" id="{4853F0FE-9CF6-44A4-94A9-1E8AD071A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920"/>
              <a:ext cx="251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int fgetc(FILE *f)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  <p:grpSp>
        <p:nvGrpSpPr>
          <p:cNvPr id="36" name="Group 17">
            <a:extLst>
              <a:ext uri="{FF2B5EF4-FFF2-40B4-BE49-F238E27FC236}">
                <a16:creationId xmlns:a16="http://schemas.microsoft.com/office/drawing/2014/main" id="{77F09BA6-8113-49F0-B5FA-BAFB4EA35AD1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4176713"/>
            <a:ext cx="6076950" cy="501650"/>
            <a:chOff x="432" y="2640"/>
            <a:chExt cx="3744" cy="316"/>
          </a:xfrm>
        </p:grpSpPr>
        <p:sp>
          <p:nvSpPr>
            <p:cNvPr id="48144" name="Rectangle 7">
              <a:extLst>
                <a:ext uri="{FF2B5EF4-FFF2-40B4-BE49-F238E27FC236}">
                  <a16:creationId xmlns:a16="http://schemas.microsoft.com/office/drawing/2014/main" id="{520FB7E3-91E7-4E81-9B20-0F785766B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40"/>
              <a:ext cx="3744" cy="28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48145" name="Text Box 8">
              <a:extLst>
                <a:ext uri="{FF2B5EF4-FFF2-40B4-BE49-F238E27FC236}">
                  <a16:creationId xmlns:a16="http://schemas.microsoft.com/office/drawing/2014/main" id="{D804E1C8-76E9-4897-82C0-F320F12DF1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640"/>
              <a:ext cx="3400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int fputc(int c, FILE *f)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 animBg="1" autoUpdateAnimBg="0"/>
      <p:bldP spid="50189" grpId="0" animBg="1" autoUpdateAnimBg="0"/>
      <p:bldP spid="50190" grpId="0" animBg="1" autoUpdateAnimBg="0"/>
      <p:bldP spid="50191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E7D46EC-848F-4F6A-913C-C63E879D7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Príklady: kontrola správneho zátvorkovania</a:t>
            </a:r>
            <a:endParaRPr lang="en-US" altLang="sk-S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13EA7-FD83-4ACA-8813-B390E3A4B1D9}"/>
              </a:ext>
            </a:extLst>
          </p:cNvPr>
          <p:cNvSpPr txBox="1"/>
          <p:nvPr/>
        </p:nvSpPr>
        <p:spPr>
          <a:xfrm>
            <a:off x="503238" y="1938338"/>
            <a:ext cx="8915400" cy="4894262"/>
          </a:xfrm>
          <a:prstGeom prst="rect">
            <a:avLst/>
          </a:prstGeom>
          <a:noFill/>
        </p:spPr>
        <p:txBody>
          <a:bodyPr lIns="91436" tIns="45718" rIns="91436" bIns="45718">
            <a:spAutoFit/>
          </a:bodyPr>
          <a:lstStyle/>
          <a:p>
            <a:pPr>
              <a:defRPr/>
            </a:pPr>
            <a:r>
              <a:rPr lang="sk-SK" b="0">
                <a:latin typeface="+mn-lt"/>
              </a:rPr>
              <a:t>Napíšte program, ktorý na kontrolu správneho </a:t>
            </a:r>
            <a:r>
              <a:rPr lang="sk-SK" b="0" err="1">
                <a:latin typeface="+mn-lt"/>
              </a:rPr>
              <a:t>uzátvorkovania</a:t>
            </a:r>
            <a:r>
              <a:rPr lang="sk-SK" b="0">
                <a:latin typeface="+mn-lt"/>
              </a:rPr>
              <a:t> výrazu, pričom výraz môže obsahovať tri typy zátvoriek: (), </a:t>
            </a:r>
            <a:r>
              <a:rPr lang="en-US" b="0">
                <a:latin typeface="+mn-lt"/>
              </a:rPr>
              <a:t>{}, []</a:t>
            </a:r>
            <a:r>
              <a:rPr lang="sk-SK" b="0">
                <a:latin typeface="+mn-lt"/>
              </a:rPr>
              <a:t>. </a:t>
            </a:r>
            <a:r>
              <a:rPr lang="en-US" b="0">
                <a:latin typeface="+mn-lt"/>
              </a:rPr>
              <a:t>V </a:t>
            </a:r>
            <a:r>
              <a:rPr lang="en-US" b="0" err="1">
                <a:latin typeface="+mn-lt"/>
              </a:rPr>
              <a:t>pr</a:t>
            </a:r>
            <a:r>
              <a:rPr lang="sk-SK" b="0" err="1">
                <a:latin typeface="+mn-lt"/>
              </a:rPr>
              <a:t>ípade</a:t>
            </a:r>
            <a:r>
              <a:rPr lang="sk-SK" b="0">
                <a:latin typeface="+mn-lt"/>
              </a:rPr>
              <a:t> správneho </a:t>
            </a:r>
            <a:r>
              <a:rPr lang="sk-SK" b="0" err="1">
                <a:latin typeface="+mn-lt"/>
              </a:rPr>
              <a:t>uzátvorkovania</a:t>
            </a:r>
            <a:r>
              <a:rPr lang="sk-SK" b="0">
                <a:latin typeface="+mn-lt"/>
              </a:rPr>
              <a:t> vypíše program správu </a:t>
            </a:r>
            <a:r>
              <a:rPr lang="sk-SK" b="0" err="1">
                <a:latin typeface="Arial" charset="0"/>
                <a:cs typeface="Courier New" pitchFamily="49" charset="0"/>
              </a:rPr>
              <a:t>Spravne</a:t>
            </a:r>
            <a:r>
              <a:rPr lang="sk-SK" b="0">
                <a:latin typeface="Arial" charset="0"/>
                <a:cs typeface="Courier New" pitchFamily="49" charset="0"/>
              </a:rPr>
              <a:t> </a:t>
            </a:r>
            <a:r>
              <a:rPr lang="sk-SK" b="0" err="1">
                <a:latin typeface="Arial" charset="0"/>
                <a:cs typeface="Courier New" pitchFamily="49" charset="0"/>
              </a:rPr>
              <a:t>uzatvorovany</a:t>
            </a:r>
            <a:r>
              <a:rPr lang="sk-SK" b="0">
                <a:latin typeface="Arial" charset="0"/>
                <a:cs typeface="Courier New" pitchFamily="49" charset="0"/>
              </a:rPr>
              <a:t> vyraz</a:t>
            </a:r>
            <a:r>
              <a:rPr lang="sk-SK" b="0">
                <a:latin typeface="+mn-lt"/>
              </a:rPr>
              <a:t>, v opačnom prípade vypíše správu </a:t>
            </a:r>
            <a:r>
              <a:rPr lang="sk-SK" b="0" err="1">
                <a:latin typeface="Arial" charset="0"/>
                <a:cs typeface="Courier New" pitchFamily="49" charset="0"/>
              </a:rPr>
              <a:t>Nespravne</a:t>
            </a:r>
            <a:r>
              <a:rPr lang="sk-SK" b="0">
                <a:latin typeface="Arial" charset="0"/>
                <a:cs typeface="Courier New" pitchFamily="49" charset="0"/>
              </a:rPr>
              <a:t> </a:t>
            </a:r>
            <a:r>
              <a:rPr lang="sk-SK" b="0" err="1">
                <a:latin typeface="Arial" charset="0"/>
                <a:cs typeface="Courier New" pitchFamily="49" charset="0"/>
              </a:rPr>
              <a:t>uzatvorkovany</a:t>
            </a:r>
            <a:r>
              <a:rPr lang="sk-SK" b="0">
                <a:latin typeface="Arial" charset="0"/>
                <a:cs typeface="Courier New" pitchFamily="49" charset="0"/>
              </a:rPr>
              <a:t> vyraz</a:t>
            </a:r>
            <a:r>
              <a:rPr lang="sk-SK" b="0">
                <a:latin typeface="+mn-lt"/>
              </a:rPr>
              <a:t>.</a:t>
            </a:r>
          </a:p>
          <a:p>
            <a:pPr>
              <a:defRPr/>
            </a:pPr>
            <a:endParaRPr lang="sk-SK" b="0">
              <a:latin typeface="+mn-lt"/>
            </a:endParaRPr>
          </a:p>
          <a:p>
            <a:pPr>
              <a:defRPr/>
            </a:pPr>
            <a:r>
              <a:rPr lang="sk-SK" b="0">
                <a:latin typeface="+mn-lt"/>
              </a:rPr>
              <a:t>Ukážkový </a:t>
            </a:r>
            <a:r>
              <a:rPr lang="en-US" b="0" err="1">
                <a:latin typeface="+mn-lt"/>
              </a:rPr>
              <a:t>vstup</a:t>
            </a:r>
            <a:r>
              <a:rPr lang="sk-SK" b="0">
                <a:latin typeface="+mn-lt"/>
              </a:rPr>
              <a:t>:</a:t>
            </a:r>
          </a:p>
          <a:p>
            <a:pPr>
              <a:defRPr/>
            </a:pPr>
            <a:r>
              <a:rPr lang="en-US" b="0">
                <a:latin typeface="Arial" charset="0"/>
                <a:cs typeface="Courier New" pitchFamily="49" charset="0"/>
              </a:rPr>
              <a:t>(3*{</a:t>
            </a:r>
            <a:r>
              <a:rPr lang="en-US" b="0" err="1">
                <a:latin typeface="Arial" charset="0"/>
                <a:cs typeface="Courier New" pitchFamily="49" charset="0"/>
              </a:rPr>
              <a:t>a+b</a:t>
            </a:r>
            <a:r>
              <a:rPr lang="en-US" b="0">
                <a:latin typeface="Arial" charset="0"/>
                <a:cs typeface="Courier New" pitchFamily="49" charset="0"/>
              </a:rPr>
              <a:t>}-{4*(5+[6*7])}+8)</a:t>
            </a:r>
          </a:p>
          <a:p>
            <a:pPr>
              <a:defRPr/>
            </a:pPr>
            <a:endParaRPr lang="sk-SK" b="0">
              <a:latin typeface="+mn-lt"/>
            </a:endParaRPr>
          </a:p>
          <a:p>
            <a:pPr>
              <a:defRPr/>
            </a:pPr>
            <a:r>
              <a:rPr lang="en-US" b="0" err="1">
                <a:latin typeface="+mn-lt"/>
              </a:rPr>
              <a:t>Uk</a:t>
            </a:r>
            <a:r>
              <a:rPr lang="sk-SK" b="0" err="1">
                <a:latin typeface="+mn-lt"/>
              </a:rPr>
              <a:t>ážkový</a:t>
            </a:r>
            <a:r>
              <a:rPr lang="sk-SK" b="0">
                <a:latin typeface="+mn-lt"/>
              </a:rPr>
              <a:t> výstup:</a:t>
            </a:r>
          </a:p>
          <a:p>
            <a:pPr>
              <a:defRPr/>
            </a:pPr>
            <a:r>
              <a:rPr lang="en-US" b="0" err="1">
                <a:latin typeface="Arial" charset="0"/>
                <a:cs typeface="Courier New" pitchFamily="49" charset="0"/>
              </a:rPr>
              <a:t>Spravne</a:t>
            </a:r>
            <a:r>
              <a:rPr lang="en-US" b="0">
                <a:latin typeface="Arial" charset="0"/>
                <a:cs typeface="Courier New" pitchFamily="49" charset="0"/>
              </a:rPr>
              <a:t> </a:t>
            </a:r>
            <a:r>
              <a:rPr lang="en-US" b="0" err="1">
                <a:latin typeface="Arial" charset="0"/>
                <a:cs typeface="Courier New" pitchFamily="49" charset="0"/>
              </a:rPr>
              <a:t>uzatvorkovany</a:t>
            </a:r>
            <a:r>
              <a:rPr lang="en-US" b="0">
                <a:latin typeface="Arial" charset="0"/>
                <a:cs typeface="Courier New" pitchFamily="49" charset="0"/>
              </a:rPr>
              <a:t> </a:t>
            </a:r>
            <a:r>
              <a:rPr lang="en-US" b="0" err="1">
                <a:latin typeface="Arial" charset="0"/>
                <a:cs typeface="Courier New" pitchFamily="49" charset="0"/>
              </a:rPr>
              <a:t>vyraz</a:t>
            </a:r>
            <a:endParaRPr lang="sk-SK" b="0">
              <a:latin typeface="Arial" charset="0"/>
              <a:cs typeface="Courier New" pitchFamily="49" charset="0"/>
            </a:endParaRPr>
          </a:p>
          <a:p>
            <a:pPr>
              <a:defRPr/>
            </a:pPr>
            <a:endParaRPr lang="en-US" b="0">
              <a:latin typeface="+mn-lt"/>
              <a:cs typeface="Courier New" pitchFamily="49" charset="0"/>
            </a:endParaRPr>
          </a:p>
          <a:p>
            <a:pPr>
              <a:defRPr/>
            </a:pPr>
            <a:r>
              <a:rPr lang="en-US" b="0" err="1">
                <a:latin typeface="+mn-lt"/>
                <a:cs typeface="Courier New" pitchFamily="49" charset="0"/>
              </a:rPr>
              <a:t>Pom</a:t>
            </a:r>
            <a:r>
              <a:rPr lang="sk-SK" b="0" err="1">
                <a:latin typeface="+mn-lt"/>
                <a:cs typeface="Courier New" pitchFamily="49" charset="0"/>
              </a:rPr>
              <a:t>ôcka</a:t>
            </a:r>
            <a:r>
              <a:rPr lang="sk-SK" b="0">
                <a:latin typeface="+mn-lt"/>
                <a:cs typeface="Courier New" pitchFamily="49" charset="0"/>
              </a:rPr>
              <a:t>: pole znakov použite ako zásobník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1D35852-2E44-4BC9-9425-6DE02F18A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Základy práce s poliami</a:t>
            </a:r>
            <a:endParaRPr lang="en-US" altLang="sk-SK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52CFE91-8861-4F45-B16A-98371DAFC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828800"/>
            <a:ext cx="9721850" cy="1206500"/>
          </a:xfrm>
        </p:spPr>
        <p:txBody>
          <a:bodyPr/>
          <a:lstStyle/>
          <a:p>
            <a:r>
              <a:rPr lang="sk-SK" altLang="sk-SK"/>
              <a:t>pole je štruktúra zložená z niekoľkých prvkov rovnakého typu</a:t>
            </a:r>
            <a:r>
              <a:rPr lang="en-US" altLang="sk-SK"/>
              <a:t> (blok prvkov)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CFA43219-40C8-4401-B229-DBE56D786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373438"/>
            <a:ext cx="2192338" cy="67468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52229" name="Text Box 5">
            <a:extLst>
              <a:ext uri="{FF2B5EF4-FFF2-40B4-BE49-F238E27FC236}">
                <a16:creationId xmlns:a16="http://schemas.microsoft.com/office/drawing/2014/main" id="{405C297C-1BF1-43B7-BA73-7384A1AD2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3457575"/>
            <a:ext cx="210820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TYP x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N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14980974-EBEA-4AAD-B487-B9D73E020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4554538"/>
            <a:ext cx="7421563" cy="26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2325" indent="-315913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defRPr/>
            </a:pPr>
            <a:r>
              <a:rPr lang="sk-SK" altLang="sk-SK" sz="2767">
                <a:solidFill>
                  <a:srgbClr val="000000"/>
                </a:solidFill>
              </a:rPr>
              <a:t>pole obsa</a:t>
            </a:r>
            <a:r>
              <a:rPr lang="en-US" altLang="sk-SK" sz="2767">
                <a:solidFill>
                  <a:srgbClr val="000000"/>
                </a:solidFill>
              </a:rPr>
              <a:t>h</a:t>
            </a:r>
            <a:r>
              <a:rPr lang="sk-SK" altLang="sk-SK" sz="2767">
                <a:solidFill>
                  <a:srgbClr val="000000"/>
                </a:solidFill>
              </a:rPr>
              <a:t>uje </a:t>
            </a:r>
            <a:r>
              <a:rPr lang="en-US" altLang="sk-SK" sz="2767">
                <a:solidFill>
                  <a:srgbClr val="000000"/>
                </a:solidFill>
                <a:latin typeface="Courier New" panose="02070309020205020404" pitchFamily="49" charset="0"/>
              </a:rPr>
              <a:t>N</a:t>
            </a:r>
            <a:r>
              <a:rPr lang="sk-SK" altLang="sk-SK" sz="2767">
                <a:solidFill>
                  <a:srgbClr val="000000"/>
                </a:solidFill>
              </a:rPr>
              <a:t> prvkov</a:t>
            </a:r>
            <a:endParaRPr lang="en-US" altLang="sk-SK" sz="2767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en-US" altLang="sk-SK" sz="2767">
                <a:solidFill>
                  <a:srgbClr val="000000"/>
                </a:solidFill>
              </a:rPr>
              <a:t>doln</a:t>
            </a:r>
            <a:r>
              <a:rPr lang="sk-SK" altLang="sk-SK" sz="2767">
                <a:solidFill>
                  <a:srgbClr val="000000"/>
                </a:solidFill>
              </a:rPr>
              <a:t>á hranica je vždy </a:t>
            </a:r>
            <a:r>
              <a:rPr lang="sk-SK" altLang="sk-SK" sz="2767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  <a:r>
              <a:rPr lang="sk-SK" altLang="sk-SK" sz="2767">
                <a:solidFill>
                  <a:srgbClr val="000000"/>
                </a:solidFill>
              </a:rPr>
              <a:t> </a:t>
            </a:r>
          </a:p>
          <a:p>
            <a:pPr lvl="1">
              <a:buFontTx/>
              <a:buNone/>
              <a:defRPr/>
            </a:pPr>
            <a:r>
              <a:rPr lang="sk-SK" altLang="sk-SK" sz="2767">
                <a:solidFill>
                  <a:srgbClr val="000000"/>
                </a:solidFill>
                <a:sym typeface="Symbol" panose="05050102010706020507" pitchFamily="18" charset="2"/>
              </a:rPr>
              <a:t>    horná hranica je </a:t>
            </a:r>
            <a:r>
              <a:rPr lang="sk-SK" altLang="sk-SK" sz="2767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N-1</a:t>
            </a:r>
          </a:p>
          <a:p>
            <a:pPr lvl="1">
              <a:defRPr/>
            </a:pPr>
            <a:r>
              <a:rPr lang="sk-SK" altLang="sk-SK" sz="2767">
                <a:solidFill>
                  <a:srgbClr val="000000"/>
                </a:solidFill>
                <a:sym typeface="Symbol" panose="05050102010706020507" pitchFamily="18" charset="2"/>
              </a:rPr>
              <a:t>číslo </a:t>
            </a:r>
            <a:r>
              <a:rPr lang="sk-SK" altLang="sk-SK" sz="2767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</a:t>
            </a:r>
            <a:r>
              <a:rPr lang="sk-SK" altLang="sk-SK" sz="2767">
                <a:solidFill>
                  <a:srgbClr val="000000"/>
                </a:solidFill>
                <a:sym typeface="Symbol" panose="05050102010706020507" pitchFamily="18" charset="2"/>
              </a:rPr>
              <a:t> musí byť známe v čase prekladu </a:t>
            </a:r>
          </a:p>
          <a:p>
            <a:pPr lvl="1">
              <a:defRPr/>
            </a:pPr>
            <a:r>
              <a:rPr lang="sk-SK" altLang="sk-SK" sz="2767">
                <a:solidFill>
                  <a:srgbClr val="000000"/>
                </a:solidFill>
                <a:sym typeface="Symbol" panose="05050102010706020507" pitchFamily="18" charset="2"/>
              </a:rPr>
              <a:t>hodnoty nie sú inicializované na 0</a:t>
            </a:r>
            <a:endParaRPr lang="sk-SK" altLang="sk-SK" sz="2767">
              <a:solidFill>
                <a:srgbClr val="000000"/>
              </a:solidFill>
            </a:endParaRPr>
          </a:p>
        </p:txBody>
      </p:sp>
      <p:sp>
        <p:nvSpPr>
          <p:cNvPr id="39967" name="AutoShape 31">
            <a:extLst>
              <a:ext uri="{FF2B5EF4-FFF2-40B4-BE49-F238E27FC236}">
                <a16:creationId xmlns:a16="http://schemas.microsoft.com/office/drawing/2014/main" id="{0C0376E9-8727-415C-A19B-07B954912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450" y="3205163"/>
            <a:ext cx="2613025" cy="1011237"/>
          </a:xfrm>
          <a:prstGeom prst="wedgeRoundRectCallout">
            <a:avLst>
              <a:gd name="adj1" fmla="val -69287"/>
              <a:gd name="adj2" fmla="val -1597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statická </a:t>
            </a:r>
            <a:endParaRPr lang="en-US" altLang="sk-SK" sz="2656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definícia poľa</a:t>
            </a:r>
            <a:endParaRPr lang="en-US" altLang="sk-SK" sz="2656">
              <a:solidFill>
                <a:srgbClr val="000000"/>
              </a:solidFill>
            </a:endParaRPr>
          </a:p>
        </p:txBody>
      </p:sp>
      <p:grpSp>
        <p:nvGrpSpPr>
          <p:cNvPr id="39972" name="Group 36">
            <a:extLst>
              <a:ext uri="{FF2B5EF4-FFF2-40B4-BE49-F238E27FC236}">
                <a16:creationId xmlns:a16="http://schemas.microsoft.com/office/drawing/2014/main" id="{B7557CC2-F59D-4C1A-AE12-7A5B549B7D11}"/>
              </a:ext>
            </a:extLst>
          </p:cNvPr>
          <p:cNvGrpSpPr>
            <a:grpSpLocks/>
          </p:cNvGrpSpPr>
          <p:nvPr/>
        </p:nvGrpSpPr>
        <p:grpSpPr bwMode="auto">
          <a:xfrm>
            <a:off x="7183438" y="2951163"/>
            <a:ext cx="2951162" cy="4368800"/>
            <a:chOff x="4080" y="1680"/>
            <a:chExt cx="1680" cy="2486"/>
          </a:xfrm>
        </p:grpSpPr>
        <p:sp>
          <p:nvSpPr>
            <p:cNvPr id="52233" name="Rectangle 11">
              <a:extLst>
                <a:ext uri="{FF2B5EF4-FFF2-40B4-BE49-F238E27FC236}">
                  <a16:creationId xmlns:a16="http://schemas.microsoft.com/office/drawing/2014/main" id="{DE917B0A-D85E-422C-AF47-790C452B3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46"/>
              <a:ext cx="624" cy="192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52234" name="Text Box 13">
              <a:extLst>
                <a:ext uri="{FF2B5EF4-FFF2-40B4-BE49-F238E27FC236}">
                  <a16:creationId xmlns:a16="http://schemas.microsoft.com/office/drawing/2014/main" id="{43BAEF61-2E02-48AE-9385-32CD5CBF0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486"/>
              <a:ext cx="43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</a:rPr>
                <a:t>5</a:t>
              </a:r>
              <a:endParaRPr lang="en-US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52235" name="Line 17">
              <a:extLst>
                <a:ext uri="{FF2B5EF4-FFF2-40B4-BE49-F238E27FC236}">
                  <a16:creationId xmlns:a16="http://schemas.microsoft.com/office/drawing/2014/main" id="{2EF5A7D3-077A-4AA5-84E8-98C465516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92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52236" name="Line 18">
              <a:extLst>
                <a:ext uri="{FF2B5EF4-FFF2-40B4-BE49-F238E27FC236}">
                  <a16:creationId xmlns:a16="http://schemas.microsoft.com/office/drawing/2014/main" id="{5E9B7124-E96B-492B-85D2-4024A8B37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82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52237" name="Line 22">
              <a:extLst>
                <a:ext uri="{FF2B5EF4-FFF2-40B4-BE49-F238E27FC236}">
                  <a16:creationId xmlns:a16="http://schemas.microsoft.com/office/drawing/2014/main" id="{F85C27E2-4E52-42FF-BB16-4DDAC417D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20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52238" name="Text Box 23">
              <a:extLst>
                <a:ext uri="{FF2B5EF4-FFF2-40B4-BE49-F238E27FC236}">
                  <a16:creationId xmlns:a16="http://schemas.microsoft.com/office/drawing/2014/main" id="{DCAC5A5C-7490-4C11-875D-CED07F436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2870"/>
              <a:ext cx="43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</a:rPr>
                <a:t>6</a:t>
              </a:r>
              <a:endParaRPr lang="en-US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52239" name="Text Box 24">
              <a:extLst>
                <a:ext uri="{FF2B5EF4-FFF2-40B4-BE49-F238E27FC236}">
                  <a16:creationId xmlns:a16="http://schemas.microsoft.com/office/drawing/2014/main" id="{FDDA82FD-AC4C-419E-B71A-8EFD3CE8C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254"/>
              <a:ext cx="43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</a:rPr>
                <a:t>7</a:t>
              </a:r>
              <a:endParaRPr lang="en-US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52240" name="Rectangle 25">
              <a:extLst>
                <a:ext uri="{FF2B5EF4-FFF2-40B4-BE49-F238E27FC236}">
                  <a16:creationId xmlns:a16="http://schemas.microsoft.com/office/drawing/2014/main" id="{CB6D817B-7D2E-4DE2-A8E5-0FBD88DCB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38"/>
              <a:ext cx="624" cy="120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sk-SK" altLang="sk-SK" sz="2656">
                <a:solidFill>
                  <a:srgbClr val="000000"/>
                </a:solidFill>
              </a:endParaRPr>
            </a:p>
          </p:txBody>
        </p:sp>
        <p:sp>
          <p:nvSpPr>
            <p:cNvPr id="52241" name="Text Box 26">
              <a:extLst>
                <a:ext uri="{FF2B5EF4-FFF2-40B4-BE49-F238E27FC236}">
                  <a16:creationId xmlns:a16="http://schemas.microsoft.com/office/drawing/2014/main" id="{6A0A6F2A-31DE-4DE9-B87F-01E666D32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680"/>
              <a:ext cx="96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N</a:t>
              </a:r>
              <a:r>
                <a:rPr lang="sk-SK" altLang="sk-SK" sz="2656">
                  <a:solidFill>
                    <a:srgbClr val="000000"/>
                  </a:solidFill>
                </a:rPr>
                <a:t>: 3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</a:rPr>
                <a:t>TYP: </a:t>
              </a: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int</a:t>
              </a:r>
              <a:endParaRPr lang="en-US" altLang="sk-SK" sz="2656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52242" name="Text Box 32">
              <a:extLst>
                <a:ext uri="{FF2B5EF4-FFF2-40B4-BE49-F238E27FC236}">
                  <a16:creationId xmlns:a16="http://schemas.microsoft.com/office/drawing/2014/main" id="{E19E561C-6574-49E5-97B5-38D92924C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160"/>
              <a:ext cx="676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>
                  <a:solidFill>
                    <a:srgbClr val="000000"/>
                  </a:solidFill>
                </a:rPr>
                <a:t>index:</a:t>
              </a:r>
            </a:p>
          </p:txBody>
        </p:sp>
        <p:sp>
          <p:nvSpPr>
            <p:cNvPr id="52243" name="Text Box 33">
              <a:extLst>
                <a:ext uri="{FF2B5EF4-FFF2-40B4-BE49-F238E27FC236}">
                  <a16:creationId xmlns:a16="http://schemas.microsoft.com/office/drawing/2014/main" id="{84BD2D3D-491D-4B54-A264-1FBC14524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2496"/>
              <a:ext cx="22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</a:p>
          </p:txBody>
        </p:sp>
        <p:sp>
          <p:nvSpPr>
            <p:cNvPr id="52244" name="Text Box 34">
              <a:extLst>
                <a:ext uri="{FF2B5EF4-FFF2-40B4-BE49-F238E27FC236}">
                  <a16:creationId xmlns:a16="http://schemas.microsoft.com/office/drawing/2014/main" id="{AB50F9D0-5B54-4019-BB04-EC5053FB2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2880"/>
              <a:ext cx="22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52245" name="Text Box 35">
              <a:extLst>
                <a:ext uri="{FF2B5EF4-FFF2-40B4-BE49-F238E27FC236}">
                  <a16:creationId xmlns:a16="http://schemas.microsoft.com/office/drawing/2014/main" id="{39E96415-5CF0-4EE5-B4DD-E9BECF1C9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" y="3264"/>
              <a:ext cx="22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FFE102F-D9EF-47DB-9014-633D8642D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Definícia a inicializácia reťazca</a:t>
            </a:r>
            <a:endParaRPr lang="en-US" altLang="sk-SK"/>
          </a:p>
        </p:txBody>
      </p:sp>
      <p:sp>
        <p:nvSpPr>
          <p:cNvPr id="53251" name="Rectangle 6">
            <a:extLst>
              <a:ext uri="{FF2B5EF4-FFF2-40B4-BE49-F238E27FC236}">
                <a16:creationId xmlns:a16="http://schemas.microsoft.com/office/drawing/2014/main" id="{494EB720-369B-46AF-AC51-2A3DCEE39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113" y="1968500"/>
            <a:ext cx="1096962" cy="48895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sk-SK" altLang="sk-SK" sz="2656">
              <a:solidFill>
                <a:srgbClr val="000000"/>
              </a:solidFill>
            </a:endParaRPr>
          </a:p>
        </p:txBody>
      </p:sp>
      <p:sp>
        <p:nvSpPr>
          <p:cNvPr id="53252" name="Text Box 7">
            <a:extLst>
              <a:ext uri="{FF2B5EF4-FFF2-40B4-BE49-F238E27FC236}">
                <a16:creationId xmlns:a16="http://schemas.microsoft.com/office/drawing/2014/main" id="{0019C78A-63DD-46D6-A812-8F3BADC45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3663" y="2387600"/>
            <a:ext cx="76041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a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3253" name="Line 8">
            <a:extLst>
              <a:ext uri="{FF2B5EF4-FFF2-40B4-BE49-F238E27FC236}">
                <a16:creationId xmlns:a16="http://schemas.microsoft.com/office/drawing/2014/main" id="{273EC941-5DE5-4AE1-AEA7-82A0D5447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854575"/>
            <a:ext cx="1096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/>
          <a:lstStyle/>
          <a:p>
            <a:pPr>
              <a:defRPr/>
            </a:pPr>
            <a:endParaRPr lang="sk-SK" sz="2656"/>
          </a:p>
        </p:txBody>
      </p:sp>
      <p:sp>
        <p:nvSpPr>
          <p:cNvPr id="53254" name="Line 9">
            <a:extLst>
              <a:ext uri="{FF2B5EF4-FFF2-40B4-BE49-F238E27FC236}">
                <a16:creationId xmlns:a16="http://schemas.microsoft.com/office/drawing/2014/main" id="{8C69B505-6205-44B6-84B0-D575EB760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2957513"/>
            <a:ext cx="1096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/>
          <a:lstStyle/>
          <a:p>
            <a:pPr>
              <a:defRPr/>
            </a:pPr>
            <a:endParaRPr lang="sk-SK" sz="2656"/>
          </a:p>
        </p:txBody>
      </p:sp>
      <p:sp>
        <p:nvSpPr>
          <p:cNvPr id="53255" name="Line 10">
            <a:extLst>
              <a:ext uri="{FF2B5EF4-FFF2-40B4-BE49-F238E27FC236}">
                <a16:creationId xmlns:a16="http://schemas.microsoft.com/office/drawing/2014/main" id="{D70B9A33-AC0D-4949-AF79-70E461559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3611563"/>
            <a:ext cx="1096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/>
          <a:lstStyle/>
          <a:p>
            <a:pPr>
              <a:defRPr/>
            </a:pPr>
            <a:endParaRPr lang="sk-SK" sz="2656"/>
          </a:p>
        </p:txBody>
      </p:sp>
      <p:sp>
        <p:nvSpPr>
          <p:cNvPr id="53256" name="Text Box 11">
            <a:extLst>
              <a:ext uri="{FF2B5EF4-FFF2-40B4-BE49-F238E27FC236}">
                <a16:creationId xmlns:a16="http://schemas.microsoft.com/office/drawing/2014/main" id="{9DE92FC1-EF70-43A1-8509-56F8D20CB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3663" y="3041650"/>
            <a:ext cx="76041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h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3257" name="Text Box 12">
            <a:extLst>
              <a:ext uri="{FF2B5EF4-FFF2-40B4-BE49-F238E27FC236}">
                <a16:creationId xmlns:a16="http://schemas.microsoft.com/office/drawing/2014/main" id="{1516DA51-4D1A-4578-BAD2-68CFD58D5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3663" y="3652838"/>
            <a:ext cx="76041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o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3258" name="Rectangle 13">
            <a:extLst>
              <a:ext uri="{FF2B5EF4-FFF2-40B4-BE49-F238E27FC236}">
                <a16:creationId xmlns:a16="http://schemas.microsoft.com/office/drawing/2014/main" id="{86916247-F1FD-44E4-91BF-4D6D70377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113" y="2303463"/>
            <a:ext cx="1096962" cy="379730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3259" name="Line 16">
            <a:extLst>
              <a:ext uri="{FF2B5EF4-FFF2-40B4-BE49-F238E27FC236}">
                <a16:creationId xmlns:a16="http://schemas.microsoft.com/office/drawing/2014/main" id="{42F992D6-CAF2-4A78-B0C7-3E6A0FB49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4243388"/>
            <a:ext cx="1096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/>
          <a:lstStyle/>
          <a:p>
            <a:pPr>
              <a:defRPr/>
            </a:pPr>
            <a:endParaRPr lang="sk-SK" sz="2656"/>
          </a:p>
        </p:txBody>
      </p:sp>
      <p:sp>
        <p:nvSpPr>
          <p:cNvPr id="53260" name="Text Box 17">
            <a:extLst>
              <a:ext uri="{FF2B5EF4-FFF2-40B4-BE49-F238E27FC236}">
                <a16:creationId xmlns:a16="http://schemas.microsoft.com/office/drawing/2014/main" id="{4B8EE8C4-72FE-4BDA-8C1A-1B9148D1F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6525" y="4306888"/>
            <a:ext cx="758825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j</a:t>
            </a: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3261" name="Text Box 18">
            <a:extLst>
              <a:ext uri="{FF2B5EF4-FFF2-40B4-BE49-F238E27FC236}">
                <a16:creationId xmlns:a16="http://schemas.microsoft.com/office/drawing/2014/main" id="{B400FCCA-05E3-4D1B-B99B-652503CA7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9525" y="4918075"/>
            <a:ext cx="7588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\0</a:t>
            </a:r>
          </a:p>
        </p:txBody>
      </p:sp>
      <p:sp>
        <p:nvSpPr>
          <p:cNvPr id="53262" name="Line 19">
            <a:extLst>
              <a:ext uri="{FF2B5EF4-FFF2-40B4-BE49-F238E27FC236}">
                <a16:creationId xmlns:a16="http://schemas.microsoft.com/office/drawing/2014/main" id="{51E4D7C7-70ED-4F20-BCFF-4E92BE500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3" y="5508625"/>
            <a:ext cx="1096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/>
          <a:lstStyle/>
          <a:p>
            <a:pPr>
              <a:defRPr/>
            </a:pPr>
            <a:endParaRPr lang="sk-SK" sz="2656"/>
          </a:p>
        </p:txBody>
      </p:sp>
      <p:sp>
        <p:nvSpPr>
          <p:cNvPr id="53263" name="Rectangle 20">
            <a:extLst>
              <a:ext uri="{FF2B5EF4-FFF2-40B4-BE49-F238E27FC236}">
                <a16:creationId xmlns:a16="http://schemas.microsoft.com/office/drawing/2014/main" id="{6C84FE7C-2450-4819-92B4-32E7A065D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322388"/>
            <a:ext cx="7597775" cy="720725"/>
          </a:xfrm>
        </p:spPr>
        <p:txBody>
          <a:bodyPr/>
          <a:lstStyle/>
          <a:p>
            <a:pPr>
              <a:defRPr/>
            </a:pPr>
            <a:r>
              <a:rPr lang="en-US" altLang="sk-SK" sz="2767"/>
              <a:t>Statick</a:t>
            </a:r>
            <a:r>
              <a:rPr lang="sk-SK" altLang="sk-SK" sz="2767"/>
              <a:t>ý </a:t>
            </a:r>
            <a:r>
              <a:rPr lang="en-US" altLang="sk-SK" sz="2767"/>
              <a:t>re</a:t>
            </a:r>
            <a:r>
              <a:rPr lang="sk-SK" altLang="sk-SK" sz="2767"/>
              <a:t>ťazec s</a:t>
            </a:r>
            <a:r>
              <a:rPr lang="en-US" altLang="sk-SK" sz="2767"/>
              <a:t> najviac 6 </a:t>
            </a:r>
            <a:r>
              <a:rPr lang="sk-SK" altLang="sk-SK" sz="2767"/>
              <a:t>znakmi:</a:t>
            </a:r>
            <a:endParaRPr lang="en-US" altLang="sk-SK" sz="2767"/>
          </a:p>
          <a:p>
            <a:pPr lvl="1">
              <a:defRPr/>
            </a:pPr>
            <a:endParaRPr lang="en-US" altLang="sk-SK" sz="2435"/>
          </a:p>
          <a:p>
            <a:pPr lvl="1">
              <a:defRPr/>
            </a:pPr>
            <a:endParaRPr lang="en-US" altLang="sk-SK" sz="2435"/>
          </a:p>
          <a:p>
            <a:pPr lvl="1">
              <a:defRPr/>
            </a:pPr>
            <a:endParaRPr lang="sk-SK" altLang="sk-SK" sz="2435"/>
          </a:p>
          <a:p>
            <a:pPr lvl="1">
              <a:defRPr/>
            </a:pPr>
            <a:endParaRPr lang="en-US" altLang="sk-SK" sz="2435"/>
          </a:p>
        </p:txBody>
      </p:sp>
      <p:sp>
        <p:nvSpPr>
          <p:cNvPr id="53264" name="Text Box 22">
            <a:extLst>
              <a:ext uri="{FF2B5EF4-FFF2-40B4-BE49-F238E27FC236}">
                <a16:creationId xmlns:a16="http://schemas.microsoft.com/office/drawing/2014/main" id="{6BD1C7A6-D996-42FE-AF30-A45E6DCE7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5425" y="2419350"/>
            <a:ext cx="92868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s:  0</a:t>
            </a:r>
          </a:p>
        </p:txBody>
      </p:sp>
      <p:sp>
        <p:nvSpPr>
          <p:cNvPr id="53265" name="Text Box 23">
            <a:extLst>
              <a:ext uri="{FF2B5EF4-FFF2-40B4-BE49-F238E27FC236}">
                <a16:creationId xmlns:a16="http://schemas.microsoft.com/office/drawing/2014/main" id="{96021B34-F3A2-491D-878C-0DFAFDBB6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3062288"/>
            <a:ext cx="4222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3266" name="Text Box 24">
            <a:extLst>
              <a:ext uri="{FF2B5EF4-FFF2-40B4-BE49-F238E27FC236}">
                <a16:creationId xmlns:a16="http://schemas.microsoft.com/office/drawing/2014/main" id="{1431C603-F8A0-4925-BC45-E36C01369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3736975"/>
            <a:ext cx="4222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3267" name="Text Box 25">
            <a:extLst>
              <a:ext uri="{FF2B5EF4-FFF2-40B4-BE49-F238E27FC236}">
                <a16:creationId xmlns:a16="http://schemas.microsoft.com/office/drawing/2014/main" id="{70CEB1F5-01F9-4B1D-B907-BB82ABB20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4327525"/>
            <a:ext cx="4222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3268" name="Text Box 26">
            <a:extLst>
              <a:ext uri="{FF2B5EF4-FFF2-40B4-BE49-F238E27FC236}">
                <a16:creationId xmlns:a16="http://schemas.microsoft.com/office/drawing/2014/main" id="{E675051F-785A-44A7-8108-BDE8F091F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4981575"/>
            <a:ext cx="422275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3269" name="Text Box 27">
            <a:extLst>
              <a:ext uri="{FF2B5EF4-FFF2-40B4-BE49-F238E27FC236}">
                <a16:creationId xmlns:a16="http://schemas.microsoft.com/office/drawing/2014/main" id="{C04A1E36-E181-46B2-82B9-0B4DD8253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5572125"/>
            <a:ext cx="420687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3270" name="Rectangle 29">
            <a:extLst>
              <a:ext uri="{FF2B5EF4-FFF2-40B4-BE49-F238E27FC236}">
                <a16:creationId xmlns:a16="http://schemas.microsoft.com/office/drawing/2014/main" id="{F0251877-B723-45E3-AA53-D3FBCDBB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2100263"/>
            <a:ext cx="5397500" cy="5270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3271" name="Text Box 30">
            <a:extLst>
              <a:ext uri="{FF2B5EF4-FFF2-40B4-BE49-F238E27FC236}">
                <a16:creationId xmlns:a16="http://schemas.microsoft.com/office/drawing/2014/main" id="{0C0469A1-FFD3-4CDE-B0FA-D129DE48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2093913"/>
            <a:ext cx="2255837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char s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[6];</a:t>
            </a:r>
          </a:p>
        </p:txBody>
      </p:sp>
      <p:grpSp>
        <p:nvGrpSpPr>
          <p:cNvPr id="66601" name="Group 41">
            <a:extLst>
              <a:ext uri="{FF2B5EF4-FFF2-40B4-BE49-F238E27FC236}">
                <a16:creationId xmlns:a16="http://schemas.microsoft.com/office/drawing/2014/main" id="{A9E2692A-B57E-4F28-937B-DC2D01F698A1}"/>
              </a:ext>
            </a:extLst>
          </p:cNvPr>
          <p:cNvGrpSpPr>
            <a:grpSpLocks/>
          </p:cNvGrpSpPr>
          <p:nvPr/>
        </p:nvGrpSpPr>
        <p:grpSpPr bwMode="auto">
          <a:xfrm>
            <a:off x="735013" y="2914650"/>
            <a:ext cx="5397500" cy="523875"/>
            <a:chOff x="624" y="2130"/>
            <a:chExt cx="3072" cy="336"/>
          </a:xfrm>
        </p:grpSpPr>
        <p:sp>
          <p:nvSpPr>
            <p:cNvPr id="53281" name="Rectangle 33">
              <a:extLst>
                <a:ext uri="{FF2B5EF4-FFF2-40B4-BE49-F238E27FC236}">
                  <a16:creationId xmlns:a16="http://schemas.microsoft.com/office/drawing/2014/main" id="{EC305C2D-5F10-4D31-BD3B-690BB100E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30"/>
              <a:ext cx="3072" cy="33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sk-SK" altLang="sk-SK" sz="1992">
                <a:solidFill>
                  <a:srgbClr val="000000"/>
                </a:solidFill>
              </a:endParaRPr>
            </a:p>
          </p:txBody>
        </p:sp>
        <p:sp>
          <p:nvSpPr>
            <p:cNvPr id="53282" name="Text Box 34">
              <a:extLst>
                <a:ext uri="{FF2B5EF4-FFF2-40B4-BE49-F238E27FC236}">
                  <a16:creationId xmlns:a16="http://schemas.microsoft.com/office/drawing/2014/main" id="{3F06CC63-45A7-4416-BA76-98C32E52C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" y="2142"/>
              <a:ext cx="3025" cy="32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char s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[] = </a:t>
              </a: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"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abrakadabra</a:t>
              </a:r>
              <a:r>
                <a:rPr lang="sk-SK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"</a:t>
              </a:r>
              <a:r>
                <a:rPr lang="en-US" altLang="sk-SK" sz="2656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  <p:sp>
        <p:nvSpPr>
          <p:cNvPr id="66595" name="Text Box 35">
            <a:extLst>
              <a:ext uri="{FF2B5EF4-FFF2-40B4-BE49-F238E27FC236}">
                <a16:creationId xmlns:a16="http://schemas.microsoft.com/office/drawing/2014/main" id="{8C37021E-8BCC-4B8E-A9AD-DF2CA20F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663" y="2109788"/>
            <a:ext cx="2051050" cy="5111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ahoj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66605" name="AutoShape 45">
            <a:extLst>
              <a:ext uri="{FF2B5EF4-FFF2-40B4-BE49-F238E27FC236}">
                <a16:creationId xmlns:a16="http://schemas.microsoft.com/office/drawing/2014/main" id="{E9590403-0AE8-40DD-B8DE-0DC9537AA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3829050"/>
            <a:ext cx="6608763" cy="576263"/>
          </a:xfrm>
          <a:prstGeom prst="wedgeRoundRectCallout">
            <a:avLst>
              <a:gd name="adj1" fmla="val -815"/>
              <a:gd name="adj2" fmla="val -10302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inicializuje sa miesta práve pre daný text</a:t>
            </a:r>
            <a:endParaRPr lang="en-US" altLang="sk-SK" sz="2656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sk-SK" sz="2656">
              <a:solidFill>
                <a:srgbClr val="000000"/>
              </a:solidFill>
            </a:endParaRPr>
          </a:p>
        </p:txBody>
      </p:sp>
      <p:sp>
        <p:nvSpPr>
          <p:cNvPr id="53275" name="Rectangle 5">
            <a:extLst>
              <a:ext uri="{FF2B5EF4-FFF2-40B4-BE49-F238E27FC236}">
                <a16:creationId xmlns:a16="http://schemas.microsoft.com/office/drawing/2014/main" id="{3442468F-BB7E-457D-855D-89C3780C0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4529138"/>
            <a:ext cx="6000750" cy="5619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3276" name="Text Box 6">
            <a:extLst>
              <a:ext uri="{FF2B5EF4-FFF2-40B4-BE49-F238E27FC236}">
                <a16:creationId xmlns:a16="http://schemas.microsoft.com/office/drawing/2014/main" id="{AA7C27E2-0551-4CEE-A7F5-00614E09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564063"/>
            <a:ext cx="5743575" cy="51117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char s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] =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abrakadabra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"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53277" name="Rectangle 9">
            <a:extLst>
              <a:ext uri="{FF2B5EF4-FFF2-40B4-BE49-F238E27FC236}">
                <a16:creationId xmlns:a16="http://schemas.microsoft.com/office/drawing/2014/main" id="{1854255A-44DF-423C-9C18-3D75091C2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5719763"/>
            <a:ext cx="3343275" cy="9715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3278" name="Text Box 10">
            <a:extLst>
              <a:ext uri="{FF2B5EF4-FFF2-40B4-BE49-F238E27FC236}">
                <a16:creationId xmlns:a16="http://schemas.microsoft.com/office/drawing/2014/main" id="{5293BC83-7040-4959-AC99-E77C59908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57863"/>
            <a:ext cx="2460625" cy="91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char s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  <a:endParaRPr lang="sk-SK" altLang="sk-SK" sz="2656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 = "ahoj"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36" name="AutoShape 23">
            <a:extLst>
              <a:ext uri="{FF2B5EF4-FFF2-40B4-BE49-F238E27FC236}">
                <a16:creationId xmlns:a16="http://schemas.microsoft.com/office/drawing/2014/main" id="{DD4F650B-04B6-4FEA-95B4-F6ADF139B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5170488"/>
            <a:ext cx="3792538" cy="495300"/>
          </a:xfrm>
          <a:prstGeom prst="wedgeRoundRectCallout">
            <a:avLst>
              <a:gd name="adj1" fmla="val 8218"/>
              <a:gd name="adj2" fmla="val -79528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</a:rPr>
              <a:t>pridá na koniec 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'\0'</a:t>
            </a:r>
          </a:p>
        </p:txBody>
      </p:sp>
      <p:sp>
        <p:nvSpPr>
          <p:cNvPr id="37" name="AutoShape 25">
            <a:extLst>
              <a:ext uri="{FF2B5EF4-FFF2-40B4-BE49-F238E27FC236}">
                <a16:creationId xmlns:a16="http://schemas.microsoft.com/office/drawing/2014/main" id="{E31085CE-4DEB-413B-B308-92AF05164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6927850"/>
            <a:ext cx="9593263" cy="609600"/>
          </a:xfrm>
          <a:prstGeom prst="wedgeRoundRectCallout">
            <a:avLst>
              <a:gd name="adj1" fmla="val -33944"/>
              <a:gd name="adj2" fmla="val -11273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v C nie je mo</a:t>
            </a:r>
            <a:r>
              <a:rPr lang="sk-SK" altLang="sk-SK" sz="2656">
                <a:solidFill>
                  <a:srgbClr val="000000"/>
                </a:solidFill>
              </a:rPr>
              <a:t>žné takto priradiť statickému reťazcu konštantu</a:t>
            </a:r>
            <a:endParaRPr lang="en-US" altLang="sk-SK" sz="2656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sk-SK" sz="1992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95" grpId="0" animBg="1" autoUpdateAnimBg="0"/>
      <p:bldP spid="66605" grpId="0" animBg="1" autoUpdateAnimBg="0"/>
      <p:bldP spid="36" grpId="0" animBg="1" autoUpdateAnimBg="0"/>
      <p:bldP spid="37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87C9BFD-7A4D-42D9-9FE4-F648F2B85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Štandardné funkcie pre prácu s reťazcami</a:t>
            </a:r>
            <a:endParaRPr lang="en-US" altLang="sk-SK"/>
          </a:p>
        </p:txBody>
      </p:sp>
      <p:sp>
        <p:nvSpPr>
          <p:cNvPr id="54275" name="Rectangle 4">
            <a:extLst>
              <a:ext uri="{FF2B5EF4-FFF2-40B4-BE49-F238E27FC236}">
                <a16:creationId xmlns:a16="http://schemas.microsoft.com/office/drawing/2014/main" id="{A15105B8-F2F2-4983-9D92-140D5F23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1685925"/>
            <a:ext cx="4722812" cy="5905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4276" name="Text Box 5">
            <a:extLst>
              <a:ext uri="{FF2B5EF4-FFF2-40B4-BE49-F238E27FC236}">
                <a16:creationId xmlns:a16="http://schemas.microsoft.com/office/drawing/2014/main" id="{BAABF7DF-8A1B-45D4-99EA-4832AB6D1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730375"/>
            <a:ext cx="43084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int strlen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(char *s);</a:t>
            </a:r>
          </a:p>
        </p:txBody>
      </p:sp>
      <p:sp>
        <p:nvSpPr>
          <p:cNvPr id="54277" name="Rectangle 11">
            <a:extLst>
              <a:ext uri="{FF2B5EF4-FFF2-40B4-BE49-F238E27FC236}">
                <a16:creationId xmlns:a16="http://schemas.microsoft.com/office/drawing/2014/main" id="{7A8EB9E0-5035-444E-998F-858272683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3541713"/>
            <a:ext cx="6958013" cy="64293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4278" name="Text Box 12">
            <a:extLst>
              <a:ext uri="{FF2B5EF4-FFF2-40B4-BE49-F238E27FC236}">
                <a16:creationId xmlns:a16="http://schemas.microsoft.com/office/drawing/2014/main" id="{2EBF932F-F45B-4013-B5B8-0E5E44DB7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606800"/>
            <a:ext cx="69754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char *strcpy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(char *s1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, char *s2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54279" name="Rectangle 15">
            <a:extLst>
              <a:ext uri="{FF2B5EF4-FFF2-40B4-BE49-F238E27FC236}">
                <a16:creationId xmlns:a16="http://schemas.microsoft.com/office/drawing/2014/main" id="{08D2A1B5-E41D-40D5-8F1A-355E29348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5565775"/>
            <a:ext cx="6886575" cy="64293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endParaRPr lang="sk-SK" altLang="sk-SK" sz="1992">
              <a:solidFill>
                <a:srgbClr val="000000"/>
              </a:solidFill>
            </a:endParaRPr>
          </a:p>
        </p:txBody>
      </p:sp>
      <p:sp>
        <p:nvSpPr>
          <p:cNvPr id="54280" name="Text Box 16">
            <a:extLst>
              <a:ext uri="{FF2B5EF4-FFF2-40B4-BE49-F238E27FC236}">
                <a16:creationId xmlns:a16="http://schemas.microsoft.com/office/drawing/2014/main" id="{A1C38466-E7BA-4CEB-BA58-8AA4B999D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5667375"/>
            <a:ext cx="69754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char *strc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at(char *s1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, char *s2</a:t>
            </a:r>
            <a:r>
              <a:rPr lang="en-US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54281" name="AutoShape 23">
            <a:extLst>
              <a:ext uri="{FF2B5EF4-FFF2-40B4-BE49-F238E27FC236}">
                <a16:creationId xmlns:a16="http://schemas.microsoft.com/office/drawing/2014/main" id="{84138595-D8E4-4F5A-A180-6366FC6F2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6578600"/>
            <a:ext cx="9613900" cy="588963"/>
          </a:xfrm>
          <a:prstGeom prst="wedgeRoundRectCallout">
            <a:avLst>
              <a:gd name="adj1" fmla="val -36148"/>
              <a:gd name="adj2" fmla="val -12321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pripoj</a:t>
            </a:r>
            <a:r>
              <a:rPr lang="sk-SK" altLang="sk-SK" sz="2656">
                <a:solidFill>
                  <a:srgbClr val="000000"/>
                </a:solidFill>
              </a:rPr>
              <a:t>í reťazec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s2</a:t>
            </a:r>
            <a:r>
              <a:rPr lang="sk-SK" altLang="sk-SK" sz="2656">
                <a:solidFill>
                  <a:srgbClr val="000000"/>
                </a:solidFill>
              </a:rPr>
              <a:t> k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s1</a:t>
            </a:r>
            <a:r>
              <a:rPr lang="sk-SK" altLang="sk-SK" sz="2656">
                <a:solidFill>
                  <a:srgbClr val="000000"/>
                </a:solidFill>
              </a:rPr>
              <a:t>, vracia ukazovateľ na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s1</a:t>
            </a:r>
            <a:endParaRPr lang="en-US" altLang="sk-SK" sz="2656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sk-SK" sz="1992">
              <a:solidFill>
                <a:srgbClr val="000000"/>
              </a:solidFill>
            </a:endParaRPr>
          </a:p>
        </p:txBody>
      </p:sp>
      <p:sp>
        <p:nvSpPr>
          <p:cNvPr id="54282" name="AutoShape 25">
            <a:extLst>
              <a:ext uri="{FF2B5EF4-FFF2-40B4-BE49-F238E27FC236}">
                <a16:creationId xmlns:a16="http://schemas.microsoft.com/office/drawing/2014/main" id="{2DEF4F7E-6FCA-426C-A0FC-8529F6FF9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4464050"/>
            <a:ext cx="9613900" cy="627063"/>
          </a:xfrm>
          <a:prstGeom prst="wedgeRoundRectCallout">
            <a:avLst>
              <a:gd name="adj1" fmla="val -36551"/>
              <a:gd name="adj2" fmla="val -10602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solidFill>
                  <a:srgbClr val="000000"/>
                </a:solidFill>
              </a:rPr>
              <a:t>kop</a:t>
            </a:r>
            <a:r>
              <a:rPr lang="sk-SK" altLang="sk-SK" sz="2656">
                <a:solidFill>
                  <a:srgbClr val="000000"/>
                </a:solidFill>
              </a:rPr>
              <a:t>írovanie reťazca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s2</a:t>
            </a:r>
            <a:r>
              <a:rPr lang="sk-SK" altLang="sk-SK" sz="2656">
                <a:solidFill>
                  <a:srgbClr val="000000"/>
                </a:solidFill>
              </a:rPr>
              <a:t> do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s1</a:t>
            </a:r>
            <a:r>
              <a:rPr lang="sk-SK" altLang="sk-SK" sz="2656">
                <a:solidFill>
                  <a:srgbClr val="000000"/>
                </a:solidFill>
              </a:rPr>
              <a:t>, vracia</a:t>
            </a:r>
            <a:r>
              <a:rPr lang="en-US" altLang="sk-SK" sz="2656">
                <a:solidFill>
                  <a:srgbClr val="000000"/>
                </a:solidFill>
              </a:rPr>
              <a:t> </a:t>
            </a:r>
            <a:r>
              <a:rPr lang="sk-SK" altLang="sk-SK" sz="2656">
                <a:solidFill>
                  <a:srgbClr val="000000"/>
                </a:solidFill>
              </a:rPr>
              <a:t> ukazovateľ na </a:t>
            </a:r>
            <a:r>
              <a:rPr lang="sk-SK" altLang="sk-SK" sz="2656">
                <a:solidFill>
                  <a:srgbClr val="000000"/>
                </a:solidFill>
                <a:latin typeface="Courier New" panose="02070309020205020404" pitchFamily="49" charset="0"/>
              </a:rPr>
              <a:t>s1</a:t>
            </a:r>
            <a:endParaRPr lang="en-US" altLang="sk-SK" sz="2656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4283" name="AutoShape 26">
            <a:extLst>
              <a:ext uri="{FF2B5EF4-FFF2-40B4-BE49-F238E27FC236}">
                <a16:creationId xmlns:a16="http://schemas.microsoft.com/office/drawing/2014/main" id="{6DBF23B6-BEA3-4A70-9193-2F788975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2551113"/>
            <a:ext cx="5903912" cy="590550"/>
          </a:xfrm>
          <a:prstGeom prst="wedgeRoundRectCallout">
            <a:avLst>
              <a:gd name="adj1" fmla="val -43454"/>
              <a:gd name="adj2" fmla="val -10565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k-SK" sz="2600">
                <a:solidFill>
                  <a:srgbClr val="000000"/>
                </a:solidFill>
              </a:rPr>
              <a:t>vracia d</a:t>
            </a:r>
            <a:r>
              <a:rPr lang="sk-SK" altLang="sk-SK" sz="2600">
                <a:solidFill>
                  <a:srgbClr val="000000"/>
                </a:solidFill>
              </a:rPr>
              <a:t>ĺžku reťazca (bez </a:t>
            </a:r>
            <a:r>
              <a:rPr lang="en-US" altLang="sk-SK" sz="2600">
                <a:solidFill>
                  <a:srgbClr val="000000"/>
                </a:solidFill>
                <a:latin typeface="Courier New" panose="02070309020205020404" pitchFamily="49" charset="0"/>
              </a:rPr>
              <a:t>\0</a:t>
            </a:r>
            <a:r>
              <a:rPr lang="en-US" altLang="sk-SK" sz="2600">
                <a:solidFill>
                  <a:srgbClr val="000000"/>
                </a:solidFill>
              </a:rPr>
              <a:t>)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sk-SK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DF10C46-E9D6-48FC-937F-49CE08553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Definícia štruktúry (</a:t>
            </a:r>
            <a:r>
              <a:rPr lang="en-US" altLang="sk-SK"/>
              <a:t>4</a:t>
            </a:r>
            <a:r>
              <a:rPr lang="sk-SK" altLang="sk-SK"/>
              <a:t>)</a:t>
            </a:r>
            <a:endParaRPr lang="en-US" altLang="sk-SK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078B2CB-C216-4C9C-AB53-73CB9B467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601788"/>
            <a:ext cx="905510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93" tIns="50597" rIns="101193" bIns="50597"/>
          <a:lstStyle>
            <a:lvl1pPr marL="379413" indent="-379413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2325" indent="-315913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sk-SK" sz="2767"/>
              <a:t>defin</a:t>
            </a:r>
            <a:r>
              <a:rPr lang="sk-SK" altLang="sk-SK" sz="2767"/>
              <a:t>ícia nového typu (typedef)</a:t>
            </a:r>
          </a:p>
          <a:p>
            <a:pPr lvl="1">
              <a:defRPr/>
            </a:pPr>
            <a:r>
              <a:rPr lang="sk-SK" altLang="sk-SK" sz="2324"/>
              <a:t>štruktúra nie je pomenovaná, pomenovaný je typ</a:t>
            </a:r>
          </a:p>
          <a:p>
            <a:pPr lvl="1">
              <a:defRPr/>
            </a:pPr>
            <a:r>
              <a:rPr lang="sk-SK" altLang="sk-SK" sz="2324"/>
              <a:t>typ sa dá použiť na definíciu premenných, pretypovanie...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33DD09C9-4955-40EF-B45E-1542A7332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8" y="3541713"/>
            <a:ext cx="5397500" cy="2362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78F4E8F8-9FF4-4ED6-995A-7FEBBBA91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3654425"/>
            <a:ext cx="5129212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chemeClr val="accent2"/>
                </a:solidFill>
                <a:latin typeface="Courier New" panose="02070309020205020404" pitchFamily="49" charset="0"/>
              </a:rPr>
              <a:t>typedef</a:t>
            </a:r>
            <a:r>
              <a:rPr lang="sk-SK" altLang="sk-SK" sz="2656">
                <a:latin typeface="Courier New" panose="02070309020205020404" pitchFamily="49" charset="0"/>
              </a:rPr>
              <a:t> struct</a:t>
            </a:r>
            <a:r>
              <a:rPr lang="en-US" altLang="sk-SK" sz="2656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int vyska;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float vaha;</a:t>
            </a:r>
            <a:endParaRPr lang="en-US" altLang="sk-SK" sz="2656" i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  <a:r>
              <a:rPr lang="sk-SK" altLang="sk-SK" sz="2656">
                <a:latin typeface="Courier New" panose="02070309020205020404" pitchFamily="49" charset="0"/>
              </a:rPr>
              <a:t> </a:t>
            </a:r>
            <a:r>
              <a:rPr lang="sk-SK" altLang="sk-SK" sz="2656">
                <a:solidFill>
                  <a:schemeClr val="accent2"/>
                </a:solidFill>
                <a:latin typeface="Courier New" panose="02070309020205020404" pitchFamily="49" charset="0"/>
              </a:rPr>
              <a:t>MIERY</a:t>
            </a:r>
            <a:r>
              <a:rPr lang="en-US" altLang="sk-SK" sz="2656">
                <a:solidFill>
                  <a:schemeClr val="accent2"/>
                </a:solidFill>
                <a:latin typeface="Courier New" panose="02070309020205020404" pitchFamily="49" charset="0"/>
              </a:rPr>
              <a:t>;</a:t>
            </a:r>
            <a:endParaRPr lang="sk-SK" altLang="sk-SK" sz="2656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solidFill>
                  <a:schemeClr val="accent2"/>
                </a:solidFill>
                <a:latin typeface="Courier New" panose="02070309020205020404" pitchFamily="49" charset="0"/>
              </a:rPr>
              <a:t>MIERY pavol,</a:t>
            </a:r>
            <a:r>
              <a:rPr lang="en-US" altLang="sk-SK" sz="2656">
                <a:solidFill>
                  <a:schemeClr val="accent2"/>
                </a:solidFill>
                <a:latin typeface="Courier New" panose="02070309020205020404" pitchFamily="49" charset="0"/>
              </a:rPr>
              <a:t> jan, karol;</a:t>
            </a:r>
          </a:p>
        </p:txBody>
      </p:sp>
      <p:sp>
        <p:nvSpPr>
          <p:cNvPr id="206854" name="AutoShape 6">
            <a:extLst>
              <a:ext uri="{FF2B5EF4-FFF2-40B4-BE49-F238E27FC236}">
                <a16:creationId xmlns:a16="http://schemas.microsoft.com/office/drawing/2014/main" id="{D8FA23D5-A7D4-423E-9F9E-FB24DEFBE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6662738"/>
            <a:ext cx="5414963" cy="590550"/>
          </a:xfrm>
          <a:prstGeom prst="wedgeRoundRectCallout">
            <a:avLst>
              <a:gd name="adj1" fmla="val -64796"/>
              <a:gd name="adj2" fmla="val -203273"/>
              <a:gd name="adj3" fmla="val 16667"/>
            </a:avLst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93" tIns="50597" rIns="101193" bIns="50597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656"/>
              <a:t>nebolo použité "</a:t>
            </a:r>
            <a:r>
              <a:rPr lang="sk-SK" altLang="sk-SK" sz="2656">
                <a:latin typeface="Courier New" panose="02070309020205020404" pitchFamily="49" charset="0"/>
              </a:rPr>
              <a:t>struct</a:t>
            </a:r>
            <a:r>
              <a:rPr lang="sk-SK" altLang="sk-SK" sz="2656"/>
              <a:t>"</a:t>
            </a:r>
            <a:endParaRPr lang="en-US" altLang="sk-SK" sz="2656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F306061-949F-4B72-9606-79CD1721C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Prístup k položkám štruktúry</a:t>
            </a:r>
            <a:endParaRPr lang="en-US" altLang="sk-SK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0E5E265-6443-473E-925B-DF5A561D7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517650"/>
            <a:ext cx="3943350" cy="855663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bodková notácia</a:t>
            </a:r>
            <a:endParaRPr lang="en-US" altLang="sk-SK" sz="2767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3EC8D223-84D7-4EEF-9269-5F3B1ABBD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2360613"/>
            <a:ext cx="5229225" cy="40481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1363ABF6-8227-4545-A082-2E58782D1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473325"/>
            <a:ext cx="5129213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typedef struct</a:t>
            </a:r>
            <a:r>
              <a:rPr lang="en-US" altLang="sk-SK" sz="2656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int vyska;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float vaha;</a:t>
            </a:r>
            <a:endParaRPr lang="en-US" altLang="sk-SK" sz="2656" i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  <a:r>
              <a:rPr lang="sk-SK" altLang="sk-SK" sz="2656">
                <a:latin typeface="Courier New" panose="02070309020205020404" pitchFamily="49" charset="0"/>
              </a:rPr>
              <a:t> MIERY</a:t>
            </a:r>
            <a:r>
              <a:rPr lang="en-US" altLang="sk-SK" sz="2656">
                <a:latin typeface="Courier New" panose="02070309020205020404" pitchFamily="49" charset="0"/>
              </a:rPr>
              <a:t>;</a:t>
            </a: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MIERY pavol,</a:t>
            </a:r>
            <a:r>
              <a:rPr lang="en-US" altLang="sk-SK" sz="2656">
                <a:latin typeface="Courier New" panose="02070309020205020404" pitchFamily="49" charset="0"/>
              </a:rPr>
              <a:t> jan, karol;</a:t>
            </a: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pavol.vyska = 182</a:t>
            </a:r>
            <a:r>
              <a:rPr lang="en-US" altLang="sk-SK" sz="2656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karol.vaha = 62.5;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jan.vyska = pavol.vyska;</a:t>
            </a:r>
          </a:p>
        </p:txBody>
      </p:sp>
      <p:grpSp>
        <p:nvGrpSpPr>
          <p:cNvPr id="45062" name="Group 6">
            <a:extLst>
              <a:ext uri="{FF2B5EF4-FFF2-40B4-BE49-F238E27FC236}">
                <a16:creationId xmlns:a16="http://schemas.microsoft.com/office/drawing/2014/main" id="{7A56684C-8490-4478-A6D6-76A7DA6C86FB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2459038"/>
            <a:ext cx="4916488" cy="4878387"/>
            <a:chOff x="3112" y="1400"/>
            <a:chExt cx="2799" cy="2776"/>
          </a:xfrm>
        </p:grpSpPr>
        <p:sp>
          <p:nvSpPr>
            <p:cNvPr id="58380" name="Rectangle 7">
              <a:extLst>
                <a:ext uri="{FF2B5EF4-FFF2-40B4-BE49-F238E27FC236}">
                  <a16:creationId xmlns:a16="http://schemas.microsoft.com/office/drawing/2014/main" id="{1AAA7EE2-A312-4D03-B92A-876BF894D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00"/>
              <a:ext cx="203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/>
                <a:t>často sa používa </a:t>
              </a:r>
              <a:r>
                <a:rPr lang="en-US" altLang="sk-SK" sz="2656"/>
                <a:t>pole </a:t>
              </a:r>
              <a:r>
                <a:rPr lang="sk-SK" altLang="sk-SK" sz="2656"/>
                <a:t>štruktúr</a:t>
              </a:r>
              <a:r>
                <a:rPr lang="sk-SK" altLang="sk-SK" sz="2213"/>
                <a:t>:</a:t>
              </a:r>
              <a:r>
                <a:rPr lang="sk-SK" altLang="sk-SK" sz="2656"/>
                <a:t> </a:t>
              </a:r>
              <a:endParaRPr lang="en-US" altLang="sk-SK" sz="2656"/>
            </a:p>
          </p:txBody>
        </p:sp>
        <p:sp>
          <p:nvSpPr>
            <p:cNvPr id="58381" name="Rectangle 8">
              <a:extLst>
                <a:ext uri="{FF2B5EF4-FFF2-40B4-BE49-F238E27FC236}">
                  <a16:creationId xmlns:a16="http://schemas.microsoft.com/office/drawing/2014/main" id="{66261AFE-D8FD-4FD5-AD50-29026F0FA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2016"/>
              <a:ext cx="2592" cy="216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/>
            </a:p>
          </p:txBody>
        </p:sp>
        <p:sp>
          <p:nvSpPr>
            <p:cNvPr id="58382" name="Text Box 9">
              <a:extLst>
                <a:ext uri="{FF2B5EF4-FFF2-40B4-BE49-F238E27FC236}">
                  <a16:creationId xmlns:a16="http://schemas.microsoft.com/office/drawing/2014/main" id="{41CE91EC-E428-4B3E-96E7-BCADEC4BC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032"/>
              <a:ext cx="2791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latin typeface="Courier New" panose="02070309020205020404" pitchFamily="49" charset="0"/>
                </a:rPr>
                <a:t>MIERY ludia</a:t>
              </a:r>
              <a:r>
                <a:rPr lang="en-US" altLang="sk-SK" sz="2656">
                  <a:latin typeface="Courier New" panose="02070309020205020404" pitchFamily="49" charset="0"/>
                </a:rPr>
                <a:t>[100];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sk-SK" sz="2656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>
                  <a:latin typeface="Courier New" panose="02070309020205020404" pitchFamily="49" charset="0"/>
                </a:rPr>
                <a:t>ludia[50].vyska = 156; </a:t>
              </a:r>
            </a:p>
          </p:txBody>
        </p:sp>
      </p:grpSp>
      <p:sp>
        <p:nvSpPr>
          <p:cNvPr id="209930" name="Text Box 10">
            <a:extLst>
              <a:ext uri="{FF2B5EF4-FFF2-40B4-BE49-F238E27FC236}">
                <a16:creationId xmlns:a16="http://schemas.microsoft.com/office/drawing/2014/main" id="{BB68F330-9539-47FE-B5EB-F555A2E3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513" y="5087938"/>
            <a:ext cx="45132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ludia[0] = ludia[50];</a:t>
            </a:r>
          </a:p>
        </p:txBody>
      </p:sp>
      <p:grpSp>
        <p:nvGrpSpPr>
          <p:cNvPr id="209931" name="Group 11">
            <a:extLst>
              <a:ext uri="{FF2B5EF4-FFF2-40B4-BE49-F238E27FC236}">
                <a16:creationId xmlns:a16="http://schemas.microsoft.com/office/drawing/2014/main" id="{C013044C-FE5E-41BF-B802-D37F7D9D3F2C}"/>
              </a:ext>
            </a:extLst>
          </p:cNvPr>
          <p:cNvGrpSpPr>
            <a:grpSpLocks/>
          </p:cNvGrpSpPr>
          <p:nvPr/>
        </p:nvGrpSpPr>
        <p:grpSpPr bwMode="auto">
          <a:xfrm>
            <a:off x="5665788" y="6492875"/>
            <a:ext cx="4132262" cy="674688"/>
            <a:chOff x="3216" y="3696"/>
            <a:chExt cx="2352" cy="384"/>
          </a:xfrm>
        </p:grpSpPr>
        <p:sp>
          <p:nvSpPr>
            <p:cNvPr id="58377" name="AutoShape 12">
              <a:extLst>
                <a:ext uri="{FF2B5EF4-FFF2-40B4-BE49-F238E27FC236}">
                  <a16:creationId xmlns:a16="http://schemas.microsoft.com/office/drawing/2014/main" id="{DF3B2D59-0E3B-47A3-99B2-0A206882C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744"/>
              <a:ext cx="1968" cy="288"/>
            </a:xfrm>
            <a:prstGeom prst="wedgeRoundRectCallout">
              <a:avLst>
                <a:gd name="adj1" fmla="val 2440"/>
                <a:gd name="adj2" fmla="val -223264"/>
                <a:gd name="adj3" fmla="val 16667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/>
            </a:p>
          </p:txBody>
        </p:sp>
        <p:sp>
          <p:nvSpPr>
            <p:cNvPr id="58378" name="AutoShape 13">
              <a:extLst>
                <a:ext uri="{FF2B5EF4-FFF2-40B4-BE49-F238E27FC236}">
                  <a16:creationId xmlns:a16="http://schemas.microsoft.com/office/drawing/2014/main" id="{A0CEBADF-210D-417E-9A4E-8CB6C1578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696"/>
              <a:ext cx="2352" cy="384"/>
            </a:xfrm>
            <a:prstGeom prst="wedgeRoundRectCallout">
              <a:avLst>
                <a:gd name="adj1" fmla="val -121514"/>
                <a:gd name="adj2" fmla="val -79690"/>
                <a:gd name="adj3" fmla="val 16667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/>
                <a:t>v ANSI C sa d</a:t>
              </a:r>
              <a:r>
                <a:rPr lang="sk-SK" altLang="sk-SK" sz="2656"/>
                <a:t>á urobiť</a:t>
              </a:r>
              <a:endParaRPr lang="en-US" altLang="sk-SK" sz="2656"/>
            </a:p>
          </p:txBody>
        </p:sp>
        <p:sp>
          <p:nvSpPr>
            <p:cNvPr id="58379" name="Line 14">
              <a:extLst>
                <a:ext uri="{FF2B5EF4-FFF2-40B4-BE49-F238E27FC236}">
                  <a16:creationId xmlns:a16="http://schemas.microsoft.com/office/drawing/2014/main" id="{C62000B1-C05A-4C58-8ADE-D37D8F8AA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" y="3696"/>
              <a:ext cx="43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577BA23-D1DC-44A6-8027-0B176409B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Pole v štruktúre</a:t>
            </a:r>
            <a:endParaRPr lang="en-US" altLang="sk-SK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CAC31C4-16BE-48A9-8786-48F27B02C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685925"/>
            <a:ext cx="4216400" cy="43021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09CDAF74-BD76-48C4-8608-BA241568E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798638"/>
            <a:ext cx="3898900" cy="418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typedef struct</a:t>
            </a:r>
            <a:r>
              <a:rPr lang="en-US" altLang="sk-SK" sz="2656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int pole[10];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  <a:r>
              <a:rPr lang="sk-SK" altLang="sk-SK" sz="2656">
                <a:latin typeface="Courier New" panose="02070309020205020404" pitchFamily="49" charset="0"/>
              </a:rPr>
              <a:t> </a:t>
            </a:r>
            <a:r>
              <a:rPr lang="en-US" altLang="sk-SK" sz="2656">
                <a:latin typeface="Courier New" panose="02070309020205020404" pitchFamily="49" charset="0"/>
              </a:rPr>
              <a:t>STR_POLE;</a:t>
            </a: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void main()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STR_POLE a, b;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a.pole[0] = 5;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b = 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210949" name="Group 5">
            <a:extLst>
              <a:ext uri="{FF2B5EF4-FFF2-40B4-BE49-F238E27FC236}">
                <a16:creationId xmlns:a16="http://schemas.microsoft.com/office/drawing/2014/main" id="{6601F2AB-7331-4F25-839E-587561F6CA24}"/>
              </a:ext>
            </a:extLst>
          </p:cNvPr>
          <p:cNvGrpSpPr>
            <a:grpSpLocks/>
          </p:cNvGrpSpPr>
          <p:nvPr/>
        </p:nvGrpSpPr>
        <p:grpSpPr bwMode="auto">
          <a:xfrm>
            <a:off x="4738688" y="3879850"/>
            <a:ext cx="5059362" cy="1685925"/>
            <a:chOff x="2688" y="2208"/>
            <a:chExt cx="2880" cy="960"/>
          </a:xfrm>
        </p:grpSpPr>
        <p:sp>
          <p:nvSpPr>
            <p:cNvPr id="59398" name="AutoShape 6">
              <a:extLst>
                <a:ext uri="{FF2B5EF4-FFF2-40B4-BE49-F238E27FC236}">
                  <a16:creationId xmlns:a16="http://schemas.microsoft.com/office/drawing/2014/main" id="{AE222AAB-6D38-48AD-94E6-0EC98B18C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304"/>
              <a:ext cx="2496" cy="720"/>
            </a:xfrm>
            <a:prstGeom prst="wedgeRoundRectCallout">
              <a:avLst>
                <a:gd name="adj1" fmla="val -97676"/>
                <a:gd name="adj2" fmla="val 56528"/>
                <a:gd name="adj3" fmla="val 16667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/>
            </a:p>
          </p:txBody>
        </p:sp>
        <p:sp>
          <p:nvSpPr>
            <p:cNvPr id="59399" name="AutoShape 7">
              <a:extLst>
                <a:ext uri="{FF2B5EF4-FFF2-40B4-BE49-F238E27FC236}">
                  <a16:creationId xmlns:a16="http://schemas.microsoft.com/office/drawing/2014/main" id="{DFA05084-FB96-4441-8997-F83101552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208"/>
              <a:ext cx="2880" cy="960"/>
            </a:xfrm>
            <a:prstGeom prst="wedgeRoundRectCallout">
              <a:avLst>
                <a:gd name="adj1" fmla="val -85037"/>
                <a:gd name="adj2" fmla="val -134792"/>
                <a:gd name="adj3" fmla="val 16667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656"/>
                <a:t>takto sa d</a:t>
              </a:r>
              <a:r>
                <a:rPr lang="sk-SK" altLang="sk-SK" sz="2656"/>
                <a:t>á použiť štruktúra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/>
                <a:t>na to, aby sa dalo </a:t>
              </a:r>
              <a:r>
                <a:rPr lang="en-US" altLang="sk-SK" sz="2656"/>
                <a:t>naraz </a:t>
              </a:r>
              <a:r>
                <a:rPr lang="sk-SK" altLang="sk-SK" sz="2656"/>
                <a:t>skopírovať</a:t>
              </a:r>
              <a:r>
                <a:rPr lang="en-US" altLang="sk-SK" sz="2656"/>
                <a:t> </a:t>
              </a:r>
              <a:r>
                <a:rPr lang="sk-SK" altLang="sk-SK" sz="2656"/>
                <a:t>celé pole</a:t>
              </a:r>
              <a:endParaRPr lang="en-US" altLang="sk-SK" sz="2656"/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sk-SK" sz="2213"/>
            </a:p>
          </p:txBody>
        </p:sp>
        <p:sp>
          <p:nvSpPr>
            <p:cNvPr id="59400" name="Line 8">
              <a:extLst>
                <a:ext uri="{FF2B5EF4-FFF2-40B4-BE49-F238E27FC236}">
                  <a16:creationId xmlns:a16="http://schemas.microsoft.com/office/drawing/2014/main" id="{A32C9E8A-D8E5-496C-811C-0FDD2E2FD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766"/>
              <a:ext cx="0" cy="14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36442BF-3B81-4851-B588-C75A0F552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Štruktúra v inej štruktúre</a:t>
            </a:r>
            <a:endParaRPr lang="en-US" altLang="sk-SK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FB4C412-8086-47EB-BE6B-F49F7B4EE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725" y="1800225"/>
            <a:ext cx="9721850" cy="1719263"/>
          </a:xfrm>
        </p:spPr>
        <p:txBody>
          <a:bodyPr/>
          <a:lstStyle/>
          <a:p>
            <a:pPr>
              <a:defRPr/>
            </a:pPr>
            <a:r>
              <a:rPr lang="sk-SK" altLang="sk-SK" sz="2656"/>
              <a:t>štruktúra, ktorá je v inej štruktúre musí byť definovaná skôr ako je do inej štruktúry uložená (vhniezdená štruktúra)</a:t>
            </a:r>
          </a:p>
          <a:p>
            <a:pPr lvl="1">
              <a:defRPr/>
            </a:pPr>
            <a:r>
              <a:rPr lang="sk-SK" altLang="sk-SK" sz="2213"/>
              <a:t>predtým sme mali len odkaz na štruktúru</a:t>
            </a:r>
            <a:endParaRPr lang="en-US" altLang="sk-SK" sz="2213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6F076E7-EDD8-4330-A0EC-E821C7D54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63" y="3470275"/>
            <a:ext cx="4384675" cy="21621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CCB768F6-9526-4309-B1B1-D62CEA33D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3525838"/>
            <a:ext cx="4102100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typedef struct</a:t>
            </a:r>
            <a:r>
              <a:rPr lang="en-US" altLang="sk-SK" sz="2656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    char ulica</a:t>
            </a:r>
            <a:r>
              <a:rPr lang="en-US" altLang="sk-SK" sz="2656">
                <a:latin typeface="Courier New" panose="02070309020205020404" pitchFamily="49" charset="0"/>
              </a:rPr>
              <a:t>[30];</a:t>
            </a: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    </a:t>
            </a:r>
            <a:r>
              <a:rPr lang="en-US" altLang="sk-SK" sz="2656">
                <a:latin typeface="Courier New" panose="02070309020205020404" pitchFamily="49" charset="0"/>
              </a:rPr>
              <a:t>int cislo;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  <a:r>
              <a:rPr lang="sk-SK" altLang="sk-SK" sz="2656">
                <a:latin typeface="Courier New" panose="02070309020205020404" pitchFamily="49" charset="0"/>
              </a:rPr>
              <a:t> </a:t>
            </a:r>
            <a:r>
              <a:rPr lang="en-US" altLang="sk-SK" sz="2656">
                <a:latin typeface="Courier New" panose="02070309020205020404" pitchFamily="49" charset="0"/>
              </a:rPr>
              <a:t>ADRESA;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sk-SK" sz="2656">
              <a:latin typeface="Courier New" panose="02070309020205020404" pitchFamily="49" charset="0"/>
            </a:endParaRP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CD1BC67E-66E9-49F6-9326-240F6D01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363" y="3455988"/>
            <a:ext cx="4065587" cy="221138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60423" name="Text Box 7">
            <a:extLst>
              <a:ext uri="{FF2B5EF4-FFF2-40B4-BE49-F238E27FC236}">
                <a16:creationId xmlns:a16="http://schemas.microsoft.com/office/drawing/2014/main" id="{598E2BA4-A344-4CC2-908F-93C9FC556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3486150"/>
            <a:ext cx="3897313" cy="214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typedef struct</a:t>
            </a:r>
            <a:r>
              <a:rPr lang="en-US" altLang="sk-SK" sz="2656">
                <a:latin typeface="Courier New" panose="02070309020205020404" pitchFamily="49" charset="0"/>
              </a:rPr>
              <a:t> 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    </a:t>
            </a:r>
            <a:r>
              <a:rPr lang="en-US" altLang="sk-SK" sz="2656">
                <a:latin typeface="Courier New" panose="02070309020205020404" pitchFamily="49" charset="0"/>
              </a:rPr>
              <a:t>char meno[30];</a:t>
            </a:r>
            <a:endParaRPr lang="sk-SK" altLang="sk-SK" sz="2656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656">
                <a:latin typeface="Courier New" panose="02070309020205020404" pitchFamily="49" charset="0"/>
              </a:rPr>
              <a:t>    </a:t>
            </a:r>
            <a:r>
              <a:rPr lang="en-US" altLang="sk-SK" sz="2656">
                <a:latin typeface="Courier New" panose="02070309020205020404" pitchFamily="49" charset="0"/>
              </a:rPr>
              <a:t>ADRESA adresa;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    float plat;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656">
                <a:latin typeface="Courier New" panose="02070309020205020404" pitchFamily="49" charset="0"/>
              </a:rPr>
              <a:t>}</a:t>
            </a:r>
            <a:r>
              <a:rPr lang="sk-SK" altLang="sk-SK" sz="2656">
                <a:latin typeface="Courier New" panose="02070309020205020404" pitchFamily="49" charset="0"/>
              </a:rPr>
              <a:t> </a:t>
            </a:r>
            <a:r>
              <a:rPr lang="en-US" altLang="sk-SK" sz="2656">
                <a:latin typeface="Courier New" panose="02070309020205020404" pitchFamily="49" charset="0"/>
              </a:rPr>
              <a:t>OSOBA;</a:t>
            </a:r>
          </a:p>
        </p:txBody>
      </p:sp>
      <p:sp>
        <p:nvSpPr>
          <p:cNvPr id="60424" name="Rectangle 8">
            <a:extLst>
              <a:ext uri="{FF2B5EF4-FFF2-40B4-BE49-F238E27FC236}">
                <a16:creationId xmlns:a16="http://schemas.microsoft.com/office/drawing/2014/main" id="{222DA705-5AB2-4A29-AB2D-324BF4CA4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6040438"/>
            <a:ext cx="8807450" cy="116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93" tIns="50597" rIns="101193" bIns="50597"/>
          <a:lstStyle>
            <a:lvl1pPr marL="379413" indent="-379413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  <a:defRPr/>
            </a:pPr>
            <a:r>
              <a:rPr lang="en-US" altLang="sk-SK" sz="2656"/>
              <a:t>pr</a:t>
            </a:r>
            <a:r>
              <a:rPr lang="sk-SK" altLang="sk-SK" sz="2656"/>
              <a:t>íklad: vypísať adresu zamestnanca s najvyšším platom </a:t>
            </a:r>
          </a:p>
          <a:p>
            <a:pPr>
              <a:buFontTx/>
              <a:buNone/>
              <a:defRPr/>
            </a:pPr>
            <a:r>
              <a:rPr lang="sk-SK" altLang="sk-SK" sz="2656"/>
              <a:t>             (</a:t>
            </a:r>
            <a:r>
              <a:rPr lang="sk-SK" altLang="sk-SK" sz="2656">
                <a:latin typeface="Courier New" panose="02070309020205020404" pitchFamily="49" charset="0"/>
              </a:rPr>
              <a:t>OSOBA ludia</a:t>
            </a:r>
            <a:r>
              <a:rPr lang="en-US" altLang="sk-SK" sz="2656">
                <a:latin typeface="Courier New" panose="02070309020205020404" pitchFamily="49" charset="0"/>
              </a:rPr>
              <a:t>[100]</a:t>
            </a:r>
            <a:r>
              <a:rPr lang="en-US" altLang="sk-SK" sz="2656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1AD65C3-0053-44DB-98DF-0606797EA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Príklad: štruktúra v inej štruktúre</a:t>
            </a:r>
            <a:endParaRPr lang="en-US" altLang="sk-SK"/>
          </a:p>
        </p:txBody>
      </p:sp>
      <p:sp>
        <p:nvSpPr>
          <p:cNvPr id="61443" name="Rectangle 10">
            <a:extLst>
              <a:ext uri="{FF2B5EF4-FFF2-40B4-BE49-F238E27FC236}">
                <a16:creationId xmlns:a16="http://schemas.microsoft.com/office/drawing/2014/main" id="{C54C9B54-2239-4958-9209-5AB31716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8" y="1797050"/>
            <a:ext cx="3405187" cy="363378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93" tIns="50597" rIns="101193" bIns="50597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/>
          </a:p>
        </p:txBody>
      </p:sp>
      <p:sp>
        <p:nvSpPr>
          <p:cNvPr id="61444" name="Text Box 11">
            <a:extLst>
              <a:ext uri="{FF2B5EF4-FFF2-40B4-BE49-F238E27FC236}">
                <a16:creationId xmlns:a16="http://schemas.microsoft.com/office/drawing/2014/main" id="{DBE2517E-E4A9-4FAD-BBD4-F1215E180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846263"/>
            <a:ext cx="3408362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93" tIns="50597" rIns="101193" bIns="50597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typedef struct</a:t>
            </a:r>
            <a:r>
              <a:rPr lang="en-US" altLang="sk-SK" sz="2213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 char ulica</a:t>
            </a:r>
            <a:r>
              <a:rPr lang="en-US" altLang="sk-SK" sz="2213">
                <a:latin typeface="Courier New" panose="02070309020205020404" pitchFamily="49" charset="0"/>
              </a:rPr>
              <a:t>[30];</a:t>
            </a:r>
            <a:endParaRPr lang="sk-SK" altLang="sk-SK" sz="2213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 </a:t>
            </a:r>
            <a:r>
              <a:rPr lang="en-US" altLang="sk-SK" sz="2213">
                <a:latin typeface="Courier New" panose="02070309020205020404" pitchFamily="49" charset="0"/>
              </a:rPr>
              <a:t>int cislo;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}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ADRESA;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sk-SK" sz="2213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typedef struct</a:t>
            </a:r>
            <a:r>
              <a:rPr lang="en-US" altLang="sk-SK" sz="2213">
                <a:latin typeface="Courier New" panose="02070309020205020404" pitchFamily="49" charset="0"/>
              </a:rPr>
              <a:t>  {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 </a:t>
            </a:r>
            <a:r>
              <a:rPr lang="en-US" altLang="sk-SK" sz="2213">
                <a:latin typeface="Courier New" panose="02070309020205020404" pitchFamily="49" charset="0"/>
              </a:rPr>
              <a:t>char meno[30];</a:t>
            </a:r>
            <a:endParaRPr lang="sk-SK" altLang="sk-SK" sz="2213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 </a:t>
            </a:r>
            <a:r>
              <a:rPr lang="en-US" altLang="sk-SK" sz="2213">
                <a:latin typeface="Courier New" panose="02070309020205020404" pitchFamily="49" charset="0"/>
              </a:rPr>
              <a:t>ADRESA adresa;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float plat;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}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OSOBA;</a:t>
            </a:r>
          </a:p>
        </p:txBody>
      </p:sp>
      <p:grpSp>
        <p:nvGrpSpPr>
          <p:cNvPr id="152592" name="Group 16">
            <a:extLst>
              <a:ext uri="{FF2B5EF4-FFF2-40B4-BE49-F238E27FC236}">
                <a16:creationId xmlns:a16="http://schemas.microsoft.com/office/drawing/2014/main" id="{C06E4807-F4E2-4F55-B043-DF658DFD858E}"/>
              </a:ext>
            </a:extLst>
          </p:cNvPr>
          <p:cNvGrpSpPr>
            <a:grpSpLocks/>
          </p:cNvGrpSpPr>
          <p:nvPr/>
        </p:nvGrpSpPr>
        <p:grpSpPr bwMode="auto">
          <a:xfrm>
            <a:off x="3541713" y="1824038"/>
            <a:ext cx="6551612" cy="4352925"/>
            <a:chOff x="2007" y="1038"/>
            <a:chExt cx="3729" cy="2478"/>
          </a:xfrm>
        </p:grpSpPr>
        <p:sp>
          <p:nvSpPr>
            <p:cNvPr id="61449" name="Rectangle 12">
              <a:extLst>
                <a:ext uri="{FF2B5EF4-FFF2-40B4-BE49-F238E27FC236}">
                  <a16:creationId xmlns:a16="http://schemas.microsoft.com/office/drawing/2014/main" id="{EC69F5DD-0E5D-4732-A760-924D7D7DE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" y="1038"/>
              <a:ext cx="3729" cy="247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/>
            </a:p>
          </p:txBody>
        </p:sp>
        <p:sp>
          <p:nvSpPr>
            <p:cNvPr id="61450" name="Text Box 13">
              <a:extLst>
                <a:ext uri="{FF2B5EF4-FFF2-40B4-BE49-F238E27FC236}">
                  <a16:creationId xmlns:a16="http://schemas.microsoft.com/office/drawing/2014/main" id="{34C23A81-F5D3-4121-87B3-908FBA526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1099"/>
              <a:ext cx="3684" cy="2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int i, kto = 0;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float max = 0.0, pom;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OSOBA ludia[100];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sk-SK" sz="2213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... /* inicializacia */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sk-SK" sz="2213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for (i = 0; i &lt; 100; i++)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    if((pom = ludia[i].plat) &gt; max) {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       max = pom;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       kto = i;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    }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}</a:t>
              </a:r>
            </a:p>
          </p:txBody>
        </p:sp>
      </p:grpSp>
      <p:grpSp>
        <p:nvGrpSpPr>
          <p:cNvPr id="152593" name="Group 17">
            <a:extLst>
              <a:ext uri="{FF2B5EF4-FFF2-40B4-BE49-F238E27FC236}">
                <a16:creationId xmlns:a16="http://schemas.microsoft.com/office/drawing/2014/main" id="{878C989C-F1C3-4FB3-8ACF-53DA35FCADAE}"/>
              </a:ext>
            </a:extLst>
          </p:cNvPr>
          <p:cNvGrpSpPr>
            <a:grpSpLocks/>
          </p:cNvGrpSpPr>
          <p:nvPr/>
        </p:nvGrpSpPr>
        <p:grpSpPr bwMode="auto">
          <a:xfrm>
            <a:off x="839788" y="6202363"/>
            <a:ext cx="9267825" cy="1200150"/>
            <a:chOff x="469" y="3530"/>
            <a:chExt cx="5275" cy="683"/>
          </a:xfrm>
        </p:grpSpPr>
        <p:sp>
          <p:nvSpPr>
            <p:cNvPr id="61447" name="Rectangle 15">
              <a:extLst>
                <a:ext uri="{FF2B5EF4-FFF2-40B4-BE49-F238E27FC236}">
                  <a16:creationId xmlns:a16="http://schemas.microsoft.com/office/drawing/2014/main" id="{D0982582-49FB-4826-B338-BA23D1C84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3530"/>
              <a:ext cx="5275" cy="68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/>
            </a:p>
          </p:txBody>
        </p:sp>
        <p:sp>
          <p:nvSpPr>
            <p:cNvPr id="61448" name="Rectangle 14">
              <a:extLst>
                <a:ext uri="{FF2B5EF4-FFF2-40B4-BE49-F238E27FC236}">
                  <a16:creationId xmlns:a16="http://schemas.microsoft.com/office/drawing/2014/main" id="{0CADC1EF-614A-4A16-9A51-CF89DE91B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611"/>
              <a:ext cx="5143" cy="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printf("Zamestnanec s najvyssim platom byva: %s %d",</a:t>
              </a:r>
              <a:endParaRPr lang="sk-SK" altLang="sk-SK" sz="2213">
                <a:latin typeface="Courier New" panose="02070309020205020404" pitchFamily="49" charset="0"/>
              </a:endParaRPr>
            </a:p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ludia[kto].adresa.ulica, ludia[kto].adresa.cislo);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343B6A8-C26E-4156-B67B-5EFD89525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Globálne a lokálne premenné</a:t>
            </a:r>
            <a:endParaRPr lang="en-US" altLang="sk-SK"/>
          </a:p>
        </p:txBody>
      </p:sp>
      <p:sp>
        <p:nvSpPr>
          <p:cNvPr id="62467" name="Rectangle 4">
            <a:extLst>
              <a:ext uri="{FF2B5EF4-FFF2-40B4-BE49-F238E27FC236}">
                <a16:creationId xmlns:a16="http://schemas.microsoft.com/office/drawing/2014/main" id="{9A32B784-8319-4DFF-99D0-6A86EAB10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4291013"/>
            <a:ext cx="7412037" cy="3984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62468" name="Text Box 5">
            <a:extLst>
              <a:ext uri="{FF2B5EF4-FFF2-40B4-BE49-F238E27FC236}">
                <a16:creationId xmlns:a16="http://schemas.microsoft.com/office/drawing/2014/main" id="{D0AA4971-2F18-4E7F-9376-50D86FBEF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716088"/>
            <a:ext cx="8043863" cy="554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float</a:t>
            </a:r>
            <a:r>
              <a:rPr lang="sk-SK" altLang="sk-SK" sz="2213">
                <a:latin typeface="Courier New" panose="02070309020205020404" pitchFamily="49" charset="0"/>
              </a:rPr>
              <a:t> x</a:t>
            </a:r>
            <a:r>
              <a:rPr lang="en-US" altLang="sk-SK" sz="2213">
                <a:latin typeface="Courier New" panose="02070309020205020404" pitchFamily="49" charset="0"/>
              </a:rPr>
              <a:t>;	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int</a:t>
            </a:r>
            <a:r>
              <a:rPr lang="sk-SK" altLang="sk-SK" sz="2213">
                <a:latin typeface="Courier New" panose="02070309020205020404" pitchFamily="49" charset="0"/>
              </a:rPr>
              <a:t> main()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int </a:t>
            </a:r>
            <a:r>
              <a:rPr lang="sk-SK" altLang="sk-SK" sz="2213">
                <a:latin typeface="Courier New" panose="02070309020205020404" pitchFamily="49" charset="0"/>
              </a:rPr>
              <a:t>n</a:t>
            </a:r>
            <a:r>
              <a:rPr lang="en-US" altLang="sk-SK" sz="2213">
                <a:latin typeface="Courier New" panose="02070309020205020404" pitchFamily="49" charset="0"/>
              </a:rPr>
              <a:t>;</a:t>
            </a:r>
            <a:endParaRPr lang="sk-SK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</a:t>
            </a:r>
            <a:r>
              <a:rPr lang="en-US" altLang="sk-SK" sz="2213">
                <a:latin typeface="Courier New" panose="02070309020205020404" pitchFamily="49" charset="0"/>
              </a:rPr>
              <a:t>OSOBA ludia[100];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…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   najdi(ludia, n)</a:t>
            </a:r>
            <a:r>
              <a:rPr lang="en-US" altLang="sk-SK" sz="2213">
                <a:latin typeface="Courier New" panose="02070309020205020404" pitchFamily="49" charset="0"/>
              </a:rPr>
              <a:t>;</a:t>
            </a:r>
            <a:endParaRPr lang="sk-SK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return </a:t>
            </a:r>
            <a:r>
              <a:rPr lang="sk-SK" altLang="sk-SK" sz="2213">
                <a:latin typeface="Courier New" panose="02070309020205020404" pitchFamily="49" charset="0"/>
              </a:rPr>
              <a:t>0</a:t>
            </a:r>
            <a:r>
              <a:rPr lang="en-US" altLang="sk-SK" sz="2213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}</a:t>
            </a:r>
            <a:endParaRPr lang="sk-SK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void najdi(</a:t>
            </a:r>
            <a:r>
              <a:rPr lang="en-US" altLang="sk-SK" sz="2213">
                <a:latin typeface="Courier New" panose="02070309020205020404" pitchFamily="49" charset="0"/>
              </a:rPr>
              <a:t>OSOBA l[], int n)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…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for(i=0; i&lt;n; i++)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l[i].plat = x;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9398" name="AutoShape 6">
            <a:extLst>
              <a:ext uri="{FF2B5EF4-FFF2-40B4-BE49-F238E27FC236}">
                <a16:creationId xmlns:a16="http://schemas.microsoft.com/office/drawing/2014/main" id="{A6D9800A-1429-4E1F-98E0-A0BDCCBA8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333500"/>
            <a:ext cx="3665538" cy="609600"/>
          </a:xfrm>
          <a:prstGeom prst="wedgeRoundRectCallout">
            <a:avLst>
              <a:gd name="adj1" fmla="val -57343"/>
              <a:gd name="adj2" fmla="val 6284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767"/>
              <a:t>gl</a:t>
            </a:r>
            <a:r>
              <a:rPr lang="sk-SK" altLang="sk-SK" sz="2767"/>
              <a:t>obáln</a:t>
            </a:r>
            <a:r>
              <a:rPr lang="en-US" altLang="sk-SK" sz="2767"/>
              <a:t>a</a:t>
            </a:r>
            <a:r>
              <a:rPr lang="sk-SK" altLang="sk-SK" sz="2767"/>
              <a:t> premenná</a:t>
            </a:r>
            <a:endParaRPr lang="en-US" altLang="sk-SK" sz="2767"/>
          </a:p>
        </p:txBody>
      </p:sp>
      <p:sp>
        <p:nvSpPr>
          <p:cNvPr id="59401" name="AutoShape 9">
            <a:extLst>
              <a:ext uri="{FF2B5EF4-FFF2-40B4-BE49-F238E27FC236}">
                <a16:creationId xmlns:a16="http://schemas.microsoft.com/office/drawing/2014/main" id="{48B7E3D5-AC05-469F-8E89-62D67B1F8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3395663"/>
            <a:ext cx="5338763" cy="1219200"/>
          </a:xfrm>
          <a:prstGeom prst="wedgeRoundRectCallout">
            <a:avLst>
              <a:gd name="adj1" fmla="val -53782"/>
              <a:gd name="adj2" fmla="val 111815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767"/>
              <a:t>Ak má byť premenná lokálna - prenos cez argumenty</a:t>
            </a:r>
            <a:endParaRPr lang="en-US" altLang="sk-SK" sz="2767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8" grpId="0" animBg="1" autoUpdateAnimBg="0"/>
      <p:bldP spid="59401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739B277-8F26-4F9D-A69F-F175AE5FD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Jednoduché dátové typy</a:t>
            </a:r>
            <a:endParaRPr lang="en-US" altLang="sk-SK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74E875A-2E91-46E6-92B5-CE4E3D56D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688" y="1828800"/>
            <a:ext cx="9801225" cy="4876800"/>
          </a:xfrm>
        </p:spPr>
        <p:txBody>
          <a:bodyPr/>
          <a:lstStyle/>
          <a:p>
            <a:pPr>
              <a:defRPr/>
            </a:pPr>
            <a:r>
              <a:rPr lang="sk-SK" altLang="sk-SK" sz="2767"/>
              <a:t>C zaručuje, že platí:</a:t>
            </a:r>
          </a:p>
          <a:p>
            <a:pPr lvl="1">
              <a:defRPr/>
            </a:pPr>
            <a:r>
              <a:rPr lang="sk-SK" altLang="sk-SK" sz="2435"/>
              <a:t>sizeof(</a:t>
            </a:r>
            <a:r>
              <a:rPr lang="sk-SK" altLang="sk-SK" sz="2435" b="1">
                <a:latin typeface="Courier New" pitchFamily="49" charset="0"/>
              </a:rPr>
              <a:t>char</a:t>
            </a:r>
            <a:r>
              <a:rPr lang="en-US" altLang="sk-SK" sz="2435"/>
              <a:t>) = 1 Byte</a:t>
            </a:r>
          </a:p>
          <a:p>
            <a:pPr lvl="1">
              <a:defRPr/>
            </a:pP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short </a:t>
            </a:r>
            <a:r>
              <a:rPr lang="en-US" altLang="sk-SK" sz="2435" b="1" err="1">
                <a:latin typeface="Courier New" pitchFamily="49" charset="0"/>
              </a:rPr>
              <a:t>int</a:t>
            </a:r>
            <a:r>
              <a:rPr lang="en-US" altLang="sk-SK" sz="2435"/>
              <a:t>) &lt;= </a:t>
            </a: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 err="1">
                <a:latin typeface="Courier New" pitchFamily="49" charset="0"/>
              </a:rPr>
              <a:t>int</a:t>
            </a:r>
            <a:r>
              <a:rPr lang="en-US" altLang="sk-SK" sz="2435"/>
              <a:t>) &lt;= </a:t>
            </a: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long </a:t>
            </a:r>
            <a:r>
              <a:rPr lang="en-US" altLang="sk-SK" sz="2435" b="1" err="1">
                <a:latin typeface="Courier New" pitchFamily="49" charset="0"/>
              </a:rPr>
              <a:t>int</a:t>
            </a:r>
            <a:r>
              <a:rPr lang="en-US" altLang="sk-SK" sz="2435"/>
              <a:t>)</a:t>
            </a:r>
          </a:p>
          <a:p>
            <a:pPr lvl="1">
              <a:defRPr/>
            </a:pP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unsigned </a:t>
            </a:r>
            <a:r>
              <a:rPr lang="en-US" altLang="sk-SK" sz="2435" b="1" err="1">
                <a:latin typeface="Courier New" pitchFamily="49" charset="0"/>
              </a:rPr>
              <a:t>int</a:t>
            </a:r>
            <a:r>
              <a:rPr lang="en-US" altLang="sk-SK" sz="2435"/>
              <a:t>) = </a:t>
            </a: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signed </a:t>
            </a:r>
            <a:r>
              <a:rPr lang="en-US" altLang="sk-SK" sz="2435" b="1" err="1">
                <a:latin typeface="Courier New" pitchFamily="49" charset="0"/>
              </a:rPr>
              <a:t>int</a:t>
            </a:r>
            <a:r>
              <a:rPr lang="en-US" altLang="sk-SK" sz="2435"/>
              <a:t>)</a:t>
            </a:r>
          </a:p>
          <a:p>
            <a:pPr lvl="1">
              <a:defRPr/>
            </a:pP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float</a:t>
            </a:r>
            <a:r>
              <a:rPr lang="en-US" altLang="sk-SK" sz="2435"/>
              <a:t>) &lt;= </a:t>
            </a: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double</a:t>
            </a:r>
            <a:r>
              <a:rPr lang="en-US" altLang="sk-SK" sz="2435"/>
              <a:t>) &lt;= </a:t>
            </a:r>
            <a:r>
              <a:rPr lang="en-US" altLang="sk-SK" sz="2435" err="1"/>
              <a:t>sizeof</a:t>
            </a:r>
            <a:r>
              <a:rPr lang="en-US" altLang="sk-SK" sz="2435"/>
              <a:t>(</a:t>
            </a:r>
            <a:r>
              <a:rPr lang="en-US" altLang="sk-SK" sz="2435" b="1">
                <a:latin typeface="Courier New" pitchFamily="49" charset="0"/>
              </a:rPr>
              <a:t>long double</a:t>
            </a:r>
            <a:r>
              <a:rPr lang="en-US" altLang="sk-SK" sz="2435"/>
              <a:t>)</a:t>
            </a:r>
          </a:p>
          <a:p>
            <a:pPr lvl="1">
              <a:defRPr/>
            </a:pPr>
            <a:endParaRPr lang="en-US" altLang="sk-SK" sz="2435"/>
          </a:p>
          <a:p>
            <a:pPr lvl="1">
              <a:defRPr/>
            </a:pPr>
            <a:r>
              <a:rPr lang="en-US" altLang="sk-SK" sz="2435"/>
              <a:t>Pre </a:t>
            </a:r>
            <a:r>
              <a:rPr lang="en-US" altLang="sk-SK" sz="2435" err="1"/>
              <a:t>defin</a:t>
            </a:r>
            <a:r>
              <a:rPr lang="sk-SK" altLang="sk-SK" sz="2435"/>
              <a:t>íciu: </a:t>
            </a:r>
            <a:r>
              <a:rPr lang="en-US" altLang="sk-SK" sz="2435" b="1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 pole[100];</a:t>
            </a:r>
            <a:endParaRPr lang="sk-SK" altLang="sk-SK" sz="2435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5983" lvl="1" indent="0">
              <a:buFontTx/>
              <a:buNone/>
              <a:defRPr/>
            </a:pPr>
            <a:r>
              <a:rPr lang="en-US" altLang="sk-SK" sz="2435">
                <a:cs typeface="Courier New" panose="02070309020205020404" pitchFamily="49" charset="0"/>
              </a:rPr>
              <a:t>    </a:t>
            </a:r>
            <a:r>
              <a:rPr lang="en-US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sk-SK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lzka = sizeof</a:t>
            </a:r>
            <a:r>
              <a:rPr lang="en-US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(pole) / </a:t>
            </a:r>
            <a:r>
              <a:rPr lang="en-US" altLang="sk-SK" sz="2435" b="1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k-SK" sz="2435" b="1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sk-SK" sz="2435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505983" lvl="1" indent="0">
              <a:buFontTx/>
              <a:buNone/>
              <a:defRPr/>
            </a:pPr>
            <a:endParaRPr lang="sk-SK" altLang="sk-SK" sz="2435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348" name="AutoShape 4">
            <a:extLst>
              <a:ext uri="{FF2B5EF4-FFF2-40B4-BE49-F238E27FC236}">
                <a16:creationId xmlns:a16="http://schemas.microsoft.com/office/drawing/2014/main" id="{8B3F635B-5C3A-472E-854F-0D0E0DD3E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447800"/>
            <a:ext cx="3568700" cy="915988"/>
          </a:xfrm>
          <a:prstGeom prst="wedgeRoundRectCallout">
            <a:avLst>
              <a:gd name="adj1" fmla="val -51995"/>
              <a:gd name="adj2" fmla="val 9219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81" tIns="45640" rIns="91281" bIns="45640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vráti počet Bytov typu alebo premennej</a:t>
            </a:r>
            <a:endParaRPr lang="en-US" altLang="sk-SK" sz="1992"/>
          </a:p>
        </p:txBody>
      </p:sp>
      <p:sp>
        <p:nvSpPr>
          <p:cNvPr id="63493" name="Rounded Rectangular Callout 1">
            <a:extLst>
              <a:ext uri="{FF2B5EF4-FFF2-40B4-BE49-F238E27FC236}">
                <a16:creationId xmlns:a16="http://schemas.microsoft.com/office/drawing/2014/main" id="{122FFB0E-7FDD-4D9C-81C1-0F10729C3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788025"/>
            <a:ext cx="4543425" cy="1433513"/>
          </a:xfrm>
          <a:prstGeom prst="wedgeRoundRectCallout">
            <a:avLst>
              <a:gd name="adj1" fmla="val 9333"/>
              <a:gd name="adj2" fmla="val -74921"/>
              <a:gd name="adj3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k-SK" altLang="sk-SK" sz="2200">
                <a:solidFill>
                  <a:srgbClr val="FF0000"/>
                </a:solidFill>
              </a:rPr>
              <a:t>Nepomôže zistiť dĺžku poľa vo funkcii (a už vôbec nie počet využitých položiek poľa)</a:t>
            </a:r>
          </a:p>
        </p:txBody>
      </p:sp>
      <p:sp>
        <p:nvSpPr>
          <p:cNvPr id="63494" name="Rounded Rectangular Callout 3">
            <a:extLst>
              <a:ext uri="{FF2B5EF4-FFF2-40B4-BE49-F238E27FC236}">
                <a16:creationId xmlns:a16="http://schemas.microsoft.com/office/drawing/2014/main" id="{3C39305E-4EE9-4A3A-81A0-2B4340DE9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575" y="5788025"/>
            <a:ext cx="3425825" cy="1433513"/>
          </a:xfrm>
          <a:prstGeom prst="wedgeRoundRectCallout">
            <a:avLst>
              <a:gd name="adj1" fmla="val -55593"/>
              <a:gd name="adj2" fmla="val -66838"/>
              <a:gd name="adj3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sk-SK" altLang="sk-SK" sz="2200">
                <a:solidFill>
                  <a:srgbClr val="FF0000"/>
                </a:solidFill>
              </a:rPr>
              <a:t>Nepomôže zistiť dĺžku reťazca</a:t>
            </a:r>
            <a:endParaRPr lang="en-US" altLang="sk-SK" sz="19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20314DD-2281-4E60-9975-2B0B1674E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Parametre funkcií - volanie hodnotou</a:t>
            </a:r>
            <a:r>
              <a:rPr lang="en-US" altLang="sk-SK"/>
              <a:t>: </a:t>
            </a:r>
            <a:r>
              <a:rPr lang="en-US" altLang="sk-SK">
                <a:latin typeface="Courier New" panose="02070309020205020404" pitchFamily="49" charset="0"/>
              </a:rPr>
              <a:t>int A(int i)</a:t>
            </a:r>
          </a:p>
        </p:txBody>
      </p:sp>
      <p:sp>
        <p:nvSpPr>
          <p:cNvPr id="77827" name="Line 3">
            <a:extLst>
              <a:ext uri="{FF2B5EF4-FFF2-40B4-BE49-F238E27FC236}">
                <a16:creationId xmlns:a16="http://schemas.microsoft.com/office/drawing/2014/main" id="{EBA8094D-FE45-42BB-8018-738F72BB8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4646613"/>
            <a:ext cx="4763" cy="199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28" name="Line 4">
            <a:extLst>
              <a:ext uri="{FF2B5EF4-FFF2-40B4-BE49-F238E27FC236}">
                <a16:creationId xmlns:a16="http://schemas.microsoft.com/office/drawing/2014/main" id="{0FCA5753-D978-4265-83C7-8080D7AD6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4659313"/>
            <a:ext cx="0" cy="19780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29" name="Line 5">
            <a:extLst>
              <a:ext uri="{FF2B5EF4-FFF2-40B4-BE49-F238E27FC236}">
                <a16:creationId xmlns:a16="http://schemas.microsoft.com/office/drawing/2014/main" id="{95FE758B-F91D-4C54-8770-2C68AC970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9113" y="4503738"/>
            <a:ext cx="1201737" cy="47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30" name="Line 6">
            <a:extLst>
              <a:ext uri="{FF2B5EF4-FFF2-40B4-BE49-F238E27FC236}">
                <a16:creationId xmlns:a16="http://schemas.microsoft.com/office/drawing/2014/main" id="{DF19A88F-AA9D-4E8A-822C-7F2FD70A38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71988" y="6486525"/>
            <a:ext cx="1184275" cy="6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31" name="Line 7">
            <a:extLst>
              <a:ext uri="{FF2B5EF4-FFF2-40B4-BE49-F238E27FC236}">
                <a16:creationId xmlns:a16="http://schemas.microsoft.com/office/drawing/2014/main" id="{7E87CD27-19EA-49BF-A5A1-C56DA8B5E1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5463" y="6516688"/>
            <a:ext cx="11112" cy="441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32" name="Line 8">
            <a:extLst>
              <a:ext uri="{FF2B5EF4-FFF2-40B4-BE49-F238E27FC236}">
                <a16:creationId xmlns:a16="http://schemas.microsoft.com/office/drawing/2014/main" id="{642BFAE3-6981-479F-B5CD-5B8CECA4B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2043113"/>
            <a:ext cx="3175" cy="2478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7593" name="AutoShape 9">
            <a:extLst>
              <a:ext uri="{FF2B5EF4-FFF2-40B4-BE49-F238E27FC236}">
                <a16:creationId xmlns:a16="http://schemas.microsoft.com/office/drawing/2014/main" id="{401A6919-F1ED-4C4F-8AE8-CB29A8585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2244725"/>
            <a:ext cx="404813" cy="544513"/>
          </a:xfrm>
          <a:prstGeom prst="downArrow">
            <a:avLst>
              <a:gd name="adj1" fmla="val 50000"/>
              <a:gd name="adj2" fmla="val 518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solidFill>
                <a:srgbClr val="000000"/>
              </a:solidFill>
            </a:endParaRPr>
          </a:p>
        </p:txBody>
      </p:sp>
      <p:sp>
        <p:nvSpPr>
          <p:cNvPr id="77834" name="Rectangle 10">
            <a:extLst>
              <a:ext uri="{FF2B5EF4-FFF2-40B4-BE49-F238E27FC236}">
                <a16:creationId xmlns:a16="http://schemas.microsoft.com/office/drawing/2014/main" id="{2445C0AC-65B7-4887-9F80-5FD2175F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5900" y="6029325"/>
            <a:ext cx="512763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3</a:t>
            </a:r>
            <a:endParaRPr lang="en-US" altLang="sk-SK" sz="2213">
              <a:solidFill>
                <a:srgbClr val="000000"/>
              </a:solidFill>
            </a:endParaRPr>
          </a:p>
        </p:txBody>
      </p:sp>
      <p:sp>
        <p:nvSpPr>
          <p:cNvPr id="67595" name="Text Box 11">
            <a:extLst>
              <a:ext uri="{FF2B5EF4-FFF2-40B4-BE49-F238E27FC236}">
                <a16:creationId xmlns:a16="http://schemas.microsoft.com/office/drawing/2014/main" id="{7E350B4E-A14F-4BFC-B516-FE4F62914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796088"/>
            <a:ext cx="1538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solidFill>
                  <a:srgbClr val="000000"/>
                </a:solidFill>
              </a:rPr>
              <a:t>zásobník</a:t>
            </a:r>
            <a:endParaRPr lang="en-US" altLang="sk-SK" sz="2435">
              <a:solidFill>
                <a:srgbClr val="000000"/>
              </a:solidFill>
            </a:endParaRPr>
          </a:p>
        </p:txBody>
      </p:sp>
      <p:grpSp>
        <p:nvGrpSpPr>
          <p:cNvPr id="77836" name="Group 12">
            <a:extLst>
              <a:ext uri="{FF2B5EF4-FFF2-40B4-BE49-F238E27FC236}">
                <a16:creationId xmlns:a16="http://schemas.microsoft.com/office/drawing/2014/main" id="{16288C58-BACC-4468-9133-2D139180BBDC}"/>
              </a:ext>
            </a:extLst>
          </p:cNvPr>
          <p:cNvGrpSpPr>
            <a:grpSpLocks/>
          </p:cNvGrpSpPr>
          <p:nvPr/>
        </p:nvGrpSpPr>
        <p:grpSpPr bwMode="auto">
          <a:xfrm>
            <a:off x="828675" y="1724025"/>
            <a:ext cx="3624263" cy="984250"/>
            <a:chOff x="423" y="889"/>
            <a:chExt cx="2063" cy="1199"/>
          </a:xfrm>
        </p:grpSpPr>
        <p:sp>
          <p:nvSpPr>
            <p:cNvPr id="67626" name="Text Box 13">
              <a:extLst>
                <a:ext uri="{FF2B5EF4-FFF2-40B4-BE49-F238E27FC236}">
                  <a16:creationId xmlns:a16="http://schemas.microsoft.com/office/drawing/2014/main" id="{CA08D399-663C-449A-BAF1-0CC229B2D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" y="1063"/>
              <a:ext cx="1911" cy="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spustenie programu, </a:t>
              </a:r>
            </a:p>
            <a:p>
              <a:pPr algn="r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volanie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27" name="Oval 14">
              <a:extLst>
                <a:ext uri="{FF2B5EF4-FFF2-40B4-BE49-F238E27FC236}">
                  <a16:creationId xmlns:a16="http://schemas.microsoft.com/office/drawing/2014/main" id="{36379728-BD2D-4323-AD10-09540412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889"/>
              <a:ext cx="148" cy="7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7839" name="Group 15">
            <a:extLst>
              <a:ext uri="{FF2B5EF4-FFF2-40B4-BE49-F238E27FC236}">
                <a16:creationId xmlns:a16="http://schemas.microsoft.com/office/drawing/2014/main" id="{11A6936B-20DB-4249-A307-B02FD8341376}"/>
              </a:ext>
            </a:extLst>
          </p:cNvPr>
          <p:cNvGrpSpPr>
            <a:grpSpLocks/>
          </p:cNvGrpSpPr>
          <p:nvPr/>
        </p:nvGrpSpPr>
        <p:grpSpPr bwMode="auto">
          <a:xfrm>
            <a:off x="2151063" y="4179888"/>
            <a:ext cx="2308225" cy="647700"/>
            <a:chOff x="1176" y="2280"/>
            <a:chExt cx="1313" cy="789"/>
          </a:xfrm>
        </p:grpSpPr>
        <p:sp>
          <p:nvSpPr>
            <p:cNvPr id="67624" name="Text Box 16">
              <a:extLst>
                <a:ext uri="{FF2B5EF4-FFF2-40B4-BE49-F238E27FC236}">
                  <a16:creationId xmlns:a16="http://schemas.microsoft.com/office/drawing/2014/main" id="{804414B3-F55C-44D3-A6D3-83560ACF9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499"/>
              <a:ext cx="1086" cy="5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volanie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25" name="Oval 17">
              <a:extLst>
                <a:ext uri="{FF2B5EF4-FFF2-40B4-BE49-F238E27FC236}">
                  <a16:creationId xmlns:a16="http://schemas.microsoft.com/office/drawing/2014/main" id="{738A58F2-5285-4EE4-83C4-84FDD7C59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2280"/>
              <a:ext cx="148" cy="7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7842" name="Group 18">
            <a:extLst>
              <a:ext uri="{FF2B5EF4-FFF2-40B4-BE49-F238E27FC236}">
                <a16:creationId xmlns:a16="http://schemas.microsoft.com/office/drawing/2014/main" id="{2EAE8D29-8E3A-4FE4-BD75-01B63721B6EF}"/>
              </a:ext>
            </a:extLst>
          </p:cNvPr>
          <p:cNvGrpSpPr>
            <a:grpSpLocks/>
          </p:cNvGrpSpPr>
          <p:nvPr/>
        </p:nvGrpSpPr>
        <p:grpSpPr bwMode="auto">
          <a:xfrm>
            <a:off x="5530850" y="4205288"/>
            <a:ext cx="2814638" cy="655637"/>
            <a:chOff x="3099" y="2295"/>
            <a:chExt cx="1602" cy="799"/>
          </a:xfrm>
        </p:grpSpPr>
        <p:sp>
          <p:nvSpPr>
            <p:cNvPr id="67622" name="Text Box 19">
              <a:extLst>
                <a:ext uri="{FF2B5EF4-FFF2-40B4-BE49-F238E27FC236}">
                  <a16:creationId xmlns:a16="http://schemas.microsoft.com/office/drawing/2014/main" id="{FE31F867-4F90-4F2A-9F31-2EB803595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2525"/>
              <a:ext cx="1410" cy="5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spustenie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A(3)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23" name="Oval 20">
              <a:extLst>
                <a:ext uri="{FF2B5EF4-FFF2-40B4-BE49-F238E27FC236}">
                  <a16:creationId xmlns:a16="http://schemas.microsoft.com/office/drawing/2014/main" id="{0AF1CA6A-7F8A-4130-85B7-606E59ED9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2295"/>
              <a:ext cx="148" cy="74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7845" name="Group 21">
            <a:extLst>
              <a:ext uri="{FF2B5EF4-FFF2-40B4-BE49-F238E27FC236}">
                <a16:creationId xmlns:a16="http://schemas.microsoft.com/office/drawing/2014/main" id="{25EC9B93-D8E9-409A-AC85-B94B4865DA7C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6665913"/>
            <a:ext cx="4394200" cy="681037"/>
            <a:chOff x="37" y="3674"/>
            <a:chExt cx="2501" cy="832"/>
          </a:xfrm>
        </p:grpSpPr>
        <p:sp>
          <p:nvSpPr>
            <p:cNvPr id="67620" name="Text Box 22">
              <a:extLst>
                <a:ext uri="{FF2B5EF4-FFF2-40B4-BE49-F238E27FC236}">
                  <a16:creationId xmlns:a16="http://schemas.microsoft.com/office/drawing/2014/main" id="{7D37376B-920C-4E23-A1D0-9A347E2C3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" y="3936"/>
              <a:ext cx="2285" cy="5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koniec programu,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21" name="Oval 23">
              <a:extLst>
                <a:ext uri="{FF2B5EF4-FFF2-40B4-BE49-F238E27FC236}">
                  <a16:creationId xmlns:a16="http://schemas.microsoft.com/office/drawing/2014/main" id="{F3808855-F607-49C2-AE32-C75AC4035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674"/>
              <a:ext cx="148" cy="7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7848" name="Group 24">
            <a:extLst>
              <a:ext uri="{FF2B5EF4-FFF2-40B4-BE49-F238E27FC236}">
                <a16:creationId xmlns:a16="http://schemas.microsoft.com/office/drawing/2014/main" id="{E2D2F0FB-E795-4721-99EF-8449BBC025B7}"/>
              </a:ext>
            </a:extLst>
          </p:cNvPr>
          <p:cNvGrpSpPr>
            <a:grpSpLocks/>
          </p:cNvGrpSpPr>
          <p:nvPr/>
        </p:nvGrpSpPr>
        <p:grpSpPr bwMode="auto">
          <a:xfrm>
            <a:off x="1265238" y="6197600"/>
            <a:ext cx="3189287" cy="638175"/>
            <a:chOff x="711" y="3428"/>
            <a:chExt cx="1816" cy="778"/>
          </a:xfrm>
        </p:grpSpPr>
        <p:sp>
          <p:nvSpPr>
            <p:cNvPr id="67618" name="Text Box 25">
              <a:extLst>
                <a:ext uri="{FF2B5EF4-FFF2-40B4-BE49-F238E27FC236}">
                  <a16:creationId xmlns:a16="http://schemas.microsoft.com/office/drawing/2014/main" id="{989217C3-4FBF-4850-ACAE-8623B1EE0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" y="3637"/>
              <a:ext cx="1594" cy="5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návrat do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19" name="Oval 26">
              <a:extLst>
                <a:ext uri="{FF2B5EF4-FFF2-40B4-BE49-F238E27FC236}">
                  <a16:creationId xmlns:a16="http://schemas.microsoft.com/office/drawing/2014/main" id="{70D42A39-CD19-46DD-95AA-C00160B95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3428"/>
              <a:ext cx="148" cy="7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7851" name="Group 27">
            <a:extLst>
              <a:ext uri="{FF2B5EF4-FFF2-40B4-BE49-F238E27FC236}">
                <a16:creationId xmlns:a16="http://schemas.microsoft.com/office/drawing/2014/main" id="{ECAC3931-F75B-46B5-AF89-D537609437D7}"/>
              </a:ext>
            </a:extLst>
          </p:cNvPr>
          <p:cNvGrpSpPr>
            <a:grpSpLocks/>
          </p:cNvGrpSpPr>
          <p:nvPr/>
        </p:nvGrpSpPr>
        <p:grpSpPr bwMode="auto">
          <a:xfrm>
            <a:off x="5535613" y="6186488"/>
            <a:ext cx="2279650" cy="631825"/>
            <a:chOff x="3142" y="3422"/>
            <a:chExt cx="1298" cy="772"/>
          </a:xfrm>
        </p:grpSpPr>
        <p:sp>
          <p:nvSpPr>
            <p:cNvPr id="67616" name="Text Box 28">
              <a:extLst>
                <a:ext uri="{FF2B5EF4-FFF2-40B4-BE49-F238E27FC236}">
                  <a16:creationId xmlns:a16="http://schemas.microsoft.com/office/drawing/2014/main" id="{89EC700A-3ECA-41E4-AC47-7CD13F9FC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3624"/>
              <a:ext cx="1037" cy="5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koniec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7617" name="Oval 29">
              <a:extLst>
                <a:ext uri="{FF2B5EF4-FFF2-40B4-BE49-F238E27FC236}">
                  <a16:creationId xmlns:a16="http://schemas.microsoft.com/office/drawing/2014/main" id="{1257C862-8842-4B00-8439-2F7A69EF5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3422"/>
              <a:ext cx="148" cy="7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sp>
        <p:nvSpPr>
          <p:cNvPr id="67602" name="Line 30">
            <a:extLst>
              <a:ext uri="{FF2B5EF4-FFF2-40B4-BE49-F238E27FC236}">
                <a16:creationId xmlns:a16="http://schemas.microsoft.com/office/drawing/2014/main" id="{5D21AF15-189F-455E-A57E-D8E092E7F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5975" y="4148138"/>
            <a:ext cx="0" cy="2433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7603" name="Line 31">
            <a:extLst>
              <a:ext uri="{FF2B5EF4-FFF2-40B4-BE49-F238E27FC236}">
                <a16:creationId xmlns:a16="http://schemas.microsoft.com/office/drawing/2014/main" id="{A9DFEC6D-D578-4D2B-BD8C-2F36EA954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9225" y="4160838"/>
            <a:ext cx="0" cy="2432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7604" name="Line 32">
            <a:extLst>
              <a:ext uri="{FF2B5EF4-FFF2-40B4-BE49-F238E27FC236}">
                <a16:creationId xmlns:a16="http://schemas.microsoft.com/office/drawing/2014/main" id="{A7F00B3B-7F64-41D0-8EE7-B8C7E2376D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32875" y="6581775"/>
            <a:ext cx="674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7857" name="Rectangle 33">
            <a:extLst>
              <a:ext uri="{FF2B5EF4-FFF2-40B4-BE49-F238E27FC236}">
                <a16:creationId xmlns:a16="http://schemas.microsoft.com/office/drawing/2014/main" id="{21D7AB6C-EB93-4992-92F4-757F1779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5900" y="6029325"/>
            <a:ext cx="512763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4</a:t>
            </a:r>
            <a:endParaRPr lang="en-US" altLang="sk-SK" sz="2213">
              <a:solidFill>
                <a:srgbClr val="000000"/>
              </a:solidFill>
            </a:endParaRPr>
          </a:p>
        </p:txBody>
      </p:sp>
      <p:grpSp>
        <p:nvGrpSpPr>
          <p:cNvPr id="77858" name="Group 34">
            <a:extLst>
              <a:ext uri="{FF2B5EF4-FFF2-40B4-BE49-F238E27FC236}">
                <a16:creationId xmlns:a16="http://schemas.microsoft.com/office/drawing/2014/main" id="{B34C4464-4ACC-4DE7-8065-E85EC4607F31}"/>
              </a:ext>
            </a:extLst>
          </p:cNvPr>
          <p:cNvGrpSpPr>
            <a:grpSpLocks/>
          </p:cNvGrpSpPr>
          <p:nvPr/>
        </p:nvGrpSpPr>
        <p:grpSpPr bwMode="auto">
          <a:xfrm>
            <a:off x="8943975" y="5862638"/>
            <a:ext cx="863600" cy="881062"/>
            <a:chOff x="5101" y="3498"/>
            <a:chExt cx="492" cy="501"/>
          </a:xfrm>
        </p:grpSpPr>
        <p:sp>
          <p:nvSpPr>
            <p:cNvPr id="67614" name="Line 35">
              <a:extLst>
                <a:ext uri="{FF2B5EF4-FFF2-40B4-BE49-F238E27FC236}">
                  <a16:creationId xmlns:a16="http://schemas.microsoft.com/office/drawing/2014/main" id="{85FB885A-229F-4861-B1C8-D4F4344D1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1" y="3498"/>
              <a:ext cx="492" cy="5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67615" name="Line 36">
              <a:extLst>
                <a:ext uri="{FF2B5EF4-FFF2-40B4-BE49-F238E27FC236}">
                  <a16:creationId xmlns:a16="http://schemas.microsoft.com/office/drawing/2014/main" id="{77D0A5C5-06D4-455F-A3B4-D3EAA4BB5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" y="3510"/>
              <a:ext cx="459" cy="4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sk-SK" sz="2656"/>
            </a:p>
          </p:txBody>
        </p:sp>
      </p:grpSp>
      <p:sp>
        <p:nvSpPr>
          <p:cNvPr id="67607" name="Rectangle 37">
            <a:extLst>
              <a:ext uri="{FF2B5EF4-FFF2-40B4-BE49-F238E27FC236}">
                <a16:creationId xmlns:a16="http://schemas.microsoft.com/office/drawing/2014/main" id="{B009B5B5-57DB-4485-9824-9F0305CD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441575"/>
            <a:ext cx="2227263" cy="4429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solidFill>
                <a:srgbClr val="000000"/>
              </a:solidFill>
            </a:endParaRPr>
          </a:p>
        </p:txBody>
      </p:sp>
      <p:sp>
        <p:nvSpPr>
          <p:cNvPr id="77862" name="Rectangle 38">
            <a:extLst>
              <a:ext uri="{FF2B5EF4-FFF2-40B4-BE49-F238E27FC236}">
                <a16:creationId xmlns:a16="http://schemas.microsoft.com/office/drawing/2014/main" id="{944A3AB6-D546-4FDE-8DAC-045958BF1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150" y="2438400"/>
            <a:ext cx="512763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solidFill>
                <a:srgbClr val="000000"/>
              </a:solidFill>
            </a:endParaRPr>
          </a:p>
        </p:txBody>
      </p:sp>
      <p:sp>
        <p:nvSpPr>
          <p:cNvPr id="77863" name="Rectangle 39">
            <a:extLst>
              <a:ext uri="{FF2B5EF4-FFF2-40B4-BE49-F238E27FC236}">
                <a16:creationId xmlns:a16="http://schemas.microsoft.com/office/drawing/2014/main" id="{102841C0-344F-4E2B-B9CA-65B4288AB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150" y="2438400"/>
            <a:ext cx="512763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3</a:t>
            </a:r>
            <a:endParaRPr lang="en-US" altLang="sk-SK" sz="2213">
              <a:solidFill>
                <a:srgbClr val="000000"/>
              </a:solidFill>
            </a:endParaRPr>
          </a:p>
        </p:txBody>
      </p:sp>
      <p:sp>
        <p:nvSpPr>
          <p:cNvPr id="67610" name="Text Box 40">
            <a:extLst>
              <a:ext uri="{FF2B5EF4-FFF2-40B4-BE49-F238E27FC236}">
                <a16:creationId xmlns:a16="http://schemas.microsoft.com/office/drawing/2014/main" id="{A92A4A55-9EC4-47EB-838F-49190EF8B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784350"/>
            <a:ext cx="2259013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solidFill>
                  <a:srgbClr val="000000"/>
                </a:solidFill>
              </a:rPr>
              <a:t>dátová oblasť</a:t>
            </a:r>
            <a:endParaRPr lang="en-US" altLang="sk-SK" sz="2435">
              <a:solidFill>
                <a:srgbClr val="000000"/>
              </a:solidFill>
            </a:endParaRPr>
          </a:p>
        </p:txBody>
      </p:sp>
      <p:grpSp>
        <p:nvGrpSpPr>
          <p:cNvPr id="77865" name="Group 41">
            <a:extLst>
              <a:ext uri="{FF2B5EF4-FFF2-40B4-BE49-F238E27FC236}">
                <a16:creationId xmlns:a16="http://schemas.microsoft.com/office/drawing/2014/main" id="{98EDB479-0EE5-4800-9919-B28E4530D7D0}"/>
              </a:ext>
            </a:extLst>
          </p:cNvPr>
          <p:cNvGrpSpPr>
            <a:grpSpLocks/>
          </p:cNvGrpSpPr>
          <p:nvPr/>
        </p:nvGrpSpPr>
        <p:grpSpPr bwMode="auto">
          <a:xfrm>
            <a:off x="6970713" y="3167063"/>
            <a:ext cx="2414587" cy="2609850"/>
            <a:chOff x="3959" y="1803"/>
            <a:chExt cx="1374" cy="1485"/>
          </a:xfrm>
        </p:grpSpPr>
        <p:sp>
          <p:nvSpPr>
            <p:cNvPr id="67612" name="Line 42">
              <a:extLst>
                <a:ext uri="{FF2B5EF4-FFF2-40B4-BE49-F238E27FC236}">
                  <a16:creationId xmlns:a16="http://schemas.microsoft.com/office/drawing/2014/main" id="{14352E18-BF1B-4704-A673-80E929E9F2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5" y="1803"/>
              <a:ext cx="108" cy="1485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67613" name="Text Box 43">
              <a:extLst>
                <a:ext uri="{FF2B5EF4-FFF2-40B4-BE49-F238E27FC236}">
                  <a16:creationId xmlns:a16="http://schemas.microsoft.com/office/drawing/2014/main" id="{73FB926D-74E3-42B0-B6C8-BD94E3AA8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1877"/>
              <a:ext cx="1322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213">
                  <a:solidFill>
                    <a:srgbClr val="000000"/>
                  </a:solidFill>
                </a:rPr>
                <a:t>vytvorí sa kópia</a:t>
              </a:r>
              <a:endParaRPr lang="en-US" altLang="sk-SK" sz="2213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4" grpId="0" animBg="1" autoUpdateAnimBg="0"/>
      <p:bldP spid="77857" grpId="0" animBg="1" autoUpdateAnimBg="0"/>
      <p:bldP spid="77862" grpId="0" animBg="1" autoUpdateAnimBg="0"/>
      <p:bldP spid="77863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>
            <a:extLst>
              <a:ext uri="{FF2B5EF4-FFF2-40B4-BE49-F238E27FC236}">
                <a16:creationId xmlns:a16="http://schemas.microsoft.com/office/drawing/2014/main" id="{2728FF77-9B39-4374-9901-840E6AB30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Parametre funkcií - volanie odkazom</a:t>
            </a:r>
            <a:r>
              <a:rPr lang="en-US" altLang="sk-SK"/>
              <a:t>:</a:t>
            </a:r>
            <a:r>
              <a:rPr lang="sk-SK" altLang="sk-SK"/>
              <a:t> </a:t>
            </a:r>
            <a:r>
              <a:rPr lang="en-US" altLang="sk-SK"/>
              <a:t> </a:t>
            </a:r>
            <a:r>
              <a:rPr lang="en-US" altLang="sk-SK">
                <a:latin typeface="Courier New" panose="02070309020205020404" pitchFamily="49" charset="0"/>
              </a:rPr>
              <a:t>int A(int *i)</a:t>
            </a:r>
          </a:p>
        </p:txBody>
      </p:sp>
      <p:sp>
        <p:nvSpPr>
          <p:cNvPr id="78851" name="Line 1027">
            <a:extLst>
              <a:ext uri="{FF2B5EF4-FFF2-40B4-BE49-F238E27FC236}">
                <a16:creationId xmlns:a16="http://schemas.microsoft.com/office/drawing/2014/main" id="{8B68CA75-3EDC-4140-A6F9-B8C78D5EF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4646613"/>
            <a:ext cx="4763" cy="199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8852" name="Line 1028">
            <a:extLst>
              <a:ext uri="{FF2B5EF4-FFF2-40B4-BE49-F238E27FC236}">
                <a16:creationId xmlns:a16="http://schemas.microsoft.com/office/drawing/2014/main" id="{3A86BF13-841A-4495-813B-BFE8CCF89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4508500"/>
            <a:ext cx="0" cy="1992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8853" name="Line 1029">
            <a:extLst>
              <a:ext uri="{FF2B5EF4-FFF2-40B4-BE49-F238E27FC236}">
                <a16:creationId xmlns:a16="http://schemas.microsoft.com/office/drawing/2014/main" id="{9E3F1EBB-A204-4653-B029-67A3C6019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9113" y="4513263"/>
            <a:ext cx="1201737" cy="47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8854" name="Line 1030">
            <a:extLst>
              <a:ext uri="{FF2B5EF4-FFF2-40B4-BE49-F238E27FC236}">
                <a16:creationId xmlns:a16="http://schemas.microsoft.com/office/drawing/2014/main" id="{8A245E8C-AAD6-4EC0-BD4A-66A0B048F9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71988" y="6491288"/>
            <a:ext cx="1184275" cy="111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8855" name="Line 1031">
            <a:extLst>
              <a:ext uri="{FF2B5EF4-FFF2-40B4-BE49-F238E27FC236}">
                <a16:creationId xmlns:a16="http://schemas.microsoft.com/office/drawing/2014/main" id="{92943E37-23DE-4126-A4DD-2CCFD84C64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4988" y="6529388"/>
            <a:ext cx="1587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78856" name="Line 1032">
            <a:extLst>
              <a:ext uri="{FF2B5EF4-FFF2-40B4-BE49-F238E27FC236}">
                <a16:creationId xmlns:a16="http://schemas.microsoft.com/office/drawing/2014/main" id="{A888EB6A-86BA-47C7-96A6-95AF63D32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2051050"/>
            <a:ext cx="3175" cy="2478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8617" name="AutoShape 1033">
            <a:extLst>
              <a:ext uri="{FF2B5EF4-FFF2-40B4-BE49-F238E27FC236}">
                <a16:creationId xmlns:a16="http://schemas.microsoft.com/office/drawing/2014/main" id="{CF67CC8B-727F-4EA5-97A9-1F2133B8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2244725"/>
            <a:ext cx="404813" cy="544513"/>
          </a:xfrm>
          <a:prstGeom prst="downArrow">
            <a:avLst>
              <a:gd name="adj1" fmla="val 50000"/>
              <a:gd name="adj2" fmla="val 518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solidFill>
                <a:srgbClr val="000000"/>
              </a:solidFill>
            </a:endParaRPr>
          </a:p>
        </p:txBody>
      </p:sp>
      <p:sp>
        <p:nvSpPr>
          <p:cNvPr id="78858" name="Rectangle 1034">
            <a:extLst>
              <a:ext uri="{FF2B5EF4-FFF2-40B4-BE49-F238E27FC236}">
                <a16:creationId xmlns:a16="http://schemas.microsoft.com/office/drawing/2014/main" id="{6F65F91D-8E63-447C-A690-9CED58F73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8438" y="6197600"/>
            <a:ext cx="573087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15</a:t>
            </a:r>
            <a:endParaRPr lang="en-US" altLang="sk-SK" sz="2213">
              <a:solidFill>
                <a:srgbClr val="000000"/>
              </a:solidFill>
            </a:endParaRPr>
          </a:p>
        </p:txBody>
      </p:sp>
      <p:sp>
        <p:nvSpPr>
          <p:cNvPr id="68619" name="Text Box 1035">
            <a:extLst>
              <a:ext uri="{FF2B5EF4-FFF2-40B4-BE49-F238E27FC236}">
                <a16:creationId xmlns:a16="http://schemas.microsoft.com/office/drawing/2014/main" id="{90FA2A59-67B5-4CFD-A714-4AC799045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964363"/>
            <a:ext cx="15382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solidFill>
                  <a:srgbClr val="000000"/>
                </a:solidFill>
              </a:rPr>
              <a:t>zásobník</a:t>
            </a:r>
            <a:endParaRPr lang="en-US" altLang="sk-SK" sz="2435">
              <a:solidFill>
                <a:srgbClr val="000000"/>
              </a:solidFill>
            </a:endParaRPr>
          </a:p>
        </p:txBody>
      </p:sp>
      <p:grpSp>
        <p:nvGrpSpPr>
          <p:cNvPr id="78860" name="Group 1036">
            <a:extLst>
              <a:ext uri="{FF2B5EF4-FFF2-40B4-BE49-F238E27FC236}">
                <a16:creationId xmlns:a16="http://schemas.microsoft.com/office/drawing/2014/main" id="{203BA841-F18D-4A57-916D-FDE4F4EC1989}"/>
              </a:ext>
            </a:extLst>
          </p:cNvPr>
          <p:cNvGrpSpPr>
            <a:grpSpLocks/>
          </p:cNvGrpSpPr>
          <p:nvPr/>
        </p:nvGrpSpPr>
        <p:grpSpPr bwMode="auto">
          <a:xfrm>
            <a:off x="828675" y="1744663"/>
            <a:ext cx="3624263" cy="965200"/>
            <a:chOff x="423" y="929"/>
            <a:chExt cx="2063" cy="1054"/>
          </a:xfrm>
        </p:grpSpPr>
        <p:sp>
          <p:nvSpPr>
            <p:cNvPr id="68650" name="Text Box 1037">
              <a:extLst>
                <a:ext uri="{FF2B5EF4-FFF2-40B4-BE49-F238E27FC236}">
                  <a16:creationId xmlns:a16="http://schemas.microsoft.com/office/drawing/2014/main" id="{BB1E95F3-FEFD-4135-BEC7-18DA69439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" y="1062"/>
              <a:ext cx="1911" cy="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spustenie programu, </a:t>
              </a:r>
            </a:p>
            <a:p>
              <a:pPr algn="r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volanie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51" name="Oval 1038">
              <a:extLst>
                <a:ext uri="{FF2B5EF4-FFF2-40B4-BE49-F238E27FC236}">
                  <a16:creationId xmlns:a16="http://schemas.microsoft.com/office/drawing/2014/main" id="{9305628B-1B87-43DB-8C65-877A994C4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929"/>
              <a:ext cx="148" cy="66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8863" name="Group 1039">
            <a:extLst>
              <a:ext uri="{FF2B5EF4-FFF2-40B4-BE49-F238E27FC236}">
                <a16:creationId xmlns:a16="http://schemas.microsoft.com/office/drawing/2014/main" id="{8305C464-BAC2-4D78-9B81-06B0C4A64CAE}"/>
              </a:ext>
            </a:extLst>
          </p:cNvPr>
          <p:cNvGrpSpPr>
            <a:grpSpLocks/>
          </p:cNvGrpSpPr>
          <p:nvPr/>
        </p:nvGrpSpPr>
        <p:grpSpPr bwMode="auto">
          <a:xfrm>
            <a:off x="2151063" y="4197350"/>
            <a:ext cx="2308225" cy="631825"/>
            <a:chOff x="1176" y="2320"/>
            <a:chExt cx="1313" cy="688"/>
          </a:xfrm>
        </p:grpSpPr>
        <p:sp>
          <p:nvSpPr>
            <p:cNvPr id="68648" name="Text Box 1040">
              <a:extLst>
                <a:ext uri="{FF2B5EF4-FFF2-40B4-BE49-F238E27FC236}">
                  <a16:creationId xmlns:a16="http://schemas.microsoft.com/office/drawing/2014/main" id="{8E014FFA-5311-4A33-A7FD-B69EC7AA1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500"/>
              <a:ext cx="1086" cy="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volanie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49" name="Oval 1041">
              <a:extLst>
                <a:ext uri="{FF2B5EF4-FFF2-40B4-BE49-F238E27FC236}">
                  <a16:creationId xmlns:a16="http://schemas.microsoft.com/office/drawing/2014/main" id="{E1B3E915-0AEE-4B63-A9C9-F68059BBA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2320"/>
              <a:ext cx="148" cy="66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8866" name="Group 1042">
            <a:extLst>
              <a:ext uri="{FF2B5EF4-FFF2-40B4-BE49-F238E27FC236}">
                <a16:creationId xmlns:a16="http://schemas.microsoft.com/office/drawing/2014/main" id="{71492EBF-764B-4137-A16A-6549BBD7784D}"/>
              </a:ext>
            </a:extLst>
          </p:cNvPr>
          <p:cNvGrpSpPr>
            <a:grpSpLocks/>
          </p:cNvGrpSpPr>
          <p:nvPr/>
        </p:nvGrpSpPr>
        <p:grpSpPr bwMode="auto">
          <a:xfrm>
            <a:off x="5530850" y="4221163"/>
            <a:ext cx="3001963" cy="644525"/>
            <a:chOff x="3099" y="2331"/>
            <a:chExt cx="1709" cy="705"/>
          </a:xfrm>
        </p:grpSpPr>
        <p:sp>
          <p:nvSpPr>
            <p:cNvPr id="68646" name="Text Box 1043">
              <a:extLst>
                <a:ext uri="{FF2B5EF4-FFF2-40B4-BE49-F238E27FC236}">
                  <a16:creationId xmlns:a16="http://schemas.microsoft.com/office/drawing/2014/main" id="{AB8F83DB-FF3A-4B89-8690-39F9A277D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" y="2525"/>
              <a:ext cx="1517" cy="5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spustenie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A(15)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47" name="Oval 1044">
              <a:extLst>
                <a:ext uri="{FF2B5EF4-FFF2-40B4-BE49-F238E27FC236}">
                  <a16:creationId xmlns:a16="http://schemas.microsoft.com/office/drawing/2014/main" id="{093162BF-B3B9-419A-965D-DF9048801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2331"/>
              <a:ext cx="148" cy="66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8869" name="Group 1045">
            <a:extLst>
              <a:ext uri="{FF2B5EF4-FFF2-40B4-BE49-F238E27FC236}">
                <a16:creationId xmlns:a16="http://schemas.microsoft.com/office/drawing/2014/main" id="{28E99B75-FB4C-4B21-B419-1C88C1227A4B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6750050"/>
            <a:ext cx="4394200" cy="671513"/>
            <a:chOff x="37" y="3714"/>
            <a:chExt cx="2501" cy="730"/>
          </a:xfrm>
        </p:grpSpPr>
        <p:sp>
          <p:nvSpPr>
            <p:cNvPr id="68644" name="Text Box 1046">
              <a:extLst>
                <a:ext uri="{FF2B5EF4-FFF2-40B4-BE49-F238E27FC236}">
                  <a16:creationId xmlns:a16="http://schemas.microsoft.com/office/drawing/2014/main" id="{763C7BB5-1527-40D8-9DBE-B2203FD80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" y="3935"/>
              <a:ext cx="2285" cy="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koniec programu,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45" name="Oval 1047">
              <a:extLst>
                <a:ext uri="{FF2B5EF4-FFF2-40B4-BE49-F238E27FC236}">
                  <a16:creationId xmlns:a16="http://schemas.microsoft.com/office/drawing/2014/main" id="{7AA10C2B-5E08-49B4-98A6-37DD124A9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714"/>
              <a:ext cx="148" cy="66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8872" name="Group 1048">
            <a:extLst>
              <a:ext uri="{FF2B5EF4-FFF2-40B4-BE49-F238E27FC236}">
                <a16:creationId xmlns:a16="http://schemas.microsoft.com/office/drawing/2014/main" id="{613C5A70-8802-4A6C-95A0-746467725AD5}"/>
              </a:ext>
            </a:extLst>
          </p:cNvPr>
          <p:cNvGrpSpPr>
            <a:grpSpLocks/>
          </p:cNvGrpSpPr>
          <p:nvPr/>
        </p:nvGrpSpPr>
        <p:grpSpPr bwMode="auto">
          <a:xfrm>
            <a:off x="1265238" y="6213475"/>
            <a:ext cx="3189287" cy="625475"/>
            <a:chOff x="711" y="3465"/>
            <a:chExt cx="1816" cy="683"/>
          </a:xfrm>
        </p:grpSpPr>
        <p:sp>
          <p:nvSpPr>
            <p:cNvPr id="68642" name="Text Box 1049">
              <a:extLst>
                <a:ext uri="{FF2B5EF4-FFF2-40B4-BE49-F238E27FC236}">
                  <a16:creationId xmlns:a16="http://schemas.microsoft.com/office/drawing/2014/main" id="{58CCC9ED-DCE1-4009-91B9-F9D6E5AC8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" y="3637"/>
              <a:ext cx="1594" cy="5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návrat do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main()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43" name="Oval 1050">
              <a:extLst>
                <a:ext uri="{FF2B5EF4-FFF2-40B4-BE49-F238E27FC236}">
                  <a16:creationId xmlns:a16="http://schemas.microsoft.com/office/drawing/2014/main" id="{026280C0-9A43-49EA-9918-25D161BCF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9" y="3465"/>
              <a:ext cx="148" cy="66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grpSp>
        <p:nvGrpSpPr>
          <p:cNvPr id="78875" name="Group 1051">
            <a:extLst>
              <a:ext uri="{FF2B5EF4-FFF2-40B4-BE49-F238E27FC236}">
                <a16:creationId xmlns:a16="http://schemas.microsoft.com/office/drawing/2014/main" id="{7B866DAD-E240-4D68-9B61-5D050F8E6DDF}"/>
              </a:ext>
            </a:extLst>
          </p:cNvPr>
          <p:cNvGrpSpPr>
            <a:grpSpLocks/>
          </p:cNvGrpSpPr>
          <p:nvPr/>
        </p:nvGrpSpPr>
        <p:grpSpPr bwMode="auto">
          <a:xfrm>
            <a:off x="5535613" y="6203950"/>
            <a:ext cx="2279650" cy="614363"/>
            <a:chOff x="3142" y="3462"/>
            <a:chExt cx="1298" cy="669"/>
          </a:xfrm>
        </p:grpSpPr>
        <p:sp>
          <p:nvSpPr>
            <p:cNvPr id="68640" name="Text Box 1052">
              <a:extLst>
                <a:ext uri="{FF2B5EF4-FFF2-40B4-BE49-F238E27FC236}">
                  <a16:creationId xmlns:a16="http://schemas.microsoft.com/office/drawing/2014/main" id="{820BEA15-7FA5-4C34-828B-878943652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3623"/>
              <a:ext cx="1037" cy="5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>
                  <a:solidFill>
                    <a:srgbClr val="000000"/>
                  </a:solidFill>
                </a:rPr>
                <a:t>koniec </a:t>
              </a:r>
              <a:r>
                <a:rPr lang="sk-SK" altLang="sk-SK" sz="2435">
                  <a:solidFill>
                    <a:srgbClr val="000000"/>
                  </a:solidFill>
                  <a:latin typeface="Courier New" panose="02070309020205020404" pitchFamily="49" charset="0"/>
                </a:rPr>
                <a:t>A()</a:t>
              </a:r>
              <a:endParaRPr lang="en-US" altLang="sk-SK" sz="2435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68641" name="Oval 1053">
              <a:extLst>
                <a:ext uri="{FF2B5EF4-FFF2-40B4-BE49-F238E27FC236}">
                  <a16:creationId xmlns:a16="http://schemas.microsoft.com/office/drawing/2014/main" id="{FFEB15FC-DA04-4FE6-8A48-FA6E968CC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3462"/>
              <a:ext cx="148" cy="66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</p:grpSp>
      <p:sp>
        <p:nvSpPr>
          <p:cNvPr id="68626" name="Line 1054">
            <a:extLst>
              <a:ext uri="{FF2B5EF4-FFF2-40B4-BE49-F238E27FC236}">
                <a16:creationId xmlns:a16="http://schemas.microsoft.com/office/drawing/2014/main" id="{7E302DFA-C4F0-4EF3-9163-5E4827605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5975" y="4316413"/>
            <a:ext cx="0" cy="2433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8627" name="Line 1055">
            <a:extLst>
              <a:ext uri="{FF2B5EF4-FFF2-40B4-BE49-F238E27FC236}">
                <a16:creationId xmlns:a16="http://schemas.microsoft.com/office/drawing/2014/main" id="{CAAB1816-781A-405F-992F-C5430D0F7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9225" y="4329113"/>
            <a:ext cx="0" cy="2433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sp>
        <p:nvSpPr>
          <p:cNvPr id="68628" name="Line 1056">
            <a:extLst>
              <a:ext uri="{FF2B5EF4-FFF2-40B4-BE49-F238E27FC236}">
                <a16:creationId xmlns:a16="http://schemas.microsoft.com/office/drawing/2014/main" id="{9F3EAA61-FA53-4A35-91DD-A16474587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32875" y="6750050"/>
            <a:ext cx="674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/>
          <a:p>
            <a:pPr>
              <a:defRPr/>
            </a:pPr>
            <a:endParaRPr lang="sk-SK" sz="2656"/>
          </a:p>
        </p:txBody>
      </p:sp>
      <p:grpSp>
        <p:nvGrpSpPr>
          <p:cNvPr id="78881" name="Group 1057">
            <a:extLst>
              <a:ext uri="{FF2B5EF4-FFF2-40B4-BE49-F238E27FC236}">
                <a16:creationId xmlns:a16="http://schemas.microsoft.com/office/drawing/2014/main" id="{638D2F72-1828-4772-95A6-3017B53133B1}"/>
              </a:ext>
            </a:extLst>
          </p:cNvPr>
          <p:cNvGrpSpPr>
            <a:grpSpLocks/>
          </p:cNvGrpSpPr>
          <p:nvPr/>
        </p:nvGrpSpPr>
        <p:grpSpPr bwMode="auto">
          <a:xfrm>
            <a:off x="8953500" y="6046788"/>
            <a:ext cx="863600" cy="881062"/>
            <a:chOff x="5101" y="3498"/>
            <a:chExt cx="492" cy="501"/>
          </a:xfrm>
        </p:grpSpPr>
        <p:sp>
          <p:nvSpPr>
            <p:cNvPr id="68638" name="Line 1058">
              <a:extLst>
                <a:ext uri="{FF2B5EF4-FFF2-40B4-BE49-F238E27FC236}">
                  <a16:creationId xmlns:a16="http://schemas.microsoft.com/office/drawing/2014/main" id="{244D7CED-A2D5-4AE2-BB62-A7FA06C10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1" y="3498"/>
              <a:ext cx="492" cy="5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68639" name="Line 1059">
              <a:extLst>
                <a:ext uri="{FF2B5EF4-FFF2-40B4-BE49-F238E27FC236}">
                  <a16:creationId xmlns:a16="http://schemas.microsoft.com/office/drawing/2014/main" id="{B23DFCB2-224B-459E-9A22-46EC79E3B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" y="3510"/>
              <a:ext cx="459" cy="4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sk-SK" sz="2656"/>
            </a:p>
          </p:txBody>
        </p:sp>
      </p:grpSp>
      <p:sp>
        <p:nvSpPr>
          <p:cNvPr id="68630" name="Rectangle 1060">
            <a:extLst>
              <a:ext uri="{FF2B5EF4-FFF2-40B4-BE49-F238E27FC236}">
                <a16:creationId xmlns:a16="http://schemas.microsoft.com/office/drawing/2014/main" id="{0EC2A81A-5B08-4906-9048-E910DAD8A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638425"/>
            <a:ext cx="2227263" cy="4429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2213">
              <a:solidFill>
                <a:srgbClr val="000000"/>
              </a:solidFill>
            </a:endParaRPr>
          </a:p>
        </p:txBody>
      </p:sp>
      <p:sp>
        <p:nvSpPr>
          <p:cNvPr id="68631" name="Text Box 1061">
            <a:extLst>
              <a:ext uri="{FF2B5EF4-FFF2-40B4-BE49-F238E27FC236}">
                <a16:creationId xmlns:a16="http://schemas.microsoft.com/office/drawing/2014/main" id="{D0D6358D-ACC5-4C14-908B-EDDF1B334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1714500"/>
            <a:ext cx="2259013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1189" tIns="50594" rIns="101189" bIns="50594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solidFill>
                  <a:srgbClr val="000000"/>
                </a:solidFill>
              </a:rPr>
              <a:t>dátová oblasť</a:t>
            </a:r>
            <a:endParaRPr lang="en-US" altLang="sk-SK" sz="2435">
              <a:solidFill>
                <a:srgbClr val="000000"/>
              </a:solidFill>
            </a:endParaRPr>
          </a:p>
        </p:txBody>
      </p:sp>
      <p:grpSp>
        <p:nvGrpSpPr>
          <p:cNvPr id="78886" name="Group 1062">
            <a:extLst>
              <a:ext uri="{FF2B5EF4-FFF2-40B4-BE49-F238E27FC236}">
                <a16:creationId xmlns:a16="http://schemas.microsoft.com/office/drawing/2014/main" id="{75423ED1-3C2C-4639-949C-1A02C1CFD208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2225675"/>
            <a:ext cx="2054225" cy="849313"/>
            <a:chOff x="4226" y="1267"/>
            <a:chExt cx="1170" cy="483"/>
          </a:xfrm>
        </p:grpSpPr>
        <p:sp>
          <p:nvSpPr>
            <p:cNvPr id="68636" name="Rectangle 1063">
              <a:extLst>
                <a:ext uri="{FF2B5EF4-FFF2-40B4-BE49-F238E27FC236}">
                  <a16:creationId xmlns:a16="http://schemas.microsoft.com/office/drawing/2014/main" id="{B06CA845-A788-42F1-958B-A6210672B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" y="1504"/>
              <a:ext cx="292" cy="24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2213">
                <a:solidFill>
                  <a:srgbClr val="000000"/>
                </a:solidFill>
              </a:endParaRPr>
            </a:p>
          </p:txBody>
        </p:sp>
        <p:sp>
          <p:nvSpPr>
            <p:cNvPr id="68637" name="Text Box 1064">
              <a:extLst>
                <a:ext uri="{FF2B5EF4-FFF2-40B4-BE49-F238E27FC236}">
                  <a16:creationId xmlns:a16="http://schemas.microsoft.com/office/drawing/2014/main" id="{E87DF3CD-520B-4D51-B0CF-4E00050A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6" y="1267"/>
              <a:ext cx="117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213">
                  <a:solidFill>
                    <a:srgbClr val="000000"/>
                  </a:solidFill>
                </a:rPr>
                <a:t>adresa:       15</a:t>
              </a:r>
              <a:endParaRPr lang="en-US" altLang="sk-SK" sz="2213">
                <a:solidFill>
                  <a:srgbClr val="000000"/>
                </a:solidFill>
              </a:endParaRPr>
            </a:p>
          </p:txBody>
        </p:sp>
      </p:grpSp>
      <p:sp>
        <p:nvSpPr>
          <p:cNvPr id="78889" name="AutoShape 1065">
            <a:extLst>
              <a:ext uri="{FF2B5EF4-FFF2-40B4-BE49-F238E27FC236}">
                <a16:creationId xmlns:a16="http://schemas.microsoft.com/office/drawing/2014/main" id="{787F2D54-6791-4AD9-A6AB-76ABD9683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549650"/>
            <a:ext cx="1714500" cy="863600"/>
          </a:xfrm>
          <a:prstGeom prst="wedgeRoundRectCallout">
            <a:avLst>
              <a:gd name="adj1" fmla="val 73977"/>
              <a:gd name="adj2" fmla="val 63819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adresa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premennej</a:t>
            </a:r>
            <a:endParaRPr lang="en-US" altLang="sk-SK" sz="2213">
              <a:solidFill>
                <a:srgbClr val="000000"/>
              </a:solidFill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sk-SK" sz="2213">
              <a:solidFill>
                <a:srgbClr val="000000"/>
              </a:solidFill>
            </a:endParaRPr>
          </a:p>
        </p:txBody>
      </p:sp>
      <p:sp>
        <p:nvSpPr>
          <p:cNvPr id="78890" name="Rectangle 1066">
            <a:extLst>
              <a:ext uri="{FF2B5EF4-FFF2-40B4-BE49-F238E27FC236}">
                <a16:creationId xmlns:a16="http://schemas.microsoft.com/office/drawing/2014/main" id="{4359ABC8-407A-411B-8629-9862365E2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150" y="2635250"/>
            <a:ext cx="512763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3</a:t>
            </a:r>
            <a:endParaRPr lang="en-US" altLang="sk-SK" sz="2213">
              <a:solidFill>
                <a:srgbClr val="000000"/>
              </a:solidFill>
            </a:endParaRPr>
          </a:p>
        </p:txBody>
      </p:sp>
      <p:sp>
        <p:nvSpPr>
          <p:cNvPr id="78891" name="Rectangle 1067">
            <a:extLst>
              <a:ext uri="{FF2B5EF4-FFF2-40B4-BE49-F238E27FC236}">
                <a16:creationId xmlns:a16="http://schemas.microsoft.com/office/drawing/2014/main" id="{8FA2397D-10EA-4AB9-859B-EBBADDDD3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88" y="2628900"/>
            <a:ext cx="512762" cy="4429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189" tIns="50594" rIns="101189" bIns="50594" anchor="ctr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solidFill>
                  <a:srgbClr val="000000"/>
                </a:solidFill>
              </a:rPr>
              <a:t>4</a:t>
            </a:r>
            <a:endParaRPr lang="en-US" altLang="sk-SK" sz="2213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 animBg="1" autoUpdateAnimBg="0"/>
      <p:bldP spid="78889" grpId="0" animBg="1" autoUpdateAnimBg="0"/>
      <p:bldP spid="78890" grpId="0" animBg="1" autoUpdateAnimBg="0"/>
      <p:bldP spid="78891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26">
            <a:extLst>
              <a:ext uri="{FF2B5EF4-FFF2-40B4-BE49-F238E27FC236}">
                <a16:creationId xmlns:a16="http://schemas.microsoft.com/office/drawing/2014/main" id="{F827685C-CB40-42A3-9AF6-49F3A4482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>
                <a:latin typeface="Courier New" panose="02070309020205020404" pitchFamily="49" charset="0"/>
              </a:rPr>
              <a:t>&amp;</a:t>
            </a:r>
            <a:r>
              <a:rPr lang="en-US" altLang="sk-SK"/>
              <a:t> a </a:t>
            </a:r>
            <a:r>
              <a:rPr lang="en-US" altLang="sk-SK">
                <a:latin typeface="Courier New" panose="02070309020205020404" pitchFamily="49" charset="0"/>
              </a:rPr>
              <a:t>&amp;&amp;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EAFFC891-E3C1-447B-8C07-7E5712B5E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1412875"/>
            <a:ext cx="3035300" cy="28035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6148" name="Text Box 1028">
            <a:extLst>
              <a:ext uri="{FF2B5EF4-FFF2-40B4-BE49-F238E27FC236}">
                <a16:creationId xmlns:a16="http://schemas.microsoft.com/office/drawing/2014/main" id="{E230B270-866C-4E08-A76E-4C90AFC07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500188"/>
            <a:ext cx="273367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x = 11;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y = 4;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sk-SK" sz="2213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if (x &amp;&amp; y)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printf("*");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if (x &amp; y)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printf("+");</a:t>
            </a:r>
          </a:p>
        </p:txBody>
      </p:sp>
      <p:sp>
        <p:nvSpPr>
          <p:cNvPr id="6149" name="AutoShape 1029">
            <a:extLst>
              <a:ext uri="{FF2B5EF4-FFF2-40B4-BE49-F238E27FC236}">
                <a16:creationId xmlns:a16="http://schemas.microsoft.com/office/drawing/2014/main" id="{FB99254B-1AB0-41C4-9507-CE340CCBC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1433513"/>
            <a:ext cx="4132262" cy="1601787"/>
          </a:xfrm>
          <a:prstGeom prst="wedgeRoundRectCallout">
            <a:avLst>
              <a:gd name="adj1" fmla="val -58333"/>
              <a:gd name="adj2" fmla="val 7686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Čo vypíše táto časť programu?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Pomôcka: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11 = </a:t>
            </a:r>
            <a:r>
              <a:rPr lang="en-US" altLang="sk-SK" sz="1992"/>
              <a:t> </a:t>
            </a:r>
            <a:r>
              <a:rPr lang="sk-SK" altLang="sk-SK" sz="1992"/>
              <a:t>(1011)</a:t>
            </a:r>
            <a:r>
              <a:rPr lang="sk-SK" altLang="sk-SK" sz="1992" baseline="-25000"/>
              <a:t>2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  4 =  (</a:t>
            </a:r>
            <a:r>
              <a:rPr lang="en-US" altLang="sk-SK" sz="1992"/>
              <a:t>0</a:t>
            </a:r>
            <a:r>
              <a:rPr lang="sk-SK" altLang="sk-SK" sz="1992"/>
              <a:t>100)</a:t>
            </a:r>
            <a:r>
              <a:rPr lang="sk-SK" altLang="sk-SK" sz="1992" baseline="-25000"/>
              <a:t>2</a:t>
            </a:r>
            <a:endParaRPr lang="en-US" altLang="sk-SK" sz="1992" baseline="-25000"/>
          </a:p>
        </p:txBody>
      </p:sp>
      <p:sp>
        <p:nvSpPr>
          <p:cNvPr id="36870" name="AutoShape 1030">
            <a:extLst>
              <a:ext uri="{FF2B5EF4-FFF2-40B4-BE49-F238E27FC236}">
                <a16:creationId xmlns:a16="http://schemas.microsoft.com/office/drawing/2014/main" id="{06E9FA4C-38C0-402F-A48D-666926FD5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4638675"/>
            <a:ext cx="7589838" cy="2782888"/>
          </a:xfrm>
          <a:prstGeom prst="wedgeRoundRectCallout">
            <a:avLst>
              <a:gd name="adj1" fmla="val -20278"/>
              <a:gd name="adj2" fmla="val 467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 i="1"/>
              <a:t>Logický súčin</a:t>
            </a:r>
            <a:r>
              <a:rPr lang="sk-SK" altLang="sk-SK" sz="1992"/>
              <a:t> (</a:t>
            </a:r>
            <a:r>
              <a:rPr lang="en-US" altLang="sk-SK" sz="1992">
                <a:latin typeface="Courier New" panose="02070309020205020404" pitchFamily="49" charset="0"/>
              </a:rPr>
              <a:t>&amp;&amp;</a:t>
            </a:r>
            <a:r>
              <a:rPr lang="en-US" altLang="sk-SK" sz="1992"/>
              <a:t>)</a:t>
            </a:r>
            <a:r>
              <a:rPr lang="sk-SK" altLang="sk-SK" sz="1992"/>
              <a:t>: nenulové čísla sú PRAVDA,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11, 4 sú nenulové, preto výsledok je PRAVDA </a:t>
            </a:r>
            <a:r>
              <a:rPr lang="sk-SK" altLang="sk-SK" sz="1992">
                <a:sym typeface="Symbol" panose="05050102010706020507" pitchFamily="18" charset="2"/>
              </a:rPr>
              <a:t>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vypíše sa </a:t>
            </a:r>
            <a:r>
              <a:rPr lang="sk-SK" altLang="sk-SK" sz="1992">
                <a:latin typeface="Courier New" panose="02070309020205020404" pitchFamily="49" charset="0"/>
              </a:rPr>
              <a:t>*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 i="1"/>
              <a:t>Bitový súčin</a:t>
            </a:r>
            <a:r>
              <a:rPr lang="sk-SK" altLang="sk-SK" sz="1992"/>
              <a:t> (</a:t>
            </a:r>
            <a:r>
              <a:rPr lang="en-US" altLang="sk-SK" sz="1992">
                <a:latin typeface="Courier New" panose="02070309020205020404" pitchFamily="49" charset="0"/>
              </a:rPr>
              <a:t>&amp;</a:t>
            </a:r>
            <a:r>
              <a:rPr lang="sk-SK" altLang="sk-SK" sz="1992"/>
              <a:t>): súčin po bitoch 0: NEPRAVDA </a:t>
            </a:r>
            <a:r>
              <a:rPr lang="sk-SK" altLang="sk-SK" sz="1992">
                <a:sym typeface="Symbol" panose="05050102010706020507" pitchFamily="18" charset="2"/>
              </a:rPr>
              <a:t></a:t>
            </a:r>
            <a:endParaRPr lang="sk-SK" altLang="sk-SK" sz="1992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</a:rPr>
              <a:t>+</a:t>
            </a:r>
            <a:r>
              <a:rPr lang="sk-SK" altLang="sk-SK" sz="1992"/>
              <a:t> sa nevypíše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Vypíše sa </a:t>
            </a:r>
            <a:r>
              <a:rPr lang="sk-SK" altLang="sk-SK" sz="1992">
                <a:latin typeface="Courier New" panose="02070309020205020404" pitchFamily="49" charset="0"/>
              </a:rPr>
              <a:t>*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52B4139-3F71-4228-8B74-FE695243F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Ukazovatele</a:t>
            </a:r>
            <a:endParaRPr lang="en-US" altLang="sk-SK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CD27D57-D6B3-43D1-BA62-E8DA795C6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sk-SK" altLang="sk-SK" sz="3099"/>
              <a:t>Premenné obsahujúce adresy</a:t>
            </a:r>
          </a:p>
          <a:p>
            <a:pPr eaLnBrk="1" hangingPunct="1">
              <a:defRPr/>
            </a:pPr>
            <a:r>
              <a:rPr lang="sk-SK" altLang="sk-SK" sz="3099"/>
              <a:t>Definícia ukazovateľa: </a:t>
            </a:r>
            <a:r>
              <a:rPr lang="sk-SK" altLang="sk-SK" sz="3099" b="1">
                <a:latin typeface="Courier New" panose="02070309020205020404" pitchFamily="49" charset="0"/>
                <a:cs typeface="Courier New" panose="02070309020205020404" pitchFamily="49" charset="0"/>
              </a:rPr>
              <a:t>int *p</a:t>
            </a:r>
            <a:r>
              <a:rPr lang="en-US" altLang="sk-SK" sz="3099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sk-SK" altLang="sk-SK" sz="3099"/>
              <a:t> </a:t>
            </a:r>
          </a:p>
          <a:p>
            <a:pPr eaLnBrk="1" hangingPunct="1">
              <a:defRPr/>
            </a:pPr>
            <a:r>
              <a:rPr lang="sk-SK" altLang="sk-SK" sz="3099">
                <a:solidFill>
                  <a:srgbClr val="FF0000"/>
                </a:solidFill>
              </a:rPr>
              <a:t>Nikdy nepracujte s ukazovateľom, ktorý ste predtým nenasmerovali na nejakú zmysluplnú adresu!</a:t>
            </a:r>
          </a:p>
          <a:p>
            <a:pPr eaLnBrk="1" hangingPunct="1">
              <a:defRPr/>
            </a:pPr>
            <a:r>
              <a:rPr lang="sk-SK" altLang="sk-SK" sz="3099"/>
              <a:t>Ak potrebujeme zaistiť, aby ukazovateľ neukazoval na konkrétne miesto priradíme mu hodnotu </a:t>
            </a:r>
            <a:r>
              <a:rPr lang="sk-SK" altLang="sk-SK" sz="3099" b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altLang="sk-SK" sz="3099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sk-SK" altLang="sk-SK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4BD0D44E-206A-4BF2-92D6-9CF2DAA49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Ukazovatele</a:t>
            </a:r>
            <a:endParaRPr lang="en-US" altLang="sk-SK"/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98D0DDB1-8630-4B92-89B2-8FEB7AB25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6619875"/>
            <a:ext cx="9529763" cy="5064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2292" name="Text Box 1029">
            <a:extLst>
              <a:ext uri="{FF2B5EF4-FFF2-40B4-BE49-F238E27FC236}">
                <a16:creationId xmlns:a16="http://schemas.microsoft.com/office/drawing/2014/main" id="{DB9E5714-DA0E-4BD4-860C-7B8DAFC9E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416050"/>
            <a:ext cx="273367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int **p, *q, r;</a:t>
            </a:r>
          </a:p>
        </p:txBody>
      </p:sp>
      <p:sp>
        <p:nvSpPr>
          <p:cNvPr id="12293" name="Rectangle 1030">
            <a:extLst>
              <a:ext uri="{FF2B5EF4-FFF2-40B4-BE49-F238E27FC236}">
                <a16:creationId xmlns:a16="http://schemas.microsoft.com/office/drawing/2014/main" id="{30DDB144-68E2-469C-AD9C-A571D9752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6619875"/>
            <a:ext cx="674688" cy="5064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2294" name="Rectangle 1031">
            <a:extLst>
              <a:ext uri="{FF2B5EF4-FFF2-40B4-BE49-F238E27FC236}">
                <a16:creationId xmlns:a16="http://schemas.microsoft.com/office/drawing/2014/main" id="{A5D76A17-5073-49BE-9368-B75848F4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6619875"/>
            <a:ext cx="674687" cy="5064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2295" name="Rectangle 1032">
            <a:extLst>
              <a:ext uri="{FF2B5EF4-FFF2-40B4-BE49-F238E27FC236}">
                <a16:creationId xmlns:a16="http://schemas.microsoft.com/office/drawing/2014/main" id="{FA4C3969-6175-4E2D-A9C4-0CC653D26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6619875"/>
            <a:ext cx="674687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2296" name="AutoShape 1033">
            <a:extLst>
              <a:ext uri="{FF2B5EF4-FFF2-40B4-BE49-F238E27FC236}">
                <a16:creationId xmlns:a16="http://schemas.microsoft.com/office/drawing/2014/main" id="{8926052E-DCB3-40E8-9A42-875C71CF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4806950"/>
            <a:ext cx="1939925" cy="1138238"/>
          </a:xfrm>
          <a:prstGeom prst="wedgeRoundRectCallout">
            <a:avLst>
              <a:gd name="adj1" fmla="val -2444"/>
              <a:gd name="adj2" fmla="val 109412"/>
              <a:gd name="adj3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p</a:t>
            </a:r>
            <a:r>
              <a:rPr lang="en-US" altLang="sk-SK" sz="1992"/>
              <a:t>: ukazovate</a:t>
            </a:r>
            <a:r>
              <a:rPr lang="sk-SK" altLang="sk-SK" sz="1992"/>
              <a:t>ľ na ukazovateľ na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2297" name="AutoShape 1034">
            <a:extLst>
              <a:ext uri="{FF2B5EF4-FFF2-40B4-BE49-F238E27FC236}">
                <a16:creationId xmlns:a16="http://schemas.microsoft.com/office/drawing/2014/main" id="{BD876DEE-2C77-4ABC-BB2C-26D5AFADF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4806950"/>
            <a:ext cx="1939925" cy="1244600"/>
          </a:xfrm>
          <a:prstGeom prst="wedgeRoundRectCallout">
            <a:avLst>
              <a:gd name="adj1" fmla="val 815"/>
              <a:gd name="adj2" fmla="val 95056"/>
              <a:gd name="adj3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q</a:t>
            </a:r>
            <a:r>
              <a:rPr lang="en-US" altLang="sk-SK" sz="1992"/>
              <a:t>: ukazovate</a:t>
            </a:r>
            <a:r>
              <a:rPr lang="sk-SK" altLang="sk-SK" sz="1992"/>
              <a:t>ľ na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2298" name="AutoShape 1035">
            <a:extLst>
              <a:ext uri="{FF2B5EF4-FFF2-40B4-BE49-F238E27FC236}">
                <a16:creationId xmlns:a16="http://schemas.microsoft.com/office/drawing/2014/main" id="{1B71EEA5-0D34-4694-9037-2DEB8DEE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2888" y="4806950"/>
            <a:ext cx="1771650" cy="1244600"/>
          </a:xfrm>
          <a:prstGeom prst="wedgeRoundRectCallout">
            <a:avLst>
              <a:gd name="adj1" fmla="val 5653"/>
              <a:gd name="adj2" fmla="val 9505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r: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2299" name="Text Box 1036">
            <a:extLst>
              <a:ext uri="{FF2B5EF4-FFF2-40B4-BE49-F238E27FC236}">
                <a16:creationId xmlns:a16="http://schemas.microsoft.com/office/drawing/2014/main" id="{977053B2-72B7-45CE-BBC7-5DE1E49C5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7126288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771"/>
              <a:t>17</a:t>
            </a:r>
            <a:endParaRPr lang="en-US" altLang="sk-SK" sz="1771"/>
          </a:p>
        </p:txBody>
      </p:sp>
      <p:sp>
        <p:nvSpPr>
          <p:cNvPr id="12300" name="Text Box 1037">
            <a:extLst>
              <a:ext uri="{FF2B5EF4-FFF2-40B4-BE49-F238E27FC236}">
                <a16:creationId xmlns:a16="http://schemas.microsoft.com/office/drawing/2014/main" id="{2CB917E9-1DE5-4F6D-9A0D-BF3482A2A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7126288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771"/>
              <a:t>51</a:t>
            </a:r>
            <a:endParaRPr lang="en-US" altLang="sk-SK" sz="1771"/>
          </a:p>
        </p:txBody>
      </p:sp>
      <p:sp>
        <p:nvSpPr>
          <p:cNvPr id="12301" name="Text Box 1038">
            <a:extLst>
              <a:ext uri="{FF2B5EF4-FFF2-40B4-BE49-F238E27FC236}">
                <a16:creationId xmlns:a16="http://schemas.microsoft.com/office/drawing/2014/main" id="{AF7BD46B-A89C-4A9D-825C-DC202C4A8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575" y="7126288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771"/>
              <a:t>67</a:t>
            </a:r>
            <a:endParaRPr lang="en-US" altLang="sk-SK" sz="1771"/>
          </a:p>
        </p:txBody>
      </p:sp>
      <p:sp>
        <p:nvSpPr>
          <p:cNvPr id="37903" name="Text Box 1039">
            <a:extLst>
              <a:ext uri="{FF2B5EF4-FFF2-40B4-BE49-F238E27FC236}">
                <a16:creationId xmlns:a16="http://schemas.microsoft.com/office/drawing/2014/main" id="{3AA4A9D6-C51C-4AE2-947B-90B86C028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1771650"/>
            <a:ext cx="13731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p</a:t>
            </a:r>
            <a:r>
              <a:rPr lang="sk-SK" altLang="sk-SK" sz="2213">
                <a:latin typeface="Courier New" panose="02070309020205020404" pitchFamily="49" charset="0"/>
              </a:rPr>
              <a:t> = </a:t>
            </a:r>
            <a:r>
              <a:rPr lang="en-US" altLang="sk-SK" sz="2213">
                <a:latin typeface="Courier New" panose="02070309020205020404" pitchFamily="49" charset="0"/>
              </a:rPr>
              <a:t>&amp;q;</a:t>
            </a:r>
          </a:p>
        </p:txBody>
      </p:sp>
      <p:sp>
        <p:nvSpPr>
          <p:cNvPr id="37905" name="Text Box 1041">
            <a:extLst>
              <a:ext uri="{FF2B5EF4-FFF2-40B4-BE49-F238E27FC236}">
                <a16:creationId xmlns:a16="http://schemas.microsoft.com/office/drawing/2014/main" id="{4D194989-3378-4783-A972-A10A6B908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6704013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51</a:t>
            </a:r>
          </a:p>
        </p:txBody>
      </p:sp>
      <p:sp>
        <p:nvSpPr>
          <p:cNvPr id="37907" name="Text Box 1043">
            <a:extLst>
              <a:ext uri="{FF2B5EF4-FFF2-40B4-BE49-F238E27FC236}">
                <a16:creationId xmlns:a16="http://schemas.microsoft.com/office/drawing/2014/main" id="{573779D1-27B3-4DBE-B0FD-9E0FA653A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174875"/>
            <a:ext cx="1373188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q</a:t>
            </a:r>
            <a:r>
              <a:rPr lang="sk-SK" altLang="sk-SK" sz="2213">
                <a:latin typeface="Courier New" panose="02070309020205020404" pitchFamily="49" charset="0"/>
              </a:rPr>
              <a:t> = </a:t>
            </a:r>
            <a:r>
              <a:rPr lang="en-US" altLang="sk-SK" sz="2213">
                <a:latin typeface="Courier New" panose="02070309020205020404" pitchFamily="49" charset="0"/>
              </a:rPr>
              <a:t>&amp;r;</a:t>
            </a:r>
          </a:p>
        </p:txBody>
      </p:sp>
      <p:sp>
        <p:nvSpPr>
          <p:cNvPr id="37908" name="Text Box 1044">
            <a:extLst>
              <a:ext uri="{FF2B5EF4-FFF2-40B4-BE49-F238E27FC236}">
                <a16:creationId xmlns:a16="http://schemas.microsoft.com/office/drawing/2014/main" id="{276F8072-6232-4E25-9E3D-735C66627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6704013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67</a:t>
            </a:r>
          </a:p>
        </p:txBody>
      </p:sp>
      <p:sp>
        <p:nvSpPr>
          <p:cNvPr id="37909" name="Text Box 1045">
            <a:extLst>
              <a:ext uri="{FF2B5EF4-FFF2-40B4-BE49-F238E27FC236}">
                <a16:creationId xmlns:a16="http://schemas.microsoft.com/office/drawing/2014/main" id="{D730D52C-FE1C-4328-A62F-F9BA3C29B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488" y="6704013"/>
            <a:ext cx="311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5</a:t>
            </a:r>
          </a:p>
        </p:txBody>
      </p:sp>
      <p:sp>
        <p:nvSpPr>
          <p:cNvPr id="37910" name="Rectangle 1046">
            <a:extLst>
              <a:ext uri="{FF2B5EF4-FFF2-40B4-BE49-F238E27FC236}">
                <a16:creationId xmlns:a16="http://schemas.microsoft.com/office/drawing/2014/main" id="{4E2FA720-99FD-4D55-B4F9-F8CA8B86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2593975"/>
            <a:ext cx="120491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r = 5;</a:t>
            </a:r>
          </a:p>
        </p:txBody>
      </p:sp>
      <p:sp>
        <p:nvSpPr>
          <p:cNvPr id="37912" name="Rectangle 1048">
            <a:extLst>
              <a:ext uri="{FF2B5EF4-FFF2-40B4-BE49-F238E27FC236}">
                <a16:creationId xmlns:a16="http://schemas.microsoft.com/office/drawing/2014/main" id="{61528B4D-6F85-40A3-A0FD-C237CE099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2951163"/>
            <a:ext cx="7831138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 err="1">
                <a:latin typeface="Courier New" panose="02070309020205020404" pitchFamily="49" charset="0"/>
              </a:rPr>
              <a:t>printf</a:t>
            </a:r>
            <a:r>
              <a:rPr lang="en-US" altLang="sk-SK" sz="2213">
                <a:latin typeface="Courier New" panose="02070309020205020404" pitchFamily="49" charset="0"/>
              </a:rPr>
              <a:t>("%p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%d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%p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%d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%d",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  &amp;p,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&amp;q,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&amp;r,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p,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 q,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r, *p,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*q,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**p);</a:t>
            </a:r>
          </a:p>
        </p:txBody>
      </p:sp>
      <p:sp>
        <p:nvSpPr>
          <p:cNvPr id="37913" name="Rectangle 1049">
            <a:extLst>
              <a:ext uri="{FF2B5EF4-FFF2-40B4-BE49-F238E27FC236}">
                <a16:creationId xmlns:a16="http://schemas.microsoft.com/office/drawing/2014/main" id="{9679A6CC-BE97-4E53-B264-00F781D5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3848100"/>
            <a:ext cx="5962650" cy="4318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17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51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 67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51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67  5  </a:t>
            </a:r>
            <a:r>
              <a:rPr lang="sk-SK" altLang="sk-SK" sz="2213">
                <a:latin typeface="Courier New" panose="02070309020205020404" pitchFamily="49" charset="0"/>
              </a:rPr>
              <a:t> </a:t>
            </a:r>
            <a:r>
              <a:rPr lang="en-US" altLang="sk-SK" sz="2213">
                <a:latin typeface="Courier New" panose="02070309020205020404" pitchFamily="49" charset="0"/>
              </a:rPr>
              <a:t>67   5   5</a:t>
            </a:r>
          </a:p>
        </p:txBody>
      </p:sp>
      <p:sp>
        <p:nvSpPr>
          <p:cNvPr id="37914" name="AutoShape 1050">
            <a:extLst>
              <a:ext uri="{FF2B5EF4-FFF2-40B4-BE49-F238E27FC236}">
                <a16:creationId xmlns:a16="http://schemas.microsoft.com/office/drawing/2014/main" id="{7302E1E7-03D7-412F-90CF-8720F1777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84138"/>
            <a:ext cx="3541713" cy="506412"/>
          </a:xfrm>
          <a:prstGeom prst="wedgeRoundRectCallout">
            <a:avLst>
              <a:gd name="adj1" fmla="val -81000"/>
              <a:gd name="adj2" fmla="val 59652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&amp;</a:t>
            </a:r>
            <a:r>
              <a:rPr lang="en-US" altLang="sk-SK" sz="1992"/>
              <a:t> - vr</a:t>
            </a:r>
            <a:r>
              <a:rPr lang="sk-SK" altLang="sk-SK" sz="1992"/>
              <a:t>áti adresu premennej</a:t>
            </a:r>
            <a:endParaRPr lang="en-US" altLang="sk-SK" sz="1992"/>
          </a:p>
        </p:txBody>
      </p:sp>
      <p:sp>
        <p:nvSpPr>
          <p:cNvPr id="37915" name="AutoShape 1051">
            <a:extLst>
              <a:ext uri="{FF2B5EF4-FFF2-40B4-BE49-F238E27FC236}">
                <a16:creationId xmlns:a16="http://schemas.microsoft.com/office/drawing/2014/main" id="{D468E185-A949-40E9-8C1A-10B54F93A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674688"/>
            <a:ext cx="3709987" cy="1011237"/>
          </a:xfrm>
          <a:prstGeom prst="wedgeRoundRectCallout">
            <a:avLst>
              <a:gd name="adj1" fmla="val -78505"/>
              <a:gd name="adj2" fmla="val 21909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</a:rPr>
              <a:t>bez operátora</a:t>
            </a:r>
            <a:r>
              <a:rPr lang="en-US" altLang="sk-SK" sz="1992"/>
              <a:t> - </a:t>
            </a:r>
            <a:r>
              <a:rPr lang="sk-SK" altLang="sk-SK" sz="1992"/>
              <a:t>hodnota premennej (ak je hodnotou adresa, tak je to adresa)</a:t>
            </a:r>
            <a:endParaRPr lang="en-US" altLang="sk-SK" sz="1992"/>
          </a:p>
        </p:txBody>
      </p:sp>
      <p:sp>
        <p:nvSpPr>
          <p:cNvPr id="37916" name="AutoShape 1052">
            <a:extLst>
              <a:ext uri="{FF2B5EF4-FFF2-40B4-BE49-F238E27FC236}">
                <a16:creationId xmlns:a16="http://schemas.microsoft.com/office/drawing/2014/main" id="{BD6FFB93-E67B-4A33-88D8-B8A9DB69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88" y="1771650"/>
            <a:ext cx="3035300" cy="1433513"/>
          </a:xfrm>
          <a:prstGeom prst="wedgeRoundRectCallout">
            <a:avLst>
              <a:gd name="adj1" fmla="val -81426"/>
              <a:gd name="adj2" fmla="val 6238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</a:rPr>
              <a:t>*</a:t>
            </a:r>
            <a:r>
              <a:rPr lang="en-US" altLang="sk-SK" sz="1992"/>
              <a:t> - </a:t>
            </a:r>
            <a:r>
              <a:rPr lang="sk-SK" altLang="sk-SK" sz="1992"/>
              <a:t>hodnotu premennej vezme ako adresu a z tej adresy vráti hodnotu</a:t>
            </a:r>
            <a:endParaRPr lang="en-US" altLang="sk-SK" sz="199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3" grpId="0" autoUpdateAnimBg="0"/>
      <p:bldP spid="37905" grpId="0" autoUpdateAnimBg="0"/>
      <p:bldP spid="37907" grpId="0" autoUpdateAnimBg="0"/>
      <p:bldP spid="37908" grpId="0" autoUpdateAnimBg="0"/>
      <p:bldP spid="37909" grpId="0" autoUpdateAnimBg="0"/>
      <p:bldP spid="37910" grpId="0" autoUpdateAnimBg="0"/>
      <p:bldP spid="37912" grpId="0" autoUpdateAnimBg="0"/>
      <p:bldP spid="37913" grpId="0" animBg="1" autoUpdateAnimBg="0"/>
      <p:bldP spid="37914" grpId="0" animBg="1" autoUpdateAnimBg="0"/>
      <p:bldP spid="37915" grpId="0" animBg="1" autoUpdateAnimBg="0"/>
      <p:bldP spid="37916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00D1DFD4-DE0C-440F-81D0-2AC3743D6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Ukazovatele a polia</a:t>
            </a:r>
            <a:endParaRPr lang="en-US" altLang="sk-SK"/>
          </a:p>
        </p:txBody>
      </p:sp>
      <p:sp>
        <p:nvSpPr>
          <p:cNvPr id="13315" name="Text Box 1029">
            <a:extLst>
              <a:ext uri="{FF2B5EF4-FFF2-40B4-BE49-F238E27FC236}">
                <a16:creationId xmlns:a16="http://schemas.microsoft.com/office/drawing/2014/main" id="{DEC5CC0F-35C5-4D6B-B0E8-4D55FCDDD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416050"/>
            <a:ext cx="5111750" cy="77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int *p, q[5], i=0;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for (i=0; i&lt;5; i++) q[i] = i;</a:t>
            </a:r>
          </a:p>
        </p:txBody>
      </p:sp>
      <p:sp>
        <p:nvSpPr>
          <p:cNvPr id="13316" name="Rectangle 1030">
            <a:extLst>
              <a:ext uri="{FF2B5EF4-FFF2-40B4-BE49-F238E27FC236}">
                <a16:creationId xmlns:a16="http://schemas.microsoft.com/office/drawing/2014/main" id="{D7D6C380-A507-4FE4-85B0-0B2909806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6619875"/>
            <a:ext cx="9529763" cy="5064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17" name="Rectangle 1032">
            <a:extLst>
              <a:ext uri="{FF2B5EF4-FFF2-40B4-BE49-F238E27FC236}">
                <a16:creationId xmlns:a16="http://schemas.microsoft.com/office/drawing/2014/main" id="{5727492B-A515-4C31-BCB7-C9F033C4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225" y="6619875"/>
            <a:ext cx="674688" cy="5064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18" name="Text Box 1034">
            <a:extLst>
              <a:ext uri="{FF2B5EF4-FFF2-40B4-BE49-F238E27FC236}">
                <a16:creationId xmlns:a16="http://schemas.microsoft.com/office/drawing/2014/main" id="{EAA5A4AC-BB1F-424B-AF1C-1D927041E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7126288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19</a:t>
            </a:r>
          </a:p>
        </p:txBody>
      </p:sp>
      <p:sp>
        <p:nvSpPr>
          <p:cNvPr id="13319" name="Text Box 1035">
            <a:extLst>
              <a:ext uri="{FF2B5EF4-FFF2-40B4-BE49-F238E27FC236}">
                <a16:creationId xmlns:a16="http://schemas.microsoft.com/office/drawing/2014/main" id="{9D62C1F9-EB3C-4BF1-9A92-DAEEF76D9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7083425"/>
            <a:ext cx="31384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771"/>
              <a:t>5</a:t>
            </a:r>
            <a:r>
              <a:rPr lang="en-US" altLang="sk-SK" sz="1771"/>
              <a:t>7       59       61      63       65</a:t>
            </a:r>
          </a:p>
        </p:txBody>
      </p:sp>
      <p:sp>
        <p:nvSpPr>
          <p:cNvPr id="13320" name="Text Box 1036">
            <a:extLst>
              <a:ext uri="{FF2B5EF4-FFF2-40B4-BE49-F238E27FC236}">
                <a16:creationId xmlns:a16="http://schemas.microsoft.com/office/drawing/2014/main" id="{916B52A8-B71D-4147-B0DA-DA47512AE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0" y="7083425"/>
            <a:ext cx="565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103</a:t>
            </a:r>
          </a:p>
        </p:txBody>
      </p:sp>
      <p:sp>
        <p:nvSpPr>
          <p:cNvPr id="38926" name="Text Box 1038">
            <a:extLst>
              <a:ext uri="{FF2B5EF4-FFF2-40B4-BE49-F238E27FC236}">
                <a16:creationId xmlns:a16="http://schemas.microsoft.com/office/drawing/2014/main" id="{FCE89FA1-C661-4AAB-A7B4-D6BB83039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6704013"/>
            <a:ext cx="4381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57</a:t>
            </a:r>
          </a:p>
        </p:txBody>
      </p:sp>
      <p:sp>
        <p:nvSpPr>
          <p:cNvPr id="13322" name="AutoShape 1040">
            <a:extLst>
              <a:ext uri="{FF2B5EF4-FFF2-40B4-BE49-F238E27FC236}">
                <a16:creationId xmlns:a16="http://schemas.microsoft.com/office/drawing/2014/main" id="{7D073813-ADA4-4753-A3E7-F3A8DB773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4806950"/>
            <a:ext cx="1939925" cy="1244600"/>
          </a:xfrm>
          <a:prstGeom prst="wedgeRoundRectCallout">
            <a:avLst>
              <a:gd name="adj1" fmla="val 815"/>
              <a:gd name="adj2" fmla="val 95056"/>
              <a:gd name="adj3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p:</a:t>
            </a:r>
            <a:r>
              <a:rPr lang="en-US" altLang="sk-SK" sz="1992"/>
              <a:t> ukazovate</a:t>
            </a:r>
            <a:r>
              <a:rPr lang="sk-SK" altLang="sk-SK" sz="1992"/>
              <a:t>ľ na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3323" name="Rectangle 1041">
            <a:extLst>
              <a:ext uri="{FF2B5EF4-FFF2-40B4-BE49-F238E27FC236}">
                <a16:creationId xmlns:a16="http://schemas.microsoft.com/office/drawing/2014/main" id="{86F0C717-A5FA-4EF9-9AC8-B4F9BE8A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6619875"/>
            <a:ext cx="674687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4" name="Rectangle 1042">
            <a:extLst>
              <a:ext uri="{FF2B5EF4-FFF2-40B4-BE49-F238E27FC236}">
                <a16:creationId xmlns:a16="http://schemas.microsoft.com/office/drawing/2014/main" id="{9E0C722A-40A8-4513-9B14-DA3F1E18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6619875"/>
            <a:ext cx="674688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5" name="Rectangle 1043">
            <a:extLst>
              <a:ext uri="{FF2B5EF4-FFF2-40B4-BE49-F238E27FC236}">
                <a16:creationId xmlns:a16="http://schemas.microsoft.com/office/drawing/2014/main" id="{D6F7D3ED-B0FA-47DD-88D5-A2A78458E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6619875"/>
            <a:ext cx="674687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6" name="Rectangle 1044">
            <a:extLst>
              <a:ext uri="{FF2B5EF4-FFF2-40B4-BE49-F238E27FC236}">
                <a16:creationId xmlns:a16="http://schemas.microsoft.com/office/drawing/2014/main" id="{D33B47D8-FFBF-45B7-9329-766D28D53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0" y="6619875"/>
            <a:ext cx="674688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7" name="Rectangle 1045">
            <a:extLst>
              <a:ext uri="{FF2B5EF4-FFF2-40B4-BE49-F238E27FC236}">
                <a16:creationId xmlns:a16="http://schemas.microsoft.com/office/drawing/2014/main" id="{513BCC07-2DFD-4E30-94EC-E56C8CBFF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788" y="6619875"/>
            <a:ext cx="674687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8" name="Rectangle 1046">
            <a:extLst>
              <a:ext uri="{FF2B5EF4-FFF2-40B4-BE49-F238E27FC236}">
                <a16:creationId xmlns:a16="http://schemas.microsoft.com/office/drawing/2014/main" id="{77EC3902-FF71-47A6-B572-2E448C347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6619875"/>
            <a:ext cx="3371850" cy="506413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29" name="AutoShape 1047">
            <a:extLst>
              <a:ext uri="{FF2B5EF4-FFF2-40B4-BE49-F238E27FC236}">
                <a16:creationId xmlns:a16="http://schemas.microsoft.com/office/drawing/2014/main" id="{D4FA7585-F2D1-4F73-ADF1-A7FD48EC8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3625850"/>
            <a:ext cx="1939925" cy="1096963"/>
          </a:xfrm>
          <a:prstGeom prst="wedgeRoundRectCallout">
            <a:avLst>
              <a:gd name="adj1" fmla="val -29620"/>
              <a:gd name="adj2" fmla="val 218431"/>
              <a:gd name="adj3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q:</a:t>
            </a:r>
            <a:r>
              <a:rPr lang="en-US" altLang="sk-SK" sz="1992"/>
              <a:t> statick</a:t>
            </a:r>
            <a:r>
              <a:rPr lang="sk-SK" altLang="sk-SK" sz="1992"/>
              <a:t>ý </a:t>
            </a:r>
            <a:r>
              <a:rPr lang="en-US" altLang="sk-SK" sz="1992"/>
              <a:t>ukazovate</a:t>
            </a:r>
            <a:r>
              <a:rPr lang="sk-SK" altLang="sk-SK" sz="1992"/>
              <a:t>ľ na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3330" name="AutoShape 1048">
            <a:extLst>
              <a:ext uri="{FF2B5EF4-FFF2-40B4-BE49-F238E27FC236}">
                <a16:creationId xmlns:a16="http://schemas.microsoft.com/office/drawing/2014/main" id="{3DF65679-16D5-4510-9048-C573DFF48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450" y="4821238"/>
            <a:ext cx="1938338" cy="506412"/>
          </a:xfrm>
          <a:prstGeom prst="wedgeRoundRectCallout">
            <a:avLst>
              <a:gd name="adj1" fmla="val -59690"/>
              <a:gd name="adj2" fmla="val 32118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q[0]:</a:t>
            </a:r>
            <a:r>
              <a:rPr lang="en-US" altLang="sk-SK" sz="1992"/>
              <a:t>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3331" name="AutoShape 1049">
            <a:extLst>
              <a:ext uri="{FF2B5EF4-FFF2-40B4-BE49-F238E27FC236}">
                <a16:creationId xmlns:a16="http://schemas.microsoft.com/office/drawing/2014/main" id="{29A0CDA8-ACCF-4989-82E6-51EA0EA27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275" y="5368925"/>
            <a:ext cx="1939925" cy="506413"/>
          </a:xfrm>
          <a:prstGeom prst="wedgeRoundRectCallout">
            <a:avLst>
              <a:gd name="adj1" fmla="val -61231"/>
              <a:gd name="adj2" fmla="val 21527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q[1]:</a:t>
            </a:r>
            <a:r>
              <a:rPr lang="en-US" altLang="sk-SK" sz="1992"/>
              <a:t>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3332" name="AutoShape 1050">
            <a:extLst>
              <a:ext uri="{FF2B5EF4-FFF2-40B4-BE49-F238E27FC236}">
                <a16:creationId xmlns:a16="http://schemas.microsoft.com/office/drawing/2014/main" id="{64F02BB7-F62D-4690-863D-063E8D7B8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5903913"/>
            <a:ext cx="1938337" cy="504825"/>
          </a:xfrm>
          <a:prstGeom prst="wedgeRoundRectCallout">
            <a:avLst>
              <a:gd name="adj1" fmla="val -35056"/>
              <a:gd name="adj2" fmla="val 11284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q[4]:</a:t>
            </a:r>
            <a:r>
              <a:rPr lang="en-US" altLang="sk-SK" sz="1992"/>
              <a:t>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13333" name="Rectangle 1051">
            <a:extLst>
              <a:ext uri="{FF2B5EF4-FFF2-40B4-BE49-F238E27FC236}">
                <a16:creationId xmlns:a16="http://schemas.microsoft.com/office/drawing/2014/main" id="{AFD41DB1-51A7-4EB3-B45F-0EB7B3651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6388" y="6619875"/>
            <a:ext cx="674687" cy="5064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3334" name="AutoShape 1052">
            <a:extLst>
              <a:ext uri="{FF2B5EF4-FFF2-40B4-BE49-F238E27FC236}">
                <a16:creationId xmlns:a16="http://schemas.microsoft.com/office/drawing/2014/main" id="{D502801F-AE95-4DED-ADD8-452D9D15E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263" y="5143500"/>
            <a:ext cx="1939925" cy="506413"/>
          </a:xfrm>
          <a:prstGeom prst="wedgeRoundRectCallout">
            <a:avLst>
              <a:gd name="adj1" fmla="val 27444"/>
              <a:gd name="adj2" fmla="val 23368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</a:rPr>
              <a:t>i:</a:t>
            </a:r>
            <a:r>
              <a:rPr lang="en-US" altLang="sk-SK" sz="1992"/>
              <a:t> </a:t>
            </a:r>
            <a:r>
              <a:rPr lang="sk-SK" altLang="sk-SK" sz="1992">
                <a:latin typeface="Courier New" panose="02070309020205020404" pitchFamily="49" charset="0"/>
              </a:rPr>
              <a:t>int</a:t>
            </a:r>
            <a:endParaRPr lang="en-US" altLang="sk-SK" sz="1992">
              <a:latin typeface="Courier New" panose="02070309020205020404" pitchFamily="49" charset="0"/>
            </a:endParaRPr>
          </a:p>
        </p:txBody>
      </p:sp>
      <p:sp>
        <p:nvSpPr>
          <p:cNvPr id="38941" name="Text Box 1053">
            <a:extLst>
              <a:ext uri="{FF2B5EF4-FFF2-40B4-BE49-F238E27FC236}">
                <a16:creationId xmlns:a16="http://schemas.microsoft.com/office/drawing/2014/main" id="{E71B3365-E7FA-413E-94DA-E111039E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360613"/>
            <a:ext cx="1203325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p</a:t>
            </a:r>
            <a:r>
              <a:rPr lang="sk-SK" altLang="sk-SK" sz="2213">
                <a:latin typeface="Courier New" panose="02070309020205020404" pitchFamily="49" charset="0"/>
              </a:rPr>
              <a:t> = </a:t>
            </a:r>
            <a:r>
              <a:rPr lang="en-US" altLang="sk-SK" sz="2213">
                <a:latin typeface="Courier New" panose="02070309020205020404" pitchFamily="49" charset="0"/>
              </a:rPr>
              <a:t>q;</a:t>
            </a:r>
          </a:p>
        </p:txBody>
      </p:sp>
      <p:sp>
        <p:nvSpPr>
          <p:cNvPr id="13336" name="Text Box 1039">
            <a:extLst>
              <a:ext uri="{FF2B5EF4-FFF2-40B4-BE49-F238E27FC236}">
                <a16:creationId xmlns:a16="http://schemas.microsoft.com/office/drawing/2014/main" id="{64C064FF-5B6A-4502-950B-50B0DEBFA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5" y="6662738"/>
            <a:ext cx="3111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5</a:t>
            </a:r>
          </a:p>
        </p:txBody>
      </p:sp>
      <p:sp>
        <p:nvSpPr>
          <p:cNvPr id="38942" name="Text Box 1054">
            <a:extLst>
              <a:ext uri="{FF2B5EF4-FFF2-40B4-BE49-F238E27FC236}">
                <a16:creationId xmlns:a16="http://schemas.microsoft.com/office/drawing/2014/main" id="{643C21F4-9CEF-4185-B64F-6768172DC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733675"/>
            <a:ext cx="6472237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p</a:t>
            </a:r>
            <a:r>
              <a:rPr lang="sk-SK" altLang="sk-SK" sz="2213">
                <a:latin typeface="Courier New" panose="02070309020205020404" pitchFamily="49" charset="0"/>
              </a:rPr>
              <a:t> = </a:t>
            </a:r>
            <a:r>
              <a:rPr lang="en-US" altLang="sk-SK" sz="2213">
                <a:latin typeface="Courier New" panose="02070309020205020404" pitchFamily="49" charset="0"/>
              </a:rPr>
              <a:t>q+2;  /* to iste ako p = &amp;q[2] */</a:t>
            </a:r>
          </a:p>
        </p:txBody>
      </p:sp>
      <p:sp>
        <p:nvSpPr>
          <p:cNvPr id="38943" name="Text Box 1055">
            <a:extLst>
              <a:ext uri="{FF2B5EF4-FFF2-40B4-BE49-F238E27FC236}">
                <a16:creationId xmlns:a16="http://schemas.microsoft.com/office/drawing/2014/main" id="{CF6516CB-2131-45F9-BFB4-BCCED5CA6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6718300"/>
            <a:ext cx="438150" cy="3651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61</a:t>
            </a:r>
          </a:p>
        </p:txBody>
      </p:sp>
      <p:sp>
        <p:nvSpPr>
          <p:cNvPr id="38944" name="Text Box 1056">
            <a:extLst>
              <a:ext uri="{FF2B5EF4-FFF2-40B4-BE49-F238E27FC236}">
                <a16:creationId xmlns:a16="http://schemas.microsoft.com/office/drawing/2014/main" id="{63D6B89A-3C3B-4C8C-9D46-20939F665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3" y="3159125"/>
            <a:ext cx="6811962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 = </a:t>
            </a:r>
            <a:r>
              <a:rPr lang="en-US" altLang="sk-SK" sz="2213">
                <a:latin typeface="Courier New" panose="02070309020205020404" pitchFamily="49" charset="0"/>
              </a:rPr>
              <a:t>*(q+2);  /* to iste ako i = q[2] */</a:t>
            </a:r>
          </a:p>
        </p:txBody>
      </p:sp>
      <p:sp>
        <p:nvSpPr>
          <p:cNvPr id="38946" name="Text Box 1058">
            <a:extLst>
              <a:ext uri="{FF2B5EF4-FFF2-40B4-BE49-F238E27FC236}">
                <a16:creationId xmlns:a16="http://schemas.microsoft.com/office/drawing/2014/main" id="{9526D6C4-BF5C-4672-A299-588D52AD0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5" y="6689725"/>
            <a:ext cx="311150" cy="36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2</a:t>
            </a:r>
          </a:p>
        </p:txBody>
      </p:sp>
      <p:sp>
        <p:nvSpPr>
          <p:cNvPr id="13341" name="Text Box 1059">
            <a:extLst>
              <a:ext uri="{FF2B5EF4-FFF2-40B4-BE49-F238E27FC236}">
                <a16:creationId xmlns:a16="http://schemas.microsoft.com/office/drawing/2014/main" id="{F69832D1-633D-4530-94FF-C2DF79170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6746875"/>
            <a:ext cx="30686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771"/>
              <a:t>  0       1         2         3         4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6" grpId="0" autoUpdateAnimBg="0"/>
      <p:bldP spid="38941" grpId="0" autoUpdateAnimBg="0"/>
      <p:bldP spid="38942" grpId="0" autoUpdateAnimBg="0"/>
      <p:bldP spid="38943" grpId="0" animBg="1" autoUpdateAnimBg="0"/>
      <p:bldP spid="38944" grpId="0" autoUpdateAnimBg="0"/>
      <p:bldP spid="38946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>
            <a:extLst>
              <a:ext uri="{FF2B5EF4-FFF2-40B4-BE49-F238E27FC236}">
                <a16:creationId xmlns:a16="http://schemas.microsoft.com/office/drawing/2014/main" id="{5B8C33F0-F626-4D0F-8072-1EDF68FC6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altLang="sk-SK"/>
              <a:t>Ukazovatele</a:t>
            </a:r>
            <a:endParaRPr lang="en-US" altLang="sk-SK"/>
          </a:p>
        </p:txBody>
      </p:sp>
      <p:sp>
        <p:nvSpPr>
          <p:cNvPr id="14339" name="Text Box 1029">
            <a:extLst>
              <a:ext uri="{FF2B5EF4-FFF2-40B4-BE49-F238E27FC236}">
                <a16:creationId xmlns:a16="http://schemas.microsoft.com/office/drawing/2014/main" id="{C0D1DDCD-3513-41E5-9E0D-63EF4EFA1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643063"/>
            <a:ext cx="8170863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sz="2213" err="1">
                <a:latin typeface="+mn-lt"/>
                <a:cs typeface="Courier New" pitchFamily="49" charset="0"/>
                <a:sym typeface="Wingdings" pitchFamily="2" charset="2"/>
              </a:rPr>
              <a:t>Jednorozmern</a:t>
            </a:r>
            <a:r>
              <a:rPr lang="sk-SK" sz="2213">
                <a:latin typeface="+mn-lt"/>
                <a:cs typeface="Courier New" pitchFamily="49" charset="0"/>
                <a:sym typeface="Wingdings" pitchFamily="2" charset="2"/>
              </a:rPr>
              <a:t>é pole</a:t>
            </a:r>
          </a:p>
          <a:p>
            <a:pPr>
              <a:buFont typeface="Wingdings" pitchFamily="2" charset="2"/>
              <a:buNone/>
              <a:defRPr/>
            </a:pPr>
            <a:endParaRPr lang="sk-SK" sz="1107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&amp;pole[0] 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	   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pole+0    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   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pole</a:t>
            </a:r>
          </a:p>
          <a:p>
            <a:pPr>
              <a:buFont typeface="Wingdings" pitchFamily="2" charset="2"/>
              <a:buNone/>
              <a:defRPr/>
            </a:pP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&amp;pole[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  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	   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pole+i</a:t>
            </a:r>
            <a:endParaRPr lang="en-US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pole[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   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	   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*(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pole+i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pole[0]=10; 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   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*pole=10;</a:t>
            </a:r>
          </a:p>
          <a:p>
            <a:pPr>
              <a:buFont typeface="Wingdings" pitchFamily="2" charset="2"/>
              <a:buNone/>
              <a:defRPr/>
            </a:pP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pole[10]=70;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   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*(pole+10)=70;</a:t>
            </a: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defRPr/>
            </a:pPr>
            <a:r>
              <a:rPr lang="sk-SK" sz="2213">
                <a:cs typeface="Courier New" pitchFamily="49" charset="0"/>
                <a:sym typeface="Wingdings" pitchFamily="2" charset="2"/>
              </a:rPr>
              <a:t>Dvojrozmerné pole</a:t>
            </a:r>
            <a:endParaRPr lang="sk-SK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endParaRPr lang="sk-SK" sz="1107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p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ole2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][j]    *(pole2[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]+j)    *(*(pole2+i)+j)</a:t>
            </a:r>
          </a:p>
          <a:p>
            <a:pPr>
              <a:buFont typeface="Wingdings" pitchFamily="2" charset="2"/>
              <a:buNone/>
              <a:defRPr/>
            </a:pPr>
            <a:endParaRPr lang="en-US" sz="2213">
              <a:latin typeface="Courier New" pitchFamily="49" charset="0"/>
              <a:cs typeface="Courier New" pitchFamily="49" charset="0"/>
              <a:sym typeface="Wingdings" pitchFamily="2" charset="2"/>
            </a:endParaRPr>
          </a:p>
          <a:p>
            <a:pPr>
              <a:defRPr/>
            </a:pP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&amp;p</a:t>
            </a:r>
            <a:r>
              <a:rPr lang="sk-SK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ole2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][j]    pole2[</a:t>
            </a:r>
            <a:r>
              <a:rPr lang="en-US" sz="2213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i</a:t>
            </a:r>
            <a:r>
              <a:rPr lang="en-US" sz="2213">
                <a:latin typeface="Courier New" pitchFamily="49" charset="0"/>
                <a:cs typeface="Courier New" pitchFamily="49" charset="0"/>
                <a:sym typeface="Wingdings" pitchFamily="2" charset="2"/>
              </a:rPr>
              <a:t>]+j      *(pole2+i)+j</a:t>
            </a:r>
          </a:p>
        </p:txBody>
      </p:sp>
      <p:sp>
        <p:nvSpPr>
          <p:cNvPr id="25" name="AutoShape 1050">
            <a:extLst>
              <a:ext uri="{FF2B5EF4-FFF2-40B4-BE49-F238E27FC236}">
                <a16:creationId xmlns:a16="http://schemas.microsoft.com/office/drawing/2014/main" id="{AB6571F9-2A0E-4778-80AA-2FA9AAD8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051050"/>
            <a:ext cx="3541713" cy="398463"/>
          </a:xfrm>
          <a:prstGeom prst="wedgeRoundRectCallout">
            <a:avLst>
              <a:gd name="adj1" fmla="val -64486"/>
              <a:gd name="adj2" fmla="val 3584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Adresa začiatku poľa</a:t>
            </a:r>
            <a:endParaRPr lang="en-US" sz="2656">
              <a:latin typeface="+mn-lt"/>
            </a:endParaRPr>
          </a:p>
        </p:txBody>
      </p:sp>
      <p:sp>
        <p:nvSpPr>
          <p:cNvPr id="26" name="AutoShape 1050">
            <a:extLst>
              <a:ext uri="{FF2B5EF4-FFF2-40B4-BE49-F238E27FC236}">
                <a16:creationId xmlns:a16="http://schemas.microsoft.com/office/drawing/2014/main" id="{3C275541-CACA-49E7-B3E7-BE29F0752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2687638"/>
            <a:ext cx="3543300" cy="398462"/>
          </a:xfrm>
          <a:prstGeom prst="wedgeRoundRectCallout">
            <a:avLst>
              <a:gd name="adj1" fmla="val -99086"/>
              <a:gd name="adj2" fmla="val 335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Adresa </a:t>
            </a:r>
            <a:r>
              <a:rPr lang="sk-SK" sz="2656" err="1">
                <a:cs typeface="Courier New" pitchFamily="49" charset="0"/>
              </a:rPr>
              <a:t>i</a:t>
            </a:r>
            <a:r>
              <a:rPr lang="sk-SK" sz="2656" err="1">
                <a:latin typeface="+mn-lt"/>
              </a:rPr>
              <a:t>-teho</a:t>
            </a:r>
            <a:r>
              <a:rPr lang="sk-SK" sz="2656">
                <a:latin typeface="+mn-lt"/>
              </a:rPr>
              <a:t> prvku poľa</a:t>
            </a:r>
            <a:endParaRPr lang="en-US" sz="2656">
              <a:latin typeface="+mn-lt"/>
            </a:endParaRPr>
          </a:p>
        </p:txBody>
      </p:sp>
      <p:sp>
        <p:nvSpPr>
          <p:cNvPr id="27" name="AutoShape 1050">
            <a:extLst>
              <a:ext uri="{FF2B5EF4-FFF2-40B4-BE49-F238E27FC236}">
                <a16:creationId xmlns:a16="http://schemas.microsoft.com/office/drawing/2014/main" id="{C525841D-87C6-4475-B0FF-C13F36B8A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3405188"/>
            <a:ext cx="3543300" cy="398462"/>
          </a:xfrm>
          <a:prstGeom prst="wedgeRoundRectCallout">
            <a:avLst>
              <a:gd name="adj1" fmla="val -99086"/>
              <a:gd name="adj2" fmla="val 335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Hodnota </a:t>
            </a:r>
            <a:r>
              <a:rPr lang="sk-SK" sz="2656" err="1">
                <a:cs typeface="Courier New" pitchFamily="49" charset="0"/>
              </a:rPr>
              <a:t>i</a:t>
            </a:r>
            <a:r>
              <a:rPr lang="sk-SK" sz="2656" err="1">
                <a:latin typeface="+mn-lt"/>
              </a:rPr>
              <a:t>-teho</a:t>
            </a:r>
            <a:r>
              <a:rPr lang="sk-SK" sz="2656">
                <a:latin typeface="+mn-lt"/>
              </a:rPr>
              <a:t> prvku poľa</a:t>
            </a:r>
            <a:endParaRPr lang="en-US" sz="2656">
              <a:latin typeface="+mn-lt"/>
            </a:endParaRPr>
          </a:p>
        </p:txBody>
      </p:sp>
      <p:sp>
        <p:nvSpPr>
          <p:cNvPr id="28" name="AutoShape 1050">
            <a:extLst>
              <a:ext uri="{FF2B5EF4-FFF2-40B4-BE49-F238E27FC236}">
                <a16:creationId xmlns:a16="http://schemas.microsoft.com/office/drawing/2014/main" id="{3BC7E19C-133D-43EA-A291-0E4F2D0F5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4033838"/>
            <a:ext cx="3543300" cy="398462"/>
          </a:xfrm>
          <a:prstGeom prst="wedgeRoundRectCallout">
            <a:avLst>
              <a:gd name="adj1" fmla="val -99086"/>
              <a:gd name="adj2" fmla="val 335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Priradenie do </a:t>
            </a:r>
            <a:r>
              <a:rPr lang="en-US" sz="2656">
                <a:latin typeface="+mn-lt"/>
              </a:rPr>
              <a:t>0</a:t>
            </a:r>
            <a:r>
              <a:rPr lang="sk-SK" sz="2656">
                <a:latin typeface="+mn-lt"/>
              </a:rPr>
              <a:t>. prvku poľa</a:t>
            </a:r>
            <a:endParaRPr lang="en-US" sz="2656">
              <a:latin typeface="+mn-lt"/>
            </a:endParaRPr>
          </a:p>
        </p:txBody>
      </p:sp>
      <p:sp>
        <p:nvSpPr>
          <p:cNvPr id="29" name="AutoShape 1050">
            <a:extLst>
              <a:ext uri="{FF2B5EF4-FFF2-40B4-BE49-F238E27FC236}">
                <a16:creationId xmlns:a16="http://schemas.microsoft.com/office/drawing/2014/main" id="{68487C82-2A09-42F2-8106-44ACE4692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4672013"/>
            <a:ext cx="3543300" cy="398462"/>
          </a:xfrm>
          <a:prstGeom prst="wedgeRoundRectCallout">
            <a:avLst>
              <a:gd name="adj1" fmla="val -80475"/>
              <a:gd name="adj2" fmla="val 311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Priradenie do 10. prvku poľa</a:t>
            </a:r>
            <a:endParaRPr lang="en-US" sz="2656">
              <a:latin typeface="+mn-lt"/>
            </a:endParaRPr>
          </a:p>
        </p:txBody>
      </p:sp>
      <p:sp>
        <p:nvSpPr>
          <p:cNvPr id="9" name="AutoShape 1050">
            <a:extLst>
              <a:ext uri="{FF2B5EF4-FFF2-40B4-BE49-F238E27FC236}">
                <a16:creationId xmlns:a16="http://schemas.microsoft.com/office/drawing/2014/main" id="{4CEE9A4E-0375-4A9B-B7CC-24FAFE386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3" y="5627688"/>
            <a:ext cx="2062162" cy="398462"/>
          </a:xfrm>
          <a:prstGeom prst="wedgeRoundRectCallout">
            <a:avLst>
              <a:gd name="adj1" fmla="val -42052"/>
              <a:gd name="adj2" fmla="val 8863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Hodnota prvku</a:t>
            </a:r>
            <a:endParaRPr lang="en-US" sz="2656">
              <a:latin typeface="+mn-lt"/>
            </a:endParaRPr>
          </a:p>
        </p:txBody>
      </p:sp>
      <p:sp>
        <p:nvSpPr>
          <p:cNvPr id="10" name="AutoShape 1050">
            <a:extLst>
              <a:ext uri="{FF2B5EF4-FFF2-40B4-BE49-F238E27FC236}">
                <a16:creationId xmlns:a16="http://schemas.microsoft.com/office/drawing/2014/main" id="{688E8F8B-5374-452F-8EBF-B31773B0C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863" y="6503988"/>
            <a:ext cx="1770062" cy="398462"/>
          </a:xfrm>
          <a:prstGeom prst="wedgeRoundRectCallout">
            <a:avLst>
              <a:gd name="adj1" fmla="val -82631"/>
              <a:gd name="adj2" fmla="val 6469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sk-SK" sz="2656">
                <a:latin typeface="+mn-lt"/>
              </a:rPr>
              <a:t>Adresa prvku</a:t>
            </a:r>
            <a:endParaRPr lang="en-US" sz="2656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9" grpId="0" animBg="1" autoUpdateAnimBg="0"/>
      <p:bldP spid="10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3B91104-758E-46D3-880C-78BABDF28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</a:t>
            </a:r>
            <a:endParaRPr lang="en-US" altLang="sk-SK"/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D3C93162-85B9-4039-A25C-3F9C873A0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64" name="Text Box 9">
            <a:extLst>
              <a:ext uri="{FF2B5EF4-FFF2-40B4-BE49-F238E27FC236}">
                <a16:creationId xmlns:a16="http://schemas.microsoft.com/office/drawing/2014/main" id="{953EA022-ED94-4C90-B526-5BE35C6C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5548313"/>
            <a:ext cx="8556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Janko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65" name="Rectangle 10">
            <a:extLst>
              <a:ext uri="{FF2B5EF4-FFF2-40B4-BE49-F238E27FC236}">
                <a16:creationId xmlns:a16="http://schemas.microsoft.com/office/drawing/2014/main" id="{382F8178-6FD5-43ED-BFAC-E9758215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445125"/>
            <a:ext cx="842963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66" name="Text Box 12">
            <a:extLst>
              <a:ext uri="{FF2B5EF4-FFF2-40B4-BE49-F238E27FC236}">
                <a16:creationId xmlns:a16="http://schemas.microsoft.com/office/drawing/2014/main" id="{C8020C8D-F7D6-45F9-AA99-9A21CCD36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5548313"/>
            <a:ext cx="8667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Times New Roman" panose="02020603050405020304" pitchFamily="18" charset="0"/>
              </a:rPr>
              <a:t>2</a:t>
            </a:r>
            <a:endParaRPr lang="sk-SK" altLang="sk-SK" sz="1992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Miško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67" name="Rectangle 13">
            <a:extLst>
              <a:ext uri="{FF2B5EF4-FFF2-40B4-BE49-F238E27FC236}">
                <a16:creationId xmlns:a16="http://schemas.microsoft.com/office/drawing/2014/main" id="{13008904-6E18-4070-BA7D-013BF2392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68" name="Text Box 15">
            <a:extLst>
              <a:ext uri="{FF2B5EF4-FFF2-40B4-BE49-F238E27FC236}">
                <a16:creationId xmlns:a16="http://schemas.microsoft.com/office/drawing/2014/main" id="{7DF72B4C-230A-4806-B451-FFCDDBE3B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8" y="5548313"/>
            <a:ext cx="9667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Times New Roman" panose="02020603050405020304" pitchFamily="18" charset="0"/>
              </a:rPr>
              <a:t>3</a:t>
            </a:r>
            <a:endParaRPr lang="sk-SK" altLang="sk-SK" sz="1992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Anička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69" name="Rectangle 16">
            <a:extLst>
              <a:ext uri="{FF2B5EF4-FFF2-40B4-BE49-F238E27FC236}">
                <a16:creationId xmlns:a16="http://schemas.microsoft.com/office/drawing/2014/main" id="{55E5ACAE-A876-42AC-9C73-F9F2C555A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5445125"/>
            <a:ext cx="841375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70" name="Text Box 18">
            <a:extLst>
              <a:ext uri="{FF2B5EF4-FFF2-40B4-BE49-F238E27FC236}">
                <a16:creationId xmlns:a16="http://schemas.microsoft.com/office/drawing/2014/main" id="{300B3F4B-52E7-4F24-98D4-9D452D475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5548313"/>
            <a:ext cx="8826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5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Zuzka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71" name="Rectangle 19">
            <a:extLst>
              <a:ext uri="{FF2B5EF4-FFF2-40B4-BE49-F238E27FC236}">
                <a16:creationId xmlns:a16="http://schemas.microsoft.com/office/drawing/2014/main" id="{3206F4E6-C035-42B5-9D57-9053A460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5445125"/>
            <a:ext cx="842963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72" name="Text Box 21">
            <a:extLst>
              <a:ext uri="{FF2B5EF4-FFF2-40B4-BE49-F238E27FC236}">
                <a16:creationId xmlns:a16="http://schemas.microsoft.com/office/drawing/2014/main" id="{44CFB811-3B7E-48F9-A262-15ACF86D5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025" y="5548313"/>
            <a:ext cx="8382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6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David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73" name="Rectangle 26">
            <a:extLst>
              <a:ext uri="{FF2B5EF4-FFF2-40B4-BE49-F238E27FC236}">
                <a16:creationId xmlns:a16="http://schemas.microsoft.com/office/drawing/2014/main" id="{D7C7B9A0-6DC5-4E49-85FA-F10B5EFB9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74" name="Text Box 28">
            <a:extLst>
              <a:ext uri="{FF2B5EF4-FFF2-40B4-BE49-F238E27FC236}">
                <a16:creationId xmlns:a16="http://schemas.microsoft.com/office/drawing/2014/main" id="{00D8DC8C-B04C-403C-8438-6F4FB31FF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638" y="5548313"/>
            <a:ext cx="8683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Katka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5375" name="Rectangle 29">
            <a:extLst>
              <a:ext uri="{FF2B5EF4-FFF2-40B4-BE49-F238E27FC236}">
                <a16:creationId xmlns:a16="http://schemas.microsoft.com/office/drawing/2014/main" id="{C6E4AB8A-EDD6-45EB-9AA4-B395610DB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5445125"/>
            <a:ext cx="841375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5376" name="Text Box 31">
            <a:extLst>
              <a:ext uri="{FF2B5EF4-FFF2-40B4-BE49-F238E27FC236}">
                <a16:creationId xmlns:a16="http://schemas.microsoft.com/office/drawing/2014/main" id="{4DB8B630-6061-4EC1-B30E-2E75DFC9C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9663" y="5548313"/>
            <a:ext cx="8255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8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Jožko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7D95C0-16AA-4B43-B21D-9482635C958D}"/>
              </a:ext>
            </a:extLst>
          </p:cNvPr>
          <p:cNvSpPr/>
          <p:nvPr/>
        </p:nvSpPr>
        <p:spPr bwMode="auto">
          <a:xfrm>
            <a:off x="1471613" y="6307138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F51F2-D689-4617-BA2E-2E8D08A2547B}"/>
              </a:ext>
            </a:extLst>
          </p:cNvPr>
          <p:cNvSpPr/>
          <p:nvPr/>
        </p:nvSpPr>
        <p:spPr bwMode="auto">
          <a:xfrm>
            <a:off x="2684463" y="6308725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F4AF0-5A1A-4F3D-BFD5-8AA3AC660661}"/>
              </a:ext>
            </a:extLst>
          </p:cNvPr>
          <p:cNvSpPr/>
          <p:nvPr/>
        </p:nvSpPr>
        <p:spPr bwMode="auto">
          <a:xfrm>
            <a:off x="3906838" y="631825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30D191-EB79-4487-8D10-282D11F580E0}"/>
              </a:ext>
            </a:extLst>
          </p:cNvPr>
          <p:cNvSpPr/>
          <p:nvPr/>
        </p:nvSpPr>
        <p:spPr bwMode="auto">
          <a:xfrm>
            <a:off x="512445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2A02EE-83A4-4884-9130-03D3B312ECD0}"/>
              </a:ext>
            </a:extLst>
          </p:cNvPr>
          <p:cNvSpPr/>
          <p:nvPr/>
        </p:nvSpPr>
        <p:spPr bwMode="auto">
          <a:xfrm>
            <a:off x="6340475" y="6318250"/>
            <a:ext cx="842963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7EE0D2-8C7A-49FF-A62E-A21832A7C8C6}"/>
              </a:ext>
            </a:extLst>
          </p:cNvPr>
          <p:cNvSpPr/>
          <p:nvPr/>
        </p:nvSpPr>
        <p:spPr bwMode="auto">
          <a:xfrm>
            <a:off x="7558088" y="6308725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63AE98-60AA-41EA-AB66-1DA78AAC5E9A}"/>
              </a:ext>
            </a:extLst>
          </p:cNvPr>
          <p:cNvSpPr/>
          <p:nvPr/>
        </p:nvSpPr>
        <p:spPr bwMode="auto">
          <a:xfrm>
            <a:off x="877570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15384" name="Line 22">
            <a:extLst>
              <a:ext uri="{FF2B5EF4-FFF2-40B4-BE49-F238E27FC236}">
                <a16:creationId xmlns:a16="http://schemas.microsoft.com/office/drawing/2014/main" id="{C2FE5CC9-C9FC-4BA7-A018-2DF6A2096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648811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85" name="Line 23">
            <a:extLst>
              <a:ext uri="{FF2B5EF4-FFF2-40B4-BE49-F238E27FC236}">
                <a16:creationId xmlns:a16="http://schemas.microsoft.com/office/drawing/2014/main" id="{225723F1-A56D-4D41-8FAD-410198905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6488113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86" name="Line 24">
            <a:extLst>
              <a:ext uri="{FF2B5EF4-FFF2-40B4-BE49-F238E27FC236}">
                <a16:creationId xmlns:a16="http://schemas.microsoft.com/office/drawing/2014/main" id="{EC68E2D0-4092-4597-9D9A-9E2394C4D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6488113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87" name="Line 25">
            <a:extLst>
              <a:ext uri="{FF2B5EF4-FFF2-40B4-BE49-F238E27FC236}">
                <a16:creationId xmlns:a16="http://schemas.microsoft.com/office/drawing/2014/main" id="{5426664A-4F55-4BD3-90D2-1603EEC56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88" name="Line 32">
            <a:extLst>
              <a:ext uri="{FF2B5EF4-FFF2-40B4-BE49-F238E27FC236}">
                <a16:creationId xmlns:a16="http://schemas.microsoft.com/office/drawing/2014/main" id="{3DDFC561-8407-476B-84AA-9174C0571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89" name="Line 33">
            <a:extLst>
              <a:ext uri="{FF2B5EF4-FFF2-40B4-BE49-F238E27FC236}">
                <a16:creationId xmlns:a16="http://schemas.microsoft.com/office/drawing/2014/main" id="{5D9DD4A6-0414-439A-BDE2-E82A141CF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90" name="Line 34">
            <a:extLst>
              <a:ext uri="{FF2B5EF4-FFF2-40B4-BE49-F238E27FC236}">
                <a16:creationId xmlns:a16="http://schemas.microsoft.com/office/drawing/2014/main" id="{D15D6426-12F4-4398-A899-CF901F670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650557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91" name="Line 35">
            <a:extLst>
              <a:ext uri="{FF2B5EF4-FFF2-40B4-BE49-F238E27FC236}">
                <a16:creationId xmlns:a16="http://schemas.microsoft.com/office/drawing/2014/main" id="{70098E8C-6E21-4656-A62F-AD5B2A5654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6375400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5392" name="Line 36">
            <a:extLst>
              <a:ext uri="{FF2B5EF4-FFF2-40B4-BE49-F238E27FC236}">
                <a16:creationId xmlns:a16="http://schemas.microsoft.com/office/drawing/2014/main" id="{9F89C396-B150-48E3-BC34-68E2AD474C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6375400"/>
            <a:ext cx="0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253C76-2922-4101-973A-87AB2FC9DC51}"/>
              </a:ext>
            </a:extLst>
          </p:cNvPr>
          <p:cNvSpPr/>
          <p:nvPr/>
        </p:nvSpPr>
        <p:spPr bwMode="auto">
          <a:xfrm>
            <a:off x="546100" y="4129088"/>
            <a:ext cx="842963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FA0FF6-AA00-44B5-B253-7147F4354F04}"/>
              </a:ext>
            </a:extLst>
          </p:cNvPr>
          <p:cNvSpPr/>
          <p:nvPr/>
        </p:nvSpPr>
        <p:spPr bwMode="auto">
          <a:xfrm>
            <a:off x="1628775" y="4103688"/>
            <a:ext cx="842963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58403" name="Elbow Connector 36">
            <a:extLst>
              <a:ext uri="{FF2B5EF4-FFF2-40B4-BE49-F238E27FC236}">
                <a16:creationId xmlns:a16="http://schemas.microsoft.com/office/drawing/2014/main" id="{1C7ADFAD-847C-4EE0-BFC0-AB4D510DF8A1}"/>
              </a:ext>
            </a:extLst>
          </p:cNvPr>
          <p:cNvCxnSpPr>
            <a:cxnSpLocks noChangeShapeType="1"/>
            <a:stCxn id="35" idx="2"/>
            <a:endCxn id="15363" idx="1"/>
          </p:cNvCxnSpPr>
          <p:nvPr/>
        </p:nvCxnSpPr>
        <p:spPr bwMode="auto">
          <a:xfrm rot="16200000" flipH="1">
            <a:off x="440531" y="5028407"/>
            <a:ext cx="1558925" cy="50323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404" name="Elbow Connector 37">
            <a:extLst>
              <a:ext uri="{FF2B5EF4-FFF2-40B4-BE49-F238E27FC236}">
                <a16:creationId xmlns:a16="http://schemas.microsoft.com/office/drawing/2014/main" id="{E194767D-E73C-4B0B-B87C-39F7AF2BE223}"/>
              </a:ext>
            </a:extLst>
          </p:cNvPr>
          <p:cNvCxnSpPr>
            <a:cxnSpLocks noChangeShapeType="1"/>
            <a:stCxn id="36" idx="3"/>
            <a:endCxn id="15367" idx="0"/>
          </p:cNvCxnSpPr>
          <p:nvPr/>
        </p:nvCxnSpPr>
        <p:spPr bwMode="auto">
          <a:xfrm>
            <a:off x="2471738" y="4292600"/>
            <a:ext cx="1857375" cy="1152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97" name="Rectangle 3">
            <a:extLst>
              <a:ext uri="{FF2B5EF4-FFF2-40B4-BE49-F238E27FC236}">
                <a16:creationId xmlns:a16="http://schemas.microsoft.com/office/drawing/2014/main" id="{7510A6F7-E6B4-4F49-8D5A-D1F67720B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881188"/>
            <a:ext cx="61277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/>
              <a:t>Štruktúra ukazujúca na ten istý typ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AFB8CE5-CA9C-436B-AC5A-E0A22CD75E13}"/>
              </a:ext>
            </a:extLst>
          </p:cNvPr>
          <p:cNvGrpSpPr>
            <a:grpSpLocks/>
          </p:cNvGrpSpPr>
          <p:nvPr/>
        </p:nvGrpSpPr>
        <p:grpSpPr bwMode="auto">
          <a:xfrm>
            <a:off x="1220788" y="4592638"/>
            <a:ext cx="8794750" cy="2470150"/>
            <a:chOff x="1088750" y="4149080"/>
            <a:chExt cx="7947746" cy="2232248"/>
          </a:xfrm>
        </p:grpSpPr>
        <p:sp>
          <p:nvSpPr>
            <p:cNvPr id="15412" name="Rounded Rectangle 43">
              <a:extLst>
                <a:ext uri="{FF2B5EF4-FFF2-40B4-BE49-F238E27FC236}">
                  <a16:creationId xmlns:a16="http://schemas.microsoft.com/office/drawing/2014/main" id="{FADAA7B6-5DC1-44A6-A2D3-F4AEBB314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750" y="4754484"/>
              <a:ext cx="7947746" cy="162684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15413" name="Rounded Rectangular Callout 39">
              <a:extLst>
                <a:ext uri="{FF2B5EF4-FFF2-40B4-BE49-F238E27FC236}">
                  <a16:creationId xmlns:a16="http://schemas.microsoft.com/office/drawing/2014/main" id="{65E1C70E-98D7-4F0A-A637-4F4543F0E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760" y="4149080"/>
              <a:ext cx="2061537" cy="360086"/>
            </a:xfrm>
            <a:prstGeom prst="wedgeRoundRectCallout">
              <a:avLst>
                <a:gd name="adj1" fmla="val -41176"/>
                <a:gd name="adj2" fmla="val 120750"/>
                <a:gd name="adj3" fmla="val 16667"/>
              </a:avLst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Spájaný zoznam</a:t>
              </a:r>
              <a:endParaRPr lang="en-US" altLang="sk-SK" sz="1992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6385B10-C969-4DA5-AC6B-E2FAFB711631}"/>
              </a:ext>
            </a:extLst>
          </p:cNvPr>
          <p:cNvGrpSpPr>
            <a:grpSpLocks/>
          </p:cNvGrpSpPr>
          <p:nvPr/>
        </p:nvGrpSpPr>
        <p:grpSpPr bwMode="auto">
          <a:xfrm>
            <a:off x="6191250" y="3873500"/>
            <a:ext cx="3495675" cy="3014663"/>
            <a:chOff x="5580112" y="3501008"/>
            <a:chExt cx="3158430" cy="2723019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48FD9A-9135-45BA-839A-9C8F4EEB0ABB}"/>
                </a:ext>
              </a:extLst>
            </p:cNvPr>
            <p:cNvSpPr/>
            <p:nvPr/>
          </p:nvSpPr>
          <p:spPr bwMode="auto">
            <a:xfrm>
              <a:off x="5580112" y="4830254"/>
              <a:ext cx="1008346" cy="1393773"/>
            </a:xfrm>
            <a:prstGeom prst="roundRect">
              <a:avLst/>
            </a:prstGeom>
            <a:noFill/>
            <a:ln w="28575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2656">
                <a:latin typeface="Arial" charset="0"/>
              </a:endParaRPr>
            </a:p>
          </p:txBody>
        </p:sp>
        <p:sp>
          <p:nvSpPr>
            <p:cNvPr id="54" name="Rounded Rectangular Callout 53">
              <a:extLst>
                <a:ext uri="{FF2B5EF4-FFF2-40B4-BE49-F238E27FC236}">
                  <a16:creationId xmlns:a16="http://schemas.microsoft.com/office/drawing/2014/main" id="{7C24AEAE-0E3B-4550-90B9-8F302F3E1AD9}"/>
                </a:ext>
              </a:extLst>
            </p:cNvPr>
            <p:cNvSpPr/>
            <p:nvPr/>
          </p:nvSpPr>
          <p:spPr bwMode="auto">
            <a:xfrm>
              <a:off x="5651829" y="3501008"/>
              <a:ext cx="3086713" cy="359915"/>
            </a:xfrm>
            <a:prstGeom prst="wedgeRoundRectCallout">
              <a:avLst>
                <a:gd name="adj1" fmla="val -37880"/>
                <a:gd name="adj2" fmla="val 316472"/>
                <a:gd name="adj3" fmla="val 16667"/>
              </a:avLst>
            </a:prstGeom>
            <a:noFill/>
            <a:ln w="12700" cap="flat" cmpd="sng" algn="ctr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sk-SK" sz="2656">
                  <a:latin typeface="Arial" charset="0"/>
                </a:rPr>
                <a:t>Prvok spájaného zoznamu</a:t>
              </a:r>
              <a:endParaRPr lang="en-US" sz="2656">
                <a:latin typeface="Arial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591EE17-EEC0-4B38-864C-04E38872D8BF}"/>
              </a:ext>
            </a:extLst>
          </p:cNvPr>
          <p:cNvGrpSpPr>
            <a:grpSpLocks/>
          </p:cNvGrpSpPr>
          <p:nvPr/>
        </p:nvGrpSpPr>
        <p:grpSpPr bwMode="auto">
          <a:xfrm>
            <a:off x="3267075" y="3236913"/>
            <a:ext cx="4391025" cy="3021012"/>
            <a:chOff x="2939096" y="2924944"/>
            <a:chExt cx="3966019" cy="2729847"/>
          </a:xfrm>
        </p:grpSpPr>
        <p:sp>
          <p:nvSpPr>
            <p:cNvPr id="15408" name="Rounded Rectangular Callout 54">
              <a:extLst>
                <a:ext uri="{FF2B5EF4-FFF2-40B4-BE49-F238E27FC236}">
                  <a16:creationId xmlns:a16="http://schemas.microsoft.com/office/drawing/2014/main" id="{4B764A9E-E8F7-4DF1-A3CE-688C977EA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9096" y="2924944"/>
              <a:ext cx="3966019" cy="360058"/>
            </a:xfrm>
            <a:prstGeom prst="wedgeRoundRectCallout">
              <a:avLst>
                <a:gd name="adj1" fmla="val -19"/>
                <a:gd name="adj2" fmla="val 614713"/>
                <a:gd name="adj3" fmla="val 16667"/>
              </a:avLst>
            </a:prstGeom>
            <a:noFill/>
            <a:ln w="12700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Položka prvku spájaného zoznamu</a:t>
              </a:r>
              <a:endParaRPr lang="en-US" altLang="sk-SK" sz="1992"/>
            </a:p>
          </p:txBody>
        </p:sp>
        <p:sp>
          <p:nvSpPr>
            <p:cNvPr id="15409" name="Rounded Rectangle 55">
              <a:extLst>
                <a:ext uri="{FF2B5EF4-FFF2-40B4-BE49-F238E27FC236}">
                  <a16:creationId xmlns:a16="http://schemas.microsoft.com/office/drawing/2014/main" id="{1C8DA633-5F62-4D3D-944A-E7A4FF2A1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55" y="5306209"/>
              <a:ext cx="1007994" cy="34858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94E67F5-3CDD-41D2-A526-0BBD3C2038E7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2679700"/>
            <a:ext cx="4073525" cy="1893888"/>
            <a:chOff x="276494" y="2420888"/>
            <a:chExt cx="3680340" cy="1712054"/>
          </a:xfrm>
        </p:grpSpPr>
        <p:sp>
          <p:nvSpPr>
            <p:cNvPr id="15406" name="Rounded Rectangular Callout 56">
              <a:extLst>
                <a:ext uri="{FF2B5EF4-FFF2-40B4-BE49-F238E27FC236}">
                  <a16:creationId xmlns:a16="http://schemas.microsoft.com/office/drawing/2014/main" id="{BF6F8098-D1D7-4BBE-B978-FD97B1C83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94" y="2420888"/>
              <a:ext cx="3680340" cy="360206"/>
            </a:xfrm>
            <a:prstGeom prst="wedgeRoundRectCallout">
              <a:avLst>
                <a:gd name="adj1" fmla="val -13134"/>
                <a:gd name="adj2" fmla="val 293171"/>
                <a:gd name="adj3" fmla="val 16667"/>
              </a:avLst>
            </a:prstGeom>
            <a:noFill/>
            <a:ln w="12700" algn="ctr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Ukazovateľ na spájaný zoznam</a:t>
              </a:r>
              <a:endParaRPr lang="en-US" altLang="sk-SK" sz="1992"/>
            </a:p>
          </p:txBody>
        </p:sp>
        <p:sp>
          <p:nvSpPr>
            <p:cNvPr id="15407" name="Rounded Rectangle 57">
              <a:extLst>
                <a:ext uri="{FF2B5EF4-FFF2-40B4-BE49-F238E27FC236}">
                  <a16:creationId xmlns:a16="http://schemas.microsoft.com/office/drawing/2014/main" id="{C9BF7B25-95E1-45A1-A959-CD840B32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6341" y="3647884"/>
              <a:ext cx="1008292" cy="48505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</p:grpSp>
      <p:grpSp>
        <p:nvGrpSpPr>
          <p:cNvPr id="17411" name="Group 17410">
            <a:extLst>
              <a:ext uri="{FF2B5EF4-FFF2-40B4-BE49-F238E27FC236}">
                <a16:creationId xmlns:a16="http://schemas.microsoft.com/office/drawing/2014/main" id="{F8503A29-BBC7-4323-ADD9-CFCA79521E73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2679700"/>
            <a:ext cx="5248275" cy="1193800"/>
            <a:chOff x="3956834" y="2420888"/>
            <a:chExt cx="4742366" cy="1080120"/>
          </a:xfrm>
        </p:grpSpPr>
        <p:sp>
          <p:nvSpPr>
            <p:cNvPr id="15403" name="Rounded Rectangle 58">
              <a:extLst>
                <a:ext uri="{FF2B5EF4-FFF2-40B4-BE49-F238E27FC236}">
                  <a16:creationId xmlns:a16="http://schemas.microsoft.com/office/drawing/2014/main" id="{BC4F6C5B-8568-4927-8269-0D65BF892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0650" y="2420888"/>
              <a:ext cx="2078550" cy="35621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Nie je to to isté!</a:t>
              </a:r>
              <a:endParaRPr lang="en-US" altLang="sk-SK" sz="1992"/>
            </a:p>
          </p:txBody>
        </p:sp>
        <p:cxnSp>
          <p:nvCxnSpPr>
            <p:cNvPr id="58412" name="Straight Arrow Connector 60">
              <a:extLst>
                <a:ext uri="{FF2B5EF4-FFF2-40B4-BE49-F238E27FC236}">
                  <a16:creationId xmlns:a16="http://schemas.microsoft.com/office/drawing/2014/main" id="{C5317E9C-B597-4C7B-90ED-E7635BC6DE66}"/>
                </a:ext>
              </a:extLst>
            </p:cNvPr>
            <p:cNvCxnSpPr>
              <a:cxnSpLocks noChangeShapeType="1"/>
              <a:stCxn id="15403" idx="1"/>
              <a:endCxn id="15406" idx="3"/>
            </p:cNvCxnSpPr>
            <p:nvPr/>
          </p:nvCxnSpPr>
          <p:spPr bwMode="auto">
            <a:xfrm flipH="1">
              <a:off x="3956834" y="2599120"/>
              <a:ext cx="2663785" cy="17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413" name="Straight Arrow Connector 17408">
              <a:extLst>
                <a:ext uri="{FF2B5EF4-FFF2-40B4-BE49-F238E27FC236}">
                  <a16:creationId xmlns:a16="http://schemas.microsoft.com/office/drawing/2014/main" id="{293CE935-76CC-4F7D-86E6-BFEF7DE59821}"/>
                </a:ext>
              </a:extLst>
            </p:cNvPr>
            <p:cNvCxnSpPr>
              <a:cxnSpLocks noChangeShapeType="1"/>
              <a:stCxn id="15403" idx="2"/>
            </p:cNvCxnSpPr>
            <p:nvPr/>
          </p:nvCxnSpPr>
          <p:spPr bwMode="auto">
            <a:xfrm flipH="1">
              <a:off x="7659909" y="2777352"/>
              <a:ext cx="1" cy="723656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6C049EE-165A-4192-9147-47FEC7CEF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</a:t>
            </a:r>
            <a:endParaRPr lang="en-US" altLang="sk-SK"/>
          </a:p>
        </p:txBody>
      </p:sp>
      <p:sp>
        <p:nvSpPr>
          <p:cNvPr id="16387" name="Rectangle 7">
            <a:extLst>
              <a:ext uri="{FF2B5EF4-FFF2-40B4-BE49-F238E27FC236}">
                <a16:creationId xmlns:a16="http://schemas.microsoft.com/office/drawing/2014/main" id="{3DD60BB9-F768-4654-867F-2866BFE06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88" name="Text Box 9">
            <a:extLst>
              <a:ext uri="{FF2B5EF4-FFF2-40B4-BE49-F238E27FC236}">
                <a16:creationId xmlns:a16="http://schemas.microsoft.com/office/drawing/2014/main" id="{98AA7255-8F54-4BCE-8CFA-49D62DB7E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7163" y="5548313"/>
            <a:ext cx="8556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Janko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89" name="Rectangle 10">
            <a:extLst>
              <a:ext uri="{FF2B5EF4-FFF2-40B4-BE49-F238E27FC236}">
                <a16:creationId xmlns:a16="http://schemas.microsoft.com/office/drawing/2014/main" id="{3BBC6F9A-E2F3-48E6-8AC8-37A136366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445125"/>
            <a:ext cx="842963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90" name="Text Box 12">
            <a:extLst>
              <a:ext uri="{FF2B5EF4-FFF2-40B4-BE49-F238E27FC236}">
                <a16:creationId xmlns:a16="http://schemas.microsoft.com/office/drawing/2014/main" id="{2125637A-3A01-41F3-BD76-5E2BDDB04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5548313"/>
            <a:ext cx="8667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Times New Roman" panose="02020603050405020304" pitchFamily="18" charset="0"/>
              </a:rPr>
              <a:t>2</a:t>
            </a:r>
            <a:endParaRPr lang="sk-SK" altLang="sk-SK" sz="1992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Miško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91" name="Rectangle 13">
            <a:extLst>
              <a:ext uri="{FF2B5EF4-FFF2-40B4-BE49-F238E27FC236}">
                <a16:creationId xmlns:a16="http://schemas.microsoft.com/office/drawing/2014/main" id="{7930D458-A8F5-44B7-8FBB-4AB10D57D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92" name="Text Box 15">
            <a:extLst>
              <a:ext uri="{FF2B5EF4-FFF2-40B4-BE49-F238E27FC236}">
                <a16:creationId xmlns:a16="http://schemas.microsoft.com/office/drawing/2014/main" id="{C832D38A-AE16-4164-80A6-2B7C0C102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388" y="5548313"/>
            <a:ext cx="966787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Times New Roman" panose="02020603050405020304" pitchFamily="18" charset="0"/>
              </a:rPr>
              <a:t>3</a:t>
            </a:r>
            <a:endParaRPr lang="sk-SK" altLang="sk-SK" sz="1992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Anička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93" name="Rectangle 16">
            <a:extLst>
              <a:ext uri="{FF2B5EF4-FFF2-40B4-BE49-F238E27FC236}">
                <a16:creationId xmlns:a16="http://schemas.microsoft.com/office/drawing/2014/main" id="{2071CB0D-F271-4823-B519-03B2E8452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5445125"/>
            <a:ext cx="841375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94" name="Text Box 18">
            <a:extLst>
              <a:ext uri="{FF2B5EF4-FFF2-40B4-BE49-F238E27FC236}">
                <a16:creationId xmlns:a16="http://schemas.microsoft.com/office/drawing/2014/main" id="{28C13658-A746-43F7-9FAC-4ADB6AD4E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5548313"/>
            <a:ext cx="8826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5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Zuzka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95" name="Rectangle 19">
            <a:extLst>
              <a:ext uri="{FF2B5EF4-FFF2-40B4-BE49-F238E27FC236}">
                <a16:creationId xmlns:a16="http://schemas.microsoft.com/office/drawing/2014/main" id="{75082514-A9E0-4B2A-BEE6-62056BC3C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5445125"/>
            <a:ext cx="842963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96" name="Text Box 21">
            <a:extLst>
              <a:ext uri="{FF2B5EF4-FFF2-40B4-BE49-F238E27FC236}">
                <a16:creationId xmlns:a16="http://schemas.microsoft.com/office/drawing/2014/main" id="{4BA3E705-DB04-40B6-9B0E-5E35C9DAE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025" y="5548313"/>
            <a:ext cx="8382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6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David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97" name="Rectangle 26">
            <a:extLst>
              <a:ext uri="{FF2B5EF4-FFF2-40B4-BE49-F238E27FC236}">
                <a16:creationId xmlns:a16="http://schemas.microsoft.com/office/drawing/2014/main" id="{26DBE7A9-96D4-4494-83D4-453E2A3E7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5445125"/>
            <a:ext cx="842962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398" name="Text Box 28">
            <a:extLst>
              <a:ext uri="{FF2B5EF4-FFF2-40B4-BE49-F238E27FC236}">
                <a16:creationId xmlns:a16="http://schemas.microsoft.com/office/drawing/2014/main" id="{4016D054-ECFA-4286-ABC9-4C8A3BA22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3638" y="5548313"/>
            <a:ext cx="8683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Katka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6399" name="Rectangle 29">
            <a:extLst>
              <a:ext uri="{FF2B5EF4-FFF2-40B4-BE49-F238E27FC236}">
                <a16:creationId xmlns:a16="http://schemas.microsoft.com/office/drawing/2014/main" id="{88B857C5-81CC-42C3-8372-380A46B7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5445125"/>
            <a:ext cx="841375" cy="122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6400" name="Text Box 31">
            <a:extLst>
              <a:ext uri="{FF2B5EF4-FFF2-40B4-BE49-F238E27FC236}">
                <a16:creationId xmlns:a16="http://schemas.microsoft.com/office/drawing/2014/main" id="{096D0C8D-B38E-488E-A5FC-48FA2A16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9663" y="5548313"/>
            <a:ext cx="8255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8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Times New Roman" panose="02020603050405020304" pitchFamily="18" charset="0"/>
              </a:rPr>
              <a:t>Jožko</a:t>
            </a:r>
            <a:endParaRPr lang="en-US" altLang="sk-SK" sz="1992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FB5E01-26AE-4866-BCFF-BBAA05EFDF55}"/>
              </a:ext>
            </a:extLst>
          </p:cNvPr>
          <p:cNvSpPr/>
          <p:nvPr/>
        </p:nvSpPr>
        <p:spPr bwMode="auto">
          <a:xfrm>
            <a:off x="1471613" y="6307138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ACA69-1B02-41D0-A8D1-16CB74982329}"/>
              </a:ext>
            </a:extLst>
          </p:cNvPr>
          <p:cNvSpPr/>
          <p:nvPr/>
        </p:nvSpPr>
        <p:spPr bwMode="auto">
          <a:xfrm>
            <a:off x="2684463" y="6308725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7C7F10-5640-45CD-8E7C-0B049783E852}"/>
              </a:ext>
            </a:extLst>
          </p:cNvPr>
          <p:cNvSpPr/>
          <p:nvPr/>
        </p:nvSpPr>
        <p:spPr bwMode="auto">
          <a:xfrm>
            <a:off x="3906838" y="631825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6899E7-6D2A-4F15-A844-EEBE61A3690B}"/>
              </a:ext>
            </a:extLst>
          </p:cNvPr>
          <p:cNvSpPr/>
          <p:nvPr/>
        </p:nvSpPr>
        <p:spPr bwMode="auto">
          <a:xfrm>
            <a:off x="512445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3794B9-6855-4C25-A501-A514A063D262}"/>
              </a:ext>
            </a:extLst>
          </p:cNvPr>
          <p:cNvSpPr/>
          <p:nvPr/>
        </p:nvSpPr>
        <p:spPr bwMode="auto">
          <a:xfrm>
            <a:off x="6340475" y="6318250"/>
            <a:ext cx="842963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97AE4F-7248-4296-9D29-A31363E3BC0F}"/>
              </a:ext>
            </a:extLst>
          </p:cNvPr>
          <p:cNvSpPr/>
          <p:nvPr/>
        </p:nvSpPr>
        <p:spPr bwMode="auto">
          <a:xfrm>
            <a:off x="7558088" y="6308725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9DB8FA-9EE1-4AD6-82AC-12944681023D}"/>
              </a:ext>
            </a:extLst>
          </p:cNvPr>
          <p:cNvSpPr/>
          <p:nvPr/>
        </p:nvSpPr>
        <p:spPr bwMode="auto">
          <a:xfrm>
            <a:off x="877570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16408" name="Line 22">
            <a:extLst>
              <a:ext uri="{FF2B5EF4-FFF2-40B4-BE49-F238E27FC236}">
                <a16:creationId xmlns:a16="http://schemas.microsoft.com/office/drawing/2014/main" id="{9264A8C4-07CE-471D-8E60-0D5C61FEA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648811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09" name="Line 23">
            <a:extLst>
              <a:ext uri="{FF2B5EF4-FFF2-40B4-BE49-F238E27FC236}">
                <a16:creationId xmlns:a16="http://schemas.microsoft.com/office/drawing/2014/main" id="{9FDD808F-271A-427B-BC22-4692650532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6488113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0" name="Line 24">
            <a:extLst>
              <a:ext uri="{FF2B5EF4-FFF2-40B4-BE49-F238E27FC236}">
                <a16:creationId xmlns:a16="http://schemas.microsoft.com/office/drawing/2014/main" id="{CE8CDAA8-056A-457E-964C-0C3E5365A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6488113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1" name="Line 25">
            <a:extLst>
              <a:ext uri="{FF2B5EF4-FFF2-40B4-BE49-F238E27FC236}">
                <a16:creationId xmlns:a16="http://schemas.microsoft.com/office/drawing/2014/main" id="{467C4E83-8BC0-4069-A138-47E45959C1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2" name="Line 32">
            <a:extLst>
              <a:ext uri="{FF2B5EF4-FFF2-40B4-BE49-F238E27FC236}">
                <a16:creationId xmlns:a16="http://schemas.microsoft.com/office/drawing/2014/main" id="{41C67AA5-AE15-470D-AB2E-DEF19045D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3" name="Line 33">
            <a:extLst>
              <a:ext uri="{FF2B5EF4-FFF2-40B4-BE49-F238E27FC236}">
                <a16:creationId xmlns:a16="http://schemas.microsoft.com/office/drawing/2014/main" id="{12BAE1B8-503A-4A88-A908-F09A8EDAE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4" name="Line 34">
            <a:extLst>
              <a:ext uri="{FF2B5EF4-FFF2-40B4-BE49-F238E27FC236}">
                <a16:creationId xmlns:a16="http://schemas.microsoft.com/office/drawing/2014/main" id="{AB5D185D-9D2E-4A3B-95BD-CC181D4A8F9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650557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5" name="Line 35">
            <a:extLst>
              <a:ext uri="{FF2B5EF4-FFF2-40B4-BE49-F238E27FC236}">
                <a16:creationId xmlns:a16="http://schemas.microsoft.com/office/drawing/2014/main" id="{3B4CF0D0-04AB-457A-8868-6212C2479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6375400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6416" name="Line 36">
            <a:extLst>
              <a:ext uri="{FF2B5EF4-FFF2-40B4-BE49-F238E27FC236}">
                <a16:creationId xmlns:a16="http://schemas.microsoft.com/office/drawing/2014/main" id="{34B60740-2FC7-474F-91BD-49ECDB1EB2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6375400"/>
            <a:ext cx="0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29B830-2AF6-42B8-8326-6BDE3D9F22A1}"/>
              </a:ext>
            </a:extLst>
          </p:cNvPr>
          <p:cNvSpPr/>
          <p:nvPr/>
        </p:nvSpPr>
        <p:spPr bwMode="auto">
          <a:xfrm>
            <a:off x="546100" y="4129088"/>
            <a:ext cx="842963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8B07FB-8EFA-4169-BE93-B99706403E04}"/>
              </a:ext>
            </a:extLst>
          </p:cNvPr>
          <p:cNvSpPr/>
          <p:nvPr/>
        </p:nvSpPr>
        <p:spPr bwMode="auto">
          <a:xfrm>
            <a:off x="1628775" y="4103688"/>
            <a:ext cx="842963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59427" name="Elbow Connector 36">
            <a:extLst>
              <a:ext uri="{FF2B5EF4-FFF2-40B4-BE49-F238E27FC236}">
                <a16:creationId xmlns:a16="http://schemas.microsoft.com/office/drawing/2014/main" id="{51F1E91E-5419-482B-869F-DAEA52BCBB23}"/>
              </a:ext>
            </a:extLst>
          </p:cNvPr>
          <p:cNvCxnSpPr>
            <a:cxnSpLocks noChangeShapeType="1"/>
            <a:stCxn id="35" idx="2"/>
            <a:endCxn id="16387" idx="1"/>
          </p:cNvCxnSpPr>
          <p:nvPr/>
        </p:nvCxnSpPr>
        <p:spPr bwMode="auto">
          <a:xfrm rot="16200000" flipH="1">
            <a:off x="440531" y="5028407"/>
            <a:ext cx="1558925" cy="50323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28" name="Elbow Connector 37">
            <a:extLst>
              <a:ext uri="{FF2B5EF4-FFF2-40B4-BE49-F238E27FC236}">
                <a16:creationId xmlns:a16="http://schemas.microsoft.com/office/drawing/2014/main" id="{A6593BCA-E5A0-43FB-A2D8-1477B39E3076}"/>
              </a:ext>
            </a:extLst>
          </p:cNvPr>
          <p:cNvCxnSpPr>
            <a:cxnSpLocks noChangeShapeType="1"/>
            <a:stCxn id="36" idx="3"/>
            <a:endCxn id="16391" idx="0"/>
          </p:cNvCxnSpPr>
          <p:nvPr/>
        </p:nvCxnSpPr>
        <p:spPr bwMode="auto">
          <a:xfrm>
            <a:off x="2471738" y="4292600"/>
            <a:ext cx="1857375" cy="1152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21" name="Rectangle 3">
            <a:extLst>
              <a:ext uri="{FF2B5EF4-FFF2-40B4-BE49-F238E27FC236}">
                <a16:creationId xmlns:a16="http://schemas.microsoft.com/office/drawing/2014/main" id="{76CD2A66-6695-40A5-918C-39315B2A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881188"/>
            <a:ext cx="61277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/>
              <a:t>Štruktúra ukazujúca na ten istý typ</a:t>
            </a:r>
          </a:p>
        </p:txBody>
      </p:sp>
      <p:sp>
        <p:nvSpPr>
          <p:cNvPr id="16422" name="Rectangle 3">
            <a:extLst>
              <a:ext uri="{FF2B5EF4-FFF2-40B4-BE49-F238E27FC236}">
                <a16:creationId xmlns:a16="http://schemas.microsoft.com/office/drawing/2014/main" id="{98BF3CE0-7E5E-4E7D-BF6D-38EA1FB9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3" y="2682875"/>
            <a:ext cx="4046537" cy="20685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ypedef strcut prvok </a:t>
            </a: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char meno[51];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int cislo;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struct prvok *dalsi;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} PRVOK;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>
            <a:extLst>
              <a:ext uri="{FF2B5EF4-FFF2-40B4-BE49-F238E27FC236}">
                <a16:creationId xmlns:a16="http://schemas.microsoft.com/office/drawing/2014/main" id="{D5F561B6-5900-4FA9-A611-2DCA47C94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</a:t>
            </a:r>
            <a:r>
              <a:rPr lang="en-US" altLang="sk-SK"/>
              <a:t>zmena</a:t>
            </a:r>
            <a:r>
              <a:rPr lang="sk-SK" altLang="sk-SK"/>
              <a:t> </a:t>
            </a:r>
            <a:r>
              <a:rPr lang="en-US" altLang="sk-SK"/>
              <a:t>zoznamu </a:t>
            </a:r>
            <a:r>
              <a:rPr lang="sk-SK" altLang="sk-SK"/>
              <a:t>vs. posun</a:t>
            </a:r>
            <a:r>
              <a:rPr lang="en-US" altLang="sk-SK"/>
              <a:t> v zozname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A4D9D5-8ADE-4B79-BBB3-21B42DC0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962150"/>
            <a:ext cx="97218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sk-SK" sz="2650" err="1">
                <a:latin typeface="Arial"/>
                <a:cs typeface="Arial"/>
              </a:rPr>
              <a:t>Priraden</a:t>
            </a:r>
            <a:r>
              <a:rPr lang="sk-SK" altLang="sk-SK" sz="2650" err="1">
                <a:latin typeface="Arial"/>
                <a:cs typeface="Arial"/>
              </a:rPr>
              <a:t>ím</a:t>
            </a:r>
            <a:r>
              <a:rPr lang="sk-SK" altLang="sk-SK" sz="2650">
                <a:latin typeface="Arial"/>
                <a:cs typeface="Arial"/>
              </a:rPr>
              <a:t> hodnoty ukazovateľu je možné:</a:t>
            </a:r>
          </a:p>
          <a:p>
            <a:pPr lvl="1">
              <a:defRPr/>
            </a:pPr>
            <a:r>
              <a:rPr lang="sk-SK" altLang="sk-SK" sz="2200">
                <a:latin typeface="Arial"/>
                <a:cs typeface="Arial"/>
              </a:rPr>
              <a:t>Posunúť ukazovateľ, pomocou ktorého pristupujeme k zoznamu, na iný prvok:</a:t>
            </a:r>
          </a:p>
          <a:p>
            <a:pPr lvl="1">
              <a:defRPr/>
            </a:pPr>
            <a:endParaRPr lang="sk-SK" altLang="sk-SK" sz="2213"/>
          </a:p>
          <a:p>
            <a:pPr lvl="1">
              <a:defRPr/>
            </a:pPr>
            <a:endParaRPr lang="sk-SK" altLang="sk-SK" sz="2213"/>
          </a:p>
          <a:p>
            <a:pPr lvl="1">
              <a:defRPr/>
            </a:pPr>
            <a:r>
              <a:rPr lang="sk-SK" altLang="sk-SK" sz="2200">
                <a:latin typeface="Arial"/>
                <a:cs typeface="Arial"/>
              </a:rPr>
              <a:t>Zmeniť zoznam (presmerovať niektorý z ukazovateľov v rámci zoznamu):</a:t>
            </a:r>
            <a:endParaRPr lang="sk-SK" altLang="sk-SK" sz="2200">
              <a:cs typeface="Arial"/>
            </a:endParaRP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A73100B2-6C7C-4A0C-9CD7-ED2427B9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13" name="Text Box 9">
            <a:extLst>
              <a:ext uri="{FF2B5EF4-FFF2-40B4-BE49-F238E27FC236}">
                <a16:creationId xmlns:a16="http://schemas.microsoft.com/office/drawing/2014/main" id="{4E2139ED-5D31-4BA2-8AA5-68B7DABAE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569075"/>
            <a:ext cx="341312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1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7414" name="Rectangle 10">
            <a:extLst>
              <a:ext uri="{FF2B5EF4-FFF2-40B4-BE49-F238E27FC236}">
                <a16:creationId xmlns:a16="http://schemas.microsoft.com/office/drawing/2014/main" id="{4202C2DA-9C5D-4003-88B4-27B4BC30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510338"/>
            <a:ext cx="842963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15" name="Text Box 12">
            <a:extLst>
              <a:ext uri="{FF2B5EF4-FFF2-40B4-BE49-F238E27FC236}">
                <a16:creationId xmlns:a16="http://schemas.microsoft.com/office/drawing/2014/main" id="{CE569C32-D5C7-45C6-AC75-165511BDD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569075"/>
            <a:ext cx="341312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16" name="Rectangle 13">
            <a:extLst>
              <a:ext uri="{FF2B5EF4-FFF2-40B4-BE49-F238E27FC236}">
                <a16:creationId xmlns:a16="http://schemas.microsoft.com/office/drawing/2014/main" id="{C4E4DB33-02B4-46C9-AA9F-84B812129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17" name="Text Box 15">
            <a:extLst>
              <a:ext uri="{FF2B5EF4-FFF2-40B4-BE49-F238E27FC236}">
                <a16:creationId xmlns:a16="http://schemas.microsoft.com/office/drawing/2014/main" id="{BD1AF817-52ED-40CE-90B4-0C7C20C60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18" name="Rectangle 16">
            <a:extLst>
              <a:ext uri="{FF2B5EF4-FFF2-40B4-BE49-F238E27FC236}">
                <a16:creationId xmlns:a16="http://schemas.microsoft.com/office/drawing/2014/main" id="{FDCA8F0D-2CEB-4DF6-919D-97B853142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510338"/>
            <a:ext cx="841375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19" name="Text Box 18">
            <a:extLst>
              <a:ext uri="{FF2B5EF4-FFF2-40B4-BE49-F238E27FC236}">
                <a16:creationId xmlns:a16="http://schemas.microsoft.com/office/drawing/2014/main" id="{640D3782-08BF-4E6A-A602-00F1F717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420" name="Rectangle 19">
            <a:extLst>
              <a:ext uri="{FF2B5EF4-FFF2-40B4-BE49-F238E27FC236}">
                <a16:creationId xmlns:a16="http://schemas.microsoft.com/office/drawing/2014/main" id="{C7809A5B-E7B5-4EA6-870A-001E1713D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6510338"/>
            <a:ext cx="842963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21" name="Text Box 21">
            <a:extLst>
              <a:ext uri="{FF2B5EF4-FFF2-40B4-BE49-F238E27FC236}">
                <a16:creationId xmlns:a16="http://schemas.microsoft.com/office/drawing/2014/main" id="{3BBD8928-EDE6-40FE-BE33-6947887A0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6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7422" name="Rectangle 26">
            <a:extLst>
              <a:ext uri="{FF2B5EF4-FFF2-40B4-BE49-F238E27FC236}">
                <a16:creationId xmlns:a16="http://schemas.microsoft.com/office/drawing/2014/main" id="{9861EAF3-EC77-40BF-948A-AAD36C82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23" name="Text Box 28">
            <a:extLst>
              <a:ext uri="{FF2B5EF4-FFF2-40B4-BE49-F238E27FC236}">
                <a16:creationId xmlns:a16="http://schemas.microsoft.com/office/drawing/2014/main" id="{66DA60F6-DB09-4ECB-9B22-4BF29DC89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7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7424" name="Rectangle 29">
            <a:extLst>
              <a:ext uri="{FF2B5EF4-FFF2-40B4-BE49-F238E27FC236}">
                <a16:creationId xmlns:a16="http://schemas.microsoft.com/office/drawing/2014/main" id="{C591521D-2E7D-45DF-91A1-35E11F9B7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510338"/>
            <a:ext cx="841375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7425" name="Text Box 31">
            <a:extLst>
              <a:ext uri="{FF2B5EF4-FFF2-40B4-BE49-F238E27FC236}">
                <a16:creationId xmlns:a16="http://schemas.microsoft.com/office/drawing/2014/main" id="{AC831797-6A0B-4301-A01B-D9E23349F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8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F2C93-EAC4-4AF9-8C5F-C8DFE66F5613}"/>
              </a:ext>
            </a:extLst>
          </p:cNvPr>
          <p:cNvSpPr/>
          <p:nvPr/>
        </p:nvSpPr>
        <p:spPr bwMode="auto">
          <a:xfrm>
            <a:off x="1471613" y="7077075"/>
            <a:ext cx="842962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2B1456-5FC9-49F2-9CAC-6B80047F992D}"/>
              </a:ext>
            </a:extLst>
          </p:cNvPr>
          <p:cNvSpPr/>
          <p:nvPr/>
        </p:nvSpPr>
        <p:spPr bwMode="auto">
          <a:xfrm>
            <a:off x="2684463" y="707866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C0184E-E3D5-4FA9-866B-F3D9E9D04BE4}"/>
              </a:ext>
            </a:extLst>
          </p:cNvPr>
          <p:cNvSpPr/>
          <p:nvPr/>
        </p:nvSpPr>
        <p:spPr bwMode="auto">
          <a:xfrm>
            <a:off x="3906838" y="7086600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9902FE-3003-4944-A399-C2F63571853B}"/>
              </a:ext>
            </a:extLst>
          </p:cNvPr>
          <p:cNvSpPr/>
          <p:nvPr/>
        </p:nvSpPr>
        <p:spPr bwMode="auto">
          <a:xfrm>
            <a:off x="5124450" y="7086600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08FBAAD-453C-406B-9AEA-D992DC9988D1}"/>
              </a:ext>
            </a:extLst>
          </p:cNvPr>
          <p:cNvSpPr/>
          <p:nvPr/>
        </p:nvSpPr>
        <p:spPr bwMode="auto">
          <a:xfrm>
            <a:off x="6340475" y="7086600"/>
            <a:ext cx="842963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7C3A9A1-92E5-4705-A779-6E24ADB9BC40}"/>
              </a:ext>
            </a:extLst>
          </p:cNvPr>
          <p:cNvSpPr/>
          <p:nvPr/>
        </p:nvSpPr>
        <p:spPr bwMode="auto">
          <a:xfrm>
            <a:off x="7558088" y="7078663"/>
            <a:ext cx="841375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47712F-3ABA-4144-8465-BCC8AA2FEED8}"/>
              </a:ext>
            </a:extLst>
          </p:cNvPr>
          <p:cNvSpPr/>
          <p:nvPr/>
        </p:nvSpPr>
        <p:spPr bwMode="auto">
          <a:xfrm>
            <a:off x="8775700" y="7086600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17433" name="Line 22">
            <a:extLst>
              <a:ext uri="{FF2B5EF4-FFF2-40B4-BE49-F238E27FC236}">
                <a16:creationId xmlns:a16="http://schemas.microsoft.com/office/drawing/2014/main" id="{22A0D2E1-E744-4455-871A-B6E369C3F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258050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34" name="Line 23">
            <a:extLst>
              <a:ext uri="{FF2B5EF4-FFF2-40B4-BE49-F238E27FC236}">
                <a16:creationId xmlns:a16="http://schemas.microsoft.com/office/drawing/2014/main" id="{23AEECB5-4A4B-46F0-BAA2-DC99F68BF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258050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35" name="Line 24">
            <a:extLst>
              <a:ext uri="{FF2B5EF4-FFF2-40B4-BE49-F238E27FC236}">
                <a16:creationId xmlns:a16="http://schemas.microsoft.com/office/drawing/2014/main" id="{78725FB3-B3FC-46BC-A9CA-BD5F082CB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258050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36" name="Line 25">
            <a:extLst>
              <a:ext uri="{FF2B5EF4-FFF2-40B4-BE49-F238E27FC236}">
                <a16:creationId xmlns:a16="http://schemas.microsoft.com/office/drawing/2014/main" id="{A333703B-1569-4E37-9D95-094BA37E3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3" name="Line 32">
            <a:extLst>
              <a:ext uri="{FF2B5EF4-FFF2-40B4-BE49-F238E27FC236}">
                <a16:creationId xmlns:a16="http://schemas.microsoft.com/office/drawing/2014/main" id="{EE02B3E0-5257-4308-A685-D0AE14689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38" name="Line 33">
            <a:extLst>
              <a:ext uri="{FF2B5EF4-FFF2-40B4-BE49-F238E27FC236}">
                <a16:creationId xmlns:a16="http://schemas.microsoft.com/office/drawing/2014/main" id="{16526A6A-E8F5-4394-BDFE-535C6B3B8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39" name="Line 34">
            <a:extLst>
              <a:ext uri="{FF2B5EF4-FFF2-40B4-BE49-F238E27FC236}">
                <a16:creationId xmlns:a16="http://schemas.microsoft.com/office/drawing/2014/main" id="{1DB4968C-8100-4389-8FD3-646C44829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727392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40" name="Line 35">
            <a:extLst>
              <a:ext uri="{FF2B5EF4-FFF2-40B4-BE49-F238E27FC236}">
                <a16:creationId xmlns:a16="http://schemas.microsoft.com/office/drawing/2014/main" id="{3A5E3B90-C726-4F92-BFB8-6579B38857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7145338"/>
            <a:ext cx="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7441" name="Line 36">
            <a:extLst>
              <a:ext uri="{FF2B5EF4-FFF2-40B4-BE49-F238E27FC236}">
                <a16:creationId xmlns:a16="http://schemas.microsoft.com/office/drawing/2014/main" id="{71FEE27F-C1D0-4AA3-AEF4-AADCF064A1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7145338"/>
            <a:ext cx="0" cy="261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74D19A-B49D-4157-9F48-8CB592451342}"/>
              </a:ext>
            </a:extLst>
          </p:cNvPr>
          <p:cNvSpPr/>
          <p:nvPr/>
        </p:nvSpPr>
        <p:spPr bwMode="auto">
          <a:xfrm>
            <a:off x="533400" y="5864225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2A4FD1-9468-42AE-A186-5977DFFF567C}"/>
              </a:ext>
            </a:extLst>
          </p:cNvPr>
          <p:cNvSpPr/>
          <p:nvPr/>
        </p:nvSpPr>
        <p:spPr bwMode="auto">
          <a:xfrm>
            <a:off x="1614488" y="584041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0452" name="Elbow Connector 3">
            <a:extLst>
              <a:ext uri="{FF2B5EF4-FFF2-40B4-BE49-F238E27FC236}">
                <a16:creationId xmlns:a16="http://schemas.microsoft.com/office/drawing/2014/main" id="{CCB6D683-D2FF-42F1-936E-340403D6660D}"/>
              </a:ext>
            </a:extLst>
          </p:cNvPr>
          <p:cNvCxnSpPr>
            <a:cxnSpLocks noChangeShapeType="1"/>
            <a:stCxn id="54" idx="2"/>
            <a:endCxn id="17412" idx="1"/>
          </p:cNvCxnSpPr>
          <p:nvPr/>
        </p:nvCxnSpPr>
        <p:spPr bwMode="auto">
          <a:xfrm rot="16200000" flipH="1">
            <a:off x="842170" y="6349206"/>
            <a:ext cx="741362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024A1FEA-477B-49EC-9552-1B2DFEDC171E}"/>
              </a:ext>
            </a:extLst>
          </p:cNvPr>
          <p:cNvCxnSpPr>
            <a:cxnSpLocks noChangeShapeType="1"/>
            <a:stCxn id="55" idx="3"/>
            <a:endCxn id="17418" idx="0"/>
          </p:cNvCxnSpPr>
          <p:nvPr/>
        </p:nvCxnSpPr>
        <p:spPr bwMode="auto">
          <a:xfrm>
            <a:off x="2457450" y="6026150"/>
            <a:ext cx="3086100" cy="4841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3F9BDA-0415-42FA-841E-EDBA53B73C76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4867275"/>
            <a:ext cx="7999412" cy="441325"/>
            <a:chOff x="1042988" y="4397102"/>
            <a:chExt cx="7227887" cy="400050"/>
          </a:xfrm>
        </p:grpSpPr>
        <p:sp>
          <p:nvSpPr>
            <p:cNvPr id="17456" name="Rectangle 1027">
              <a:extLst>
                <a:ext uri="{FF2B5EF4-FFF2-40B4-BE49-F238E27FC236}">
                  <a16:creationId xmlns:a16="http://schemas.microsoft.com/office/drawing/2014/main" id="{6F894099-3E09-44AD-BEEF-5D2E02140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4397102"/>
              <a:ext cx="7227887" cy="40005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17457" name="Text Box 1028">
              <a:extLst>
                <a:ext uri="{FF2B5EF4-FFF2-40B4-BE49-F238E27FC236}">
                  <a16:creationId xmlns:a16="http://schemas.microsoft.com/office/drawing/2014/main" id="{093E5609-E3F0-40BF-9C0F-B564E1FE2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4397102"/>
              <a:ext cx="6509258" cy="391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213">
                  <a:latin typeface="Courier New" panose="02070309020205020404" pitchFamily="49" charset="0"/>
                </a:rPr>
                <a:t>a</a:t>
              </a:r>
              <a:r>
                <a:rPr lang="en-US" altLang="sk-SK" sz="2213">
                  <a:latin typeface="Courier New" panose="02070309020205020404" pitchFamily="49" charset="0"/>
                </a:rPr>
                <a:t>kt-&gt;dalsi = akt;</a:t>
              </a:r>
            </a:p>
          </p:txBody>
        </p:sp>
      </p:grpSp>
      <p:grpSp>
        <p:nvGrpSpPr>
          <p:cNvPr id="23578" name="Group 23577">
            <a:extLst>
              <a:ext uri="{FF2B5EF4-FFF2-40B4-BE49-F238E27FC236}">
                <a16:creationId xmlns:a16="http://schemas.microsoft.com/office/drawing/2014/main" id="{5648B6E5-7CEA-4D98-B7F9-D09704CBFA8F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3395663"/>
            <a:ext cx="7999412" cy="452437"/>
            <a:chOff x="1042988" y="3068960"/>
            <a:chExt cx="7227887" cy="407147"/>
          </a:xfrm>
        </p:grpSpPr>
        <p:sp>
          <p:nvSpPr>
            <p:cNvPr id="17454" name="Rectangle 1027">
              <a:extLst>
                <a:ext uri="{FF2B5EF4-FFF2-40B4-BE49-F238E27FC236}">
                  <a16:creationId xmlns:a16="http://schemas.microsoft.com/office/drawing/2014/main" id="{F362C8EB-04B3-43BD-85BC-109EB1AE7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8" y="3076102"/>
              <a:ext cx="7227887" cy="4000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17455" name="Text Box 1028">
              <a:extLst>
                <a:ext uri="{FF2B5EF4-FFF2-40B4-BE49-F238E27FC236}">
                  <a16:creationId xmlns:a16="http://schemas.microsoft.com/office/drawing/2014/main" id="{93E0934A-8D57-4F6B-BFC6-22ED3A13B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2988" y="3068960"/>
              <a:ext cx="6509258" cy="3900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sk-SK" sz="2213">
                  <a:latin typeface="Courier New" panose="02070309020205020404" pitchFamily="49" charset="0"/>
                </a:rPr>
                <a:t>a</a:t>
              </a:r>
              <a:r>
                <a:rPr lang="sk-SK" altLang="sk-SK" sz="2213">
                  <a:latin typeface="Courier New" panose="02070309020205020404" pitchFamily="49" charset="0"/>
                </a:rPr>
                <a:t>kt = akt-</a:t>
              </a:r>
              <a:r>
                <a:rPr lang="en-US" altLang="sk-SK" sz="2213">
                  <a:latin typeface="Courier New" panose="02070309020205020404" pitchFamily="49" charset="0"/>
                </a:rPr>
                <a:t>&gt;dalsi;</a:t>
              </a:r>
            </a:p>
          </p:txBody>
        </p:sp>
      </p:grp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A913DBA-AB8B-4434-B296-AAF3902DCB37}"/>
              </a:ext>
            </a:extLst>
          </p:cNvPr>
          <p:cNvCxnSpPr>
            <a:cxnSpLocks noChangeShapeType="1"/>
            <a:endCxn id="17420" idx="0"/>
          </p:cNvCxnSpPr>
          <p:nvPr/>
        </p:nvCxnSpPr>
        <p:spPr bwMode="auto">
          <a:xfrm>
            <a:off x="2444750" y="6026150"/>
            <a:ext cx="4316413" cy="4841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77" name="Group 23576">
            <a:extLst>
              <a:ext uri="{FF2B5EF4-FFF2-40B4-BE49-F238E27FC236}">
                <a16:creationId xmlns:a16="http://schemas.microsoft.com/office/drawing/2014/main" id="{36DE0FE4-1BCD-4B93-9B60-B8B8B8DA5E4F}"/>
              </a:ext>
            </a:extLst>
          </p:cNvPr>
          <p:cNvGrpSpPr>
            <a:grpSpLocks/>
          </p:cNvGrpSpPr>
          <p:nvPr/>
        </p:nvGrpSpPr>
        <p:grpSpPr bwMode="auto">
          <a:xfrm>
            <a:off x="6951663" y="6186488"/>
            <a:ext cx="363537" cy="1071562"/>
            <a:chOff x="5167313" y="5589110"/>
            <a:chExt cx="1428750" cy="968853"/>
          </a:xfrm>
        </p:grpSpPr>
        <p:cxnSp>
          <p:nvCxnSpPr>
            <p:cNvPr id="60458" name="Straight Connector 30">
              <a:extLst>
                <a:ext uri="{FF2B5EF4-FFF2-40B4-BE49-F238E27FC236}">
                  <a16:creationId xmlns:a16="http://schemas.microsoft.com/office/drawing/2014/main" id="{236F19A4-475C-44D2-8F47-034C790EB573}"/>
                </a:ext>
              </a:extLst>
            </p:cNvPr>
            <p:cNvCxnSpPr>
              <a:cxnSpLocks noChangeShapeType="1"/>
              <a:stCxn id="23583" idx="0"/>
            </p:cNvCxnSpPr>
            <p:nvPr/>
          </p:nvCxnSpPr>
          <p:spPr bwMode="auto">
            <a:xfrm>
              <a:off x="6138863" y="6557963"/>
              <a:ext cx="457200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459" name="Straight Connector 73">
              <a:extLst>
                <a:ext uri="{FF2B5EF4-FFF2-40B4-BE49-F238E27FC236}">
                  <a16:creationId xmlns:a16="http://schemas.microsoft.com/office/drawing/2014/main" id="{3DD3BB60-7E2A-4F50-8BBF-F95D203659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96063" y="5589110"/>
              <a:ext cx="0" cy="95964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460" name="Straight Connector 76">
              <a:extLst>
                <a:ext uri="{FF2B5EF4-FFF2-40B4-BE49-F238E27FC236}">
                  <a16:creationId xmlns:a16="http://schemas.microsoft.com/office/drawing/2014/main" id="{F1F48250-C901-4AEB-972A-1E834D813B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67313" y="5589110"/>
              <a:ext cx="1428750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461" name="Straight Arrow Connector 23574">
              <a:extLst>
                <a:ext uri="{FF2B5EF4-FFF2-40B4-BE49-F238E27FC236}">
                  <a16:creationId xmlns:a16="http://schemas.microsoft.com/office/drawing/2014/main" id="{21AD2756-CE2E-4D79-8C13-412F9D0F1A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67313" y="5597736"/>
              <a:ext cx="0" cy="285539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346EAEC-9DEB-4C6A-8547-69AE40E55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vloženie prvku na inú pozíciu v zozname</a:t>
            </a:r>
            <a:endParaRPr lang="en-US" altLang="sk-SK"/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DD2020BD-5244-4E72-8E80-D742A15BC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36" name="Text Box 9">
            <a:extLst>
              <a:ext uri="{FF2B5EF4-FFF2-40B4-BE49-F238E27FC236}">
                <a16:creationId xmlns:a16="http://schemas.microsoft.com/office/drawing/2014/main" id="{19FC368A-D619-4231-9DB7-78F2860D3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1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8437" name="Rectangle 10">
            <a:extLst>
              <a:ext uri="{FF2B5EF4-FFF2-40B4-BE49-F238E27FC236}">
                <a16:creationId xmlns:a16="http://schemas.microsoft.com/office/drawing/2014/main" id="{9BCE76E0-87A5-4CBB-9CBC-47FE2C68D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38" name="Text Box 12">
            <a:extLst>
              <a:ext uri="{FF2B5EF4-FFF2-40B4-BE49-F238E27FC236}">
                <a16:creationId xmlns:a16="http://schemas.microsoft.com/office/drawing/2014/main" id="{0C26CBFF-CD7F-4C55-8CCD-E6D51A1E9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39" name="Rectangle 13">
            <a:extLst>
              <a:ext uri="{FF2B5EF4-FFF2-40B4-BE49-F238E27FC236}">
                <a16:creationId xmlns:a16="http://schemas.microsoft.com/office/drawing/2014/main" id="{8423B37C-260B-489C-A7B9-AFFFD2CC1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40" name="Text Box 15">
            <a:extLst>
              <a:ext uri="{FF2B5EF4-FFF2-40B4-BE49-F238E27FC236}">
                <a16:creationId xmlns:a16="http://schemas.microsoft.com/office/drawing/2014/main" id="{E47F8E66-9FED-489F-AC77-610153E56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441" name="Rectangle 16">
            <a:extLst>
              <a:ext uri="{FF2B5EF4-FFF2-40B4-BE49-F238E27FC236}">
                <a16:creationId xmlns:a16="http://schemas.microsoft.com/office/drawing/2014/main" id="{F267704B-E0B6-4B4E-9F7B-FC1A6CB58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42" name="Text Box 18">
            <a:extLst>
              <a:ext uri="{FF2B5EF4-FFF2-40B4-BE49-F238E27FC236}">
                <a16:creationId xmlns:a16="http://schemas.microsoft.com/office/drawing/2014/main" id="{FDCF3F90-2D00-4E39-88DA-AE3F012CD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5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8443" name="Rectangle 19">
            <a:extLst>
              <a:ext uri="{FF2B5EF4-FFF2-40B4-BE49-F238E27FC236}">
                <a16:creationId xmlns:a16="http://schemas.microsoft.com/office/drawing/2014/main" id="{E2CDB3B7-62A2-4CE9-9A23-CE8720449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44" name="Text Box 21">
            <a:extLst>
              <a:ext uri="{FF2B5EF4-FFF2-40B4-BE49-F238E27FC236}">
                <a16:creationId xmlns:a16="http://schemas.microsoft.com/office/drawing/2014/main" id="{4C35BCC4-EA7C-44E0-A1ED-ABBD7F44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6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8445" name="Rectangle 26">
            <a:extLst>
              <a:ext uri="{FF2B5EF4-FFF2-40B4-BE49-F238E27FC236}">
                <a16:creationId xmlns:a16="http://schemas.microsoft.com/office/drawing/2014/main" id="{FDF4875E-DBA7-430B-AFF6-299C19BEF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46" name="Text Box 28">
            <a:extLst>
              <a:ext uri="{FF2B5EF4-FFF2-40B4-BE49-F238E27FC236}">
                <a16:creationId xmlns:a16="http://schemas.microsoft.com/office/drawing/2014/main" id="{80F42C49-0AB7-4C5F-9E93-64E123EF2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4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8447" name="Rectangle 29">
            <a:extLst>
              <a:ext uri="{FF2B5EF4-FFF2-40B4-BE49-F238E27FC236}">
                <a16:creationId xmlns:a16="http://schemas.microsoft.com/office/drawing/2014/main" id="{147F8789-D97F-4BDE-B4FF-A95B07A3E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8448" name="Text Box 31">
            <a:extLst>
              <a:ext uri="{FF2B5EF4-FFF2-40B4-BE49-F238E27FC236}">
                <a16:creationId xmlns:a16="http://schemas.microsoft.com/office/drawing/2014/main" id="{BA98E2A4-5630-4AE1-AA7E-26203126E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8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658991-42C2-4631-84AE-06B20B6676FA}"/>
              </a:ext>
            </a:extLst>
          </p:cNvPr>
          <p:cNvSpPr/>
          <p:nvPr/>
        </p:nvSpPr>
        <p:spPr bwMode="auto">
          <a:xfrm>
            <a:off x="1471613" y="6307138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4717-6839-4E3E-A0DC-7A360A87C5DD}"/>
              </a:ext>
            </a:extLst>
          </p:cNvPr>
          <p:cNvSpPr/>
          <p:nvPr/>
        </p:nvSpPr>
        <p:spPr bwMode="auto">
          <a:xfrm>
            <a:off x="2684463" y="6308725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C41EBE-D0E2-4498-AB99-DF9332A0761B}"/>
              </a:ext>
            </a:extLst>
          </p:cNvPr>
          <p:cNvSpPr/>
          <p:nvPr/>
        </p:nvSpPr>
        <p:spPr bwMode="auto">
          <a:xfrm>
            <a:off x="3906838" y="631825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93ED1F-7318-4C08-B132-ADFB33EF5592}"/>
              </a:ext>
            </a:extLst>
          </p:cNvPr>
          <p:cNvSpPr/>
          <p:nvPr/>
        </p:nvSpPr>
        <p:spPr bwMode="auto">
          <a:xfrm>
            <a:off x="512445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426654-B7C7-4496-98A3-4B2365534A85}"/>
              </a:ext>
            </a:extLst>
          </p:cNvPr>
          <p:cNvSpPr/>
          <p:nvPr/>
        </p:nvSpPr>
        <p:spPr bwMode="auto">
          <a:xfrm>
            <a:off x="6340475" y="6318250"/>
            <a:ext cx="842963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79F73E-8537-4A98-85C6-E9C6225C1AB5}"/>
              </a:ext>
            </a:extLst>
          </p:cNvPr>
          <p:cNvSpPr/>
          <p:nvPr/>
        </p:nvSpPr>
        <p:spPr bwMode="auto">
          <a:xfrm>
            <a:off x="7558088" y="6308725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3F74A6-241F-4880-80D6-4EE80379BAC8}"/>
              </a:ext>
            </a:extLst>
          </p:cNvPr>
          <p:cNvSpPr/>
          <p:nvPr/>
        </p:nvSpPr>
        <p:spPr bwMode="auto">
          <a:xfrm>
            <a:off x="877570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18456" name="Line 22">
            <a:extLst>
              <a:ext uri="{FF2B5EF4-FFF2-40B4-BE49-F238E27FC236}">
                <a16:creationId xmlns:a16="http://schemas.microsoft.com/office/drawing/2014/main" id="{15662D75-964D-419C-BFB1-B01379640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648811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57" name="Line 23">
            <a:extLst>
              <a:ext uri="{FF2B5EF4-FFF2-40B4-BE49-F238E27FC236}">
                <a16:creationId xmlns:a16="http://schemas.microsoft.com/office/drawing/2014/main" id="{83F3DC93-7F03-41C8-8269-453DBE58F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6488113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58" name="Line 24">
            <a:extLst>
              <a:ext uri="{FF2B5EF4-FFF2-40B4-BE49-F238E27FC236}">
                <a16:creationId xmlns:a16="http://schemas.microsoft.com/office/drawing/2014/main" id="{4261E5D6-CCC7-4911-9C1C-505BEAFA6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6488113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59" name="Line 25">
            <a:extLst>
              <a:ext uri="{FF2B5EF4-FFF2-40B4-BE49-F238E27FC236}">
                <a16:creationId xmlns:a16="http://schemas.microsoft.com/office/drawing/2014/main" id="{126FC51A-BE5E-4A46-8437-D3EFB94CE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60" name="Line 32">
            <a:extLst>
              <a:ext uri="{FF2B5EF4-FFF2-40B4-BE49-F238E27FC236}">
                <a16:creationId xmlns:a16="http://schemas.microsoft.com/office/drawing/2014/main" id="{5EA613F4-C0AC-4653-B548-7A64AF3AA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61" name="Line 33">
            <a:extLst>
              <a:ext uri="{FF2B5EF4-FFF2-40B4-BE49-F238E27FC236}">
                <a16:creationId xmlns:a16="http://schemas.microsoft.com/office/drawing/2014/main" id="{815645B7-73F5-4BB7-86E8-E8D34D790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62" name="Line 34">
            <a:extLst>
              <a:ext uri="{FF2B5EF4-FFF2-40B4-BE49-F238E27FC236}">
                <a16:creationId xmlns:a16="http://schemas.microsoft.com/office/drawing/2014/main" id="{B738D628-C51B-403D-99AC-2F7CC308A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650557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63" name="Line 35">
            <a:extLst>
              <a:ext uri="{FF2B5EF4-FFF2-40B4-BE49-F238E27FC236}">
                <a16:creationId xmlns:a16="http://schemas.microsoft.com/office/drawing/2014/main" id="{B3A98791-3521-4F72-B778-D38E588FA1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6375400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8464" name="Line 36">
            <a:extLst>
              <a:ext uri="{FF2B5EF4-FFF2-40B4-BE49-F238E27FC236}">
                <a16:creationId xmlns:a16="http://schemas.microsoft.com/office/drawing/2014/main" id="{2E986519-A508-473B-9717-4EAE48D8A0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6375400"/>
            <a:ext cx="0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CF6DA7-8E5A-459A-A746-85A4CDAC894C}"/>
              </a:ext>
            </a:extLst>
          </p:cNvPr>
          <p:cNvSpPr/>
          <p:nvPr/>
        </p:nvSpPr>
        <p:spPr bwMode="auto">
          <a:xfrm>
            <a:off x="533400" y="5094288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65A9A8-E1A7-48D1-809F-7AC5F14D59F5}"/>
              </a:ext>
            </a:extLst>
          </p:cNvPr>
          <p:cNvSpPr/>
          <p:nvPr/>
        </p:nvSpPr>
        <p:spPr bwMode="auto">
          <a:xfrm>
            <a:off x="1614488" y="507206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1475" name="Elbow Connector 36">
            <a:extLst>
              <a:ext uri="{FF2B5EF4-FFF2-40B4-BE49-F238E27FC236}">
                <a16:creationId xmlns:a16="http://schemas.microsoft.com/office/drawing/2014/main" id="{1FEC2F8E-A4F7-4081-9A9D-063E46614272}"/>
              </a:ext>
            </a:extLst>
          </p:cNvPr>
          <p:cNvCxnSpPr>
            <a:cxnSpLocks noChangeShapeType="1"/>
            <a:stCxn id="35" idx="2"/>
            <a:endCxn id="18435" idx="1"/>
          </p:cNvCxnSpPr>
          <p:nvPr/>
        </p:nvCxnSpPr>
        <p:spPr bwMode="auto">
          <a:xfrm rot="16200000" flipH="1">
            <a:off x="842963" y="5580063"/>
            <a:ext cx="739775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76" name="Elbow Connector 37">
            <a:extLst>
              <a:ext uri="{FF2B5EF4-FFF2-40B4-BE49-F238E27FC236}">
                <a16:creationId xmlns:a16="http://schemas.microsoft.com/office/drawing/2014/main" id="{FB2B78DA-F7A4-4413-8446-2214DE95D665}"/>
              </a:ext>
            </a:extLst>
          </p:cNvPr>
          <p:cNvCxnSpPr>
            <a:cxnSpLocks noChangeShapeType="1"/>
            <a:stCxn id="36" idx="3"/>
            <a:endCxn id="18439" idx="0"/>
          </p:cNvCxnSpPr>
          <p:nvPr/>
        </p:nvCxnSpPr>
        <p:spPr bwMode="auto">
          <a:xfrm>
            <a:off x="2457450" y="5257800"/>
            <a:ext cx="1871663" cy="4841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D56F7C3-3BBB-4294-A092-B8BF94CE7C33}"/>
              </a:ext>
            </a:extLst>
          </p:cNvPr>
          <p:cNvSpPr/>
          <p:nvPr/>
        </p:nvSpPr>
        <p:spPr bwMode="auto">
          <a:xfrm>
            <a:off x="6224588" y="5070475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cxnSp>
        <p:nvCxnSpPr>
          <p:cNvPr id="61478" name="Elbow Connector 47">
            <a:extLst>
              <a:ext uri="{FF2B5EF4-FFF2-40B4-BE49-F238E27FC236}">
                <a16:creationId xmlns:a16="http://schemas.microsoft.com/office/drawing/2014/main" id="{8EBDE14E-1900-4CA9-BAA5-C925A98AF604}"/>
              </a:ext>
            </a:extLst>
          </p:cNvPr>
          <p:cNvCxnSpPr>
            <a:cxnSpLocks noChangeShapeType="1"/>
            <a:endCxn id="18445" idx="0"/>
          </p:cNvCxnSpPr>
          <p:nvPr/>
        </p:nvCxnSpPr>
        <p:spPr bwMode="auto">
          <a:xfrm>
            <a:off x="7032625" y="5256213"/>
            <a:ext cx="946150" cy="48577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71" name="Rectangle 3">
            <a:extLst>
              <a:ext uri="{FF2B5EF4-FFF2-40B4-BE49-F238E27FC236}">
                <a16:creationId xmlns:a16="http://schemas.microsoft.com/office/drawing/2014/main" id="{C030608D-0B1C-4B68-8095-CC3AB873C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068513"/>
            <a:ext cx="972185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/>
              <a:t>Vloženie prvku, na ktorý ukazuje </a:t>
            </a:r>
            <a:r>
              <a:rPr lang="sk-SK" altLang="sk-SK" sz="2656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656"/>
              <a:t> za pozíciu aktuálneho prvku (na ktorého ukazuje </a:t>
            </a:r>
            <a:r>
              <a:rPr lang="sk-SK" altLang="sk-SK" sz="2656"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656"/>
              <a:t>)</a:t>
            </a:r>
          </a:p>
        </p:txBody>
      </p:sp>
      <p:grpSp>
        <p:nvGrpSpPr>
          <p:cNvPr id="2" name="Group 17419">
            <a:extLst>
              <a:ext uri="{FF2B5EF4-FFF2-40B4-BE49-F238E27FC236}">
                <a16:creationId xmlns:a16="http://schemas.microsoft.com/office/drawing/2014/main" id="{D6FD75CC-D56A-4E03-B87A-F45D094DAF93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5576888"/>
            <a:ext cx="3671887" cy="1225550"/>
            <a:chOff x="4423086" y="5733255"/>
            <a:chExt cx="3317266" cy="1107967"/>
          </a:xfrm>
        </p:grpSpPr>
        <p:sp>
          <p:nvSpPr>
            <p:cNvPr id="18473" name="Rounded Rectangle 49">
              <a:extLst>
                <a:ext uri="{FF2B5EF4-FFF2-40B4-BE49-F238E27FC236}">
                  <a16:creationId xmlns:a16="http://schemas.microsoft.com/office/drawing/2014/main" id="{1A27D456-93FA-4975-AC4A-5C6E60CD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412" y="5733255"/>
              <a:ext cx="1079940" cy="110796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cxnSp>
          <p:nvCxnSpPr>
            <p:cNvPr id="61482" name="Curved Connector 52">
              <a:extLst>
                <a:ext uri="{FF2B5EF4-FFF2-40B4-BE49-F238E27FC236}">
                  <a16:creationId xmlns:a16="http://schemas.microsoft.com/office/drawing/2014/main" id="{8E86FA89-0423-4A7E-8C2B-593795EE40D6}"/>
                </a:ext>
              </a:extLst>
            </p:cNvPr>
            <p:cNvCxnSpPr>
              <a:cxnSpLocks noChangeShapeType="1"/>
              <a:stCxn id="18473" idx="0"/>
            </p:cNvCxnSpPr>
            <p:nvPr/>
          </p:nvCxnSpPr>
          <p:spPr bwMode="auto">
            <a:xfrm rot="-5400000" flipH="1" flipV="1">
              <a:off x="5450517" y="4705824"/>
              <a:ext cx="722343" cy="2777206"/>
            </a:xfrm>
            <a:prstGeom prst="curvedConnector4">
              <a:avLst>
                <a:gd name="adj1" fmla="val -167528"/>
                <a:gd name="adj2" fmla="val 100199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9048C74A-B708-4AEB-A987-6BDFC4788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vloženie prvku na inú pozíciu v zozname</a:t>
            </a:r>
            <a:endParaRPr lang="en-US" altLang="sk-SK"/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1AD3C90F-D81D-47F2-9B1E-96ABAAE37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60" name="Text Box 9">
            <a:extLst>
              <a:ext uri="{FF2B5EF4-FFF2-40B4-BE49-F238E27FC236}">
                <a16:creationId xmlns:a16="http://schemas.microsoft.com/office/drawing/2014/main" id="{0CFAAF91-84A3-4CB7-B6AD-BEB03CE4C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1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461" name="Rectangle 10">
            <a:extLst>
              <a:ext uri="{FF2B5EF4-FFF2-40B4-BE49-F238E27FC236}">
                <a16:creationId xmlns:a16="http://schemas.microsoft.com/office/drawing/2014/main" id="{7B0AA4E5-343B-43B8-A6A7-8C53B7E3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62" name="Text Box 12">
            <a:extLst>
              <a:ext uri="{FF2B5EF4-FFF2-40B4-BE49-F238E27FC236}">
                <a16:creationId xmlns:a16="http://schemas.microsoft.com/office/drawing/2014/main" id="{549EA7B9-7552-4E96-A332-DF18443D7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463" name="Rectangle 13">
            <a:extLst>
              <a:ext uri="{FF2B5EF4-FFF2-40B4-BE49-F238E27FC236}">
                <a16:creationId xmlns:a16="http://schemas.microsoft.com/office/drawing/2014/main" id="{F6822FA5-D833-482D-898C-26FE608A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64" name="Text Box 15">
            <a:extLst>
              <a:ext uri="{FF2B5EF4-FFF2-40B4-BE49-F238E27FC236}">
                <a16:creationId xmlns:a16="http://schemas.microsoft.com/office/drawing/2014/main" id="{E54904F0-7E97-4FAB-A67D-22BA3D802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9465" name="Rectangle 16">
            <a:extLst>
              <a:ext uri="{FF2B5EF4-FFF2-40B4-BE49-F238E27FC236}">
                <a16:creationId xmlns:a16="http://schemas.microsoft.com/office/drawing/2014/main" id="{85A34E59-8CE7-4764-BD3C-C24220C42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66" name="Text Box 18">
            <a:extLst>
              <a:ext uri="{FF2B5EF4-FFF2-40B4-BE49-F238E27FC236}">
                <a16:creationId xmlns:a16="http://schemas.microsoft.com/office/drawing/2014/main" id="{028062E2-4CF4-455D-94CF-AA998D8AF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5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467" name="Rectangle 19">
            <a:extLst>
              <a:ext uri="{FF2B5EF4-FFF2-40B4-BE49-F238E27FC236}">
                <a16:creationId xmlns:a16="http://schemas.microsoft.com/office/drawing/2014/main" id="{51BD30FE-3862-4D69-8319-A360B548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68" name="Text Box 21">
            <a:extLst>
              <a:ext uri="{FF2B5EF4-FFF2-40B4-BE49-F238E27FC236}">
                <a16:creationId xmlns:a16="http://schemas.microsoft.com/office/drawing/2014/main" id="{ADC9EE87-5B40-4BCF-93C4-5732317DF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6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469" name="Rectangle 26">
            <a:extLst>
              <a:ext uri="{FF2B5EF4-FFF2-40B4-BE49-F238E27FC236}">
                <a16:creationId xmlns:a16="http://schemas.microsoft.com/office/drawing/2014/main" id="{BFA57D71-2212-4577-8333-E334FCC97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70" name="Text Box 28">
            <a:extLst>
              <a:ext uri="{FF2B5EF4-FFF2-40B4-BE49-F238E27FC236}">
                <a16:creationId xmlns:a16="http://schemas.microsoft.com/office/drawing/2014/main" id="{CB8D4000-E7EF-49D8-A0F4-172BB7F1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4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471" name="Rectangle 29">
            <a:extLst>
              <a:ext uri="{FF2B5EF4-FFF2-40B4-BE49-F238E27FC236}">
                <a16:creationId xmlns:a16="http://schemas.microsoft.com/office/drawing/2014/main" id="{FE492993-4958-4E32-B1F2-3B4DFA5A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19472" name="Text Box 31">
            <a:extLst>
              <a:ext uri="{FF2B5EF4-FFF2-40B4-BE49-F238E27FC236}">
                <a16:creationId xmlns:a16="http://schemas.microsoft.com/office/drawing/2014/main" id="{92080345-3AB2-49E5-8DC3-0AE6490DB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8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B37BF-F1CD-4391-9889-40AB3ACB2834}"/>
              </a:ext>
            </a:extLst>
          </p:cNvPr>
          <p:cNvSpPr/>
          <p:nvPr/>
        </p:nvSpPr>
        <p:spPr bwMode="auto">
          <a:xfrm>
            <a:off x="1471613" y="6307138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82813D-CC92-45AE-BFB6-119CE3F2B922}"/>
              </a:ext>
            </a:extLst>
          </p:cNvPr>
          <p:cNvSpPr/>
          <p:nvPr/>
        </p:nvSpPr>
        <p:spPr bwMode="auto">
          <a:xfrm>
            <a:off x="2684463" y="6308725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27613-C724-4527-9408-41FB6F68B270}"/>
              </a:ext>
            </a:extLst>
          </p:cNvPr>
          <p:cNvSpPr/>
          <p:nvPr/>
        </p:nvSpPr>
        <p:spPr bwMode="auto">
          <a:xfrm>
            <a:off x="3906838" y="631825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79C05A-D71E-4FD3-B3D9-545ACD6095DA}"/>
              </a:ext>
            </a:extLst>
          </p:cNvPr>
          <p:cNvSpPr/>
          <p:nvPr/>
        </p:nvSpPr>
        <p:spPr bwMode="auto">
          <a:xfrm>
            <a:off x="512445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4CEDFE-070C-473C-A861-14E5A9467B8C}"/>
              </a:ext>
            </a:extLst>
          </p:cNvPr>
          <p:cNvSpPr/>
          <p:nvPr/>
        </p:nvSpPr>
        <p:spPr bwMode="auto">
          <a:xfrm>
            <a:off x="6340475" y="6318250"/>
            <a:ext cx="842963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FCEF4B-4D40-4725-90C4-E4349695BA63}"/>
              </a:ext>
            </a:extLst>
          </p:cNvPr>
          <p:cNvSpPr/>
          <p:nvPr/>
        </p:nvSpPr>
        <p:spPr bwMode="auto">
          <a:xfrm>
            <a:off x="7558088" y="6308725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857645-808E-4677-A410-8C588C4F15CF}"/>
              </a:ext>
            </a:extLst>
          </p:cNvPr>
          <p:cNvSpPr/>
          <p:nvPr/>
        </p:nvSpPr>
        <p:spPr bwMode="auto">
          <a:xfrm>
            <a:off x="877570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19480" name="Line 22">
            <a:extLst>
              <a:ext uri="{FF2B5EF4-FFF2-40B4-BE49-F238E27FC236}">
                <a16:creationId xmlns:a16="http://schemas.microsoft.com/office/drawing/2014/main" id="{6F965C4C-1A21-448D-9E8D-223AEFE11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648811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9481" name="Line 23">
            <a:extLst>
              <a:ext uri="{FF2B5EF4-FFF2-40B4-BE49-F238E27FC236}">
                <a16:creationId xmlns:a16="http://schemas.microsoft.com/office/drawing/2014/main" id="{53D2F50C-A0C9-4025-A80D-0E4C686B3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6488113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83DD2207-1982-46DF-8948-7B48CC62D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6488113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9483" name="Line 25">
            <a:extLst>
              <a:ext uri="{FF2B5EF4-FFF2-40B4-BE49-F238E27FC236}">
                <a16:creationId xmlns:a16="http://schemas.microsoft.com/office/drawing/2014/main" id="{A5501EF1-17EC-4600-9DD2-AA4D45AC1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0" name="Line 32">
            <a:extLst>
              <a:ext uri="{FF2B5EF4-FFF2-40B4-BE49-F238E27FC236}">
                <a16:creationId xmlns:a16="http://schemas.microsoft.com/office/drawing/2014/main" id="{14C04502-0629-441D-B270-63730F7B7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1" name="Line 33">
            <a:extLst>
              <a:ext uri="{FF2B5EF4-FFF2-40B4-BE49-F238E27FC236}">
                <a16:creationId xmlns:a16="http://schemas.microsoft.com/office/drawing/2014/main" id="{B90FCCBA-9DA1-4490-9F94-697F512A4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9486" name="Line 34">
            <a:extLst>
              <a:ext uri="{FF2B5EF4-FFF2-40B4-BE49-F238E27FC236}">
                <a16:creationId xmlns:a16="http://schemas.microsoft.com/office/drawing/2014/main" id="{6B94CAD6-30F7-4CD1-9265-F2EAB75BA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650557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9487" name="Line 35">
            <a:extLst>
              <a:ext uri="{FF2B5EF4-FFF2-40B4-BE49-F238E27FC236}">
                <a16:creationId xmlns:a16="http://schemas.microsoft.com/office/drawing/2014/main" id="{A45D6793-E21D-4814-A7D1-0F9340BBB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6375400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19488" name="Line 36">
            <a:extLst>
              <a:ext uri="{FF2B5EF4-FFF2-40B4-BE49-F238E27FC236}">
                <a16:creationId xmlns:a16="http://schemas.microsoft.com/office/drawing/2014/main" id="{0058FCEC-B17C-46EF-9C65-7D61A11E83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6375400"/>
            <a:ext cx="0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B8F271-1543-46E7-A2E4-3710C632077A}"/>
              </a:ext>
            </a:extLst>
          </p:cNvPr>
          <p:cNvSpPr/>
          <p:nvPr/>
        </p:nvSpPr>
        <p:spPr bwMode="auto">
          <a:xfrm>
            <a:off x="533400" y="5094288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7EDCC7-4667-4567-977A-1FC12917DF82}"/>
              </a:ext>
            </a:extLst>
          </p:cNvPr>
          <p:cNvSpPr/>
          <p:nvPr/>
        </p:nvSpPr>
        <p:spPr bwMode="auto">
          <a:xfrm>
            <a:off x="1614488" y="507206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2499" name="Elbow Connector 36">
            <a:extLst>
              <a:ext uri="{FF2B5EF4-FFF2-40B4-BE49-F238E27FC236}">
                <a16:creationId xmlns:a16="http://schemas.microsoft.com/office/drawing/2014/main" id="{C4282760-5664-4979-AFA7-01B88AD48D3D}"/>
              </a:ext>
            </a:extLst>
          </p:cNvPr>
          <p:cNvCxnSpPr>
            <a:cxnSpLocks noChangeShapeType="1"/>
            <a:stCxn id="35" idx="2"/>
            <a:endCxn id="19459" idx="1"/>
          </p:cNvCxnSpPr>
          <p:nvPr/>
        </p:nvCxnSpPr>
        <p:spPr bwMode="auto">
          <a:xfrm rot="16200000" flipH="1">
            <a:off x="842963" y="5580063"/>
            <a:ext cx="739775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500" name="Elbow Connector 37">
            <a:extLst>
              <a:ext uri="{FF2B5EF4-FFF2-40B4-BE49-F238E27FC236}">
                <a16:creationId xmlns:a16="http://schemas.microsoft.com/office/drawing/2014/main" id="{584C7C57-74F7-4607-A098-91155D761BB5}"/>
              </a:ext>
            </a:extLst>
          </p:cNvPr>
          <p:cNvCxnSpPr>
            <a:cxnSpLocks noChangeShapeType="1"/>
            <a:stCxn id="36" idx="3"/>
            <a:endCxn id="19463" idx="0"/>
          </p:cNvCxnSpPr>
          <p:nvPr/>
        </p:nvCxnSpPr>
        <p:spPr bwMode="auto">
          <a:xfrm>
            <a:off x="2457450" y="5257800"/>
            <a:ext cx="1871663" cy="4841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AE9E94E-AF74-4152-AA66-49B56E3AE719}"/>
              </a:ext>
            </a:extLst>
          </p:cNvPr>
          <p:cNvSpPr/>
          <p:nvPr/>
        </p:nvSpPr>
        <p:spPr bwMode="auto">
          <a:xfrm>
            <a:off x="6224588" y="504190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cxnSp>
        <p:nvCxnSpPr>
          <p:cNvPr id="62502" name="Elbow Connector 47">
            <a:extLst>
              <a:ext uri="{FF2B5EF4-FFF2-40B4-BE49-F238E27FC236}">
                <a16:creationId xmlns:a16="http://schemas.microsoft.com/office/drawing/2014/main" id="{AAFB80AF-2DAB-4E00-B050-0ACCFA7A34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24688" y="5248275"/>
            <a:ext cx="947737" cy="48577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95" name="Rectangle 3">
            <a:extLst>
              <a:ext uri="{FF2B5EF4-FFF2-40B4-BE49-F238E27FC236}">
                <a16:creationId xmlns:a16="http://schemas.microsoft.com/office/drawing/2014/main" id="{F02E07C0-C557-462D-A867-2ADBD9D9E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1465262"/>
            <a:ext cx="972185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/>
              <a:t>Vloženie prvku, na ktorý ukazuje </a:t>
            </a:r>
            <a:r>
              <a:rPr lang="sk-SK" altLang="sk-SK" sz="2656" err="1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656"/>
              <a:t> za pozíciu aktuálneho prvku (na ktorého ukazuje </a:t>
            </a:r>
            <a:r>
              <a:rPr lang="sk-SK" altLang="sk-SK" sz="2656"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656"/>
              <a:t>)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94CD0D87-10CD-453E-968A-85BE63DF230E}"/>
              </a:ext>
            </a:extLst>
          </p:cNvPr>
          <p:cNvCxnSpPr>
            <a:cxnSpLocks noChangeShapeType="1"/>
            <a:stCxn id="23" idx="2"/>
            <a:endCxn id="25" idx="2"/>
          </p:cNvCxnSpPr>
          <p:nvPr/>
        </p:nvCxnSpPr>
        <p:spPr bwMode="auto">
          <a:xfrm rot="16200000" flipH="1">
            <a:off x="7979569" y="5474494"/>
            <a:ext cx="14287" cy="2435225"/>
          </a:xfrm>
          <a:prstGeom prst="bentConnector3">
            <a:avLst>
              <a:gd name="adj1" fmla="val 1800000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01FDA67E-6D82-425B-9961-605DAC80B4F8}"/>
              </a:ext>
            </a:extLst>
          </p:cNvPr>
          <p:cNvCxnSpPr>
            <a:cxnSpLocks noChangeShapeType="1"/>
            <a:stCxn id="24" idx="2"/>
            <a:endCxn id="22" idx="2"/>
          </p:cNvCxnSpPr>
          <p:nvPr/>
        </p:nvCxnSpPr>
        <p:spPr bwMode="auto">
          <a:xfrm rot="5400000">
            <a:off x="6758781" y="5471319"/>
            <a:ext cx="7938" cy="2432050"/>
          </a:xfrm>
          <a:prstGeom prst="bentConnector3">
            <a:avLst>
              <a:gd name="adj1" fmla="val 5325023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415" name="Group 17414">
            <a:extLst>
              <a:ext uri="{FF2B5EF4-FFF2-40B4-BE49-F238E27FC236}">
                <a16:creationId xmlns:a16="http://schemas.microsoft.com/office/drawing/2014/main" id="{31B4426D-0DB9-4B03-BD50-69767574A6C4}"/>
              </a:ext>
            </a:extLst>
          </p:cNvPr>
          <p:cNvGrpSpPr>
            <a:grpSpLocks/>
          </p:cNvGrpSpPr>
          <p:nvPr/>
        </p:nvGrpSpPr>
        <p:grpSpPr bwMode="auto">
          <a:xfrm>
            <a:off x="4410075" y="5481638"/>
            <a:ext cx="3397250" cy="1006475"/>
            <a:chOff x="3969726" y="4969115"/>
            <a:chExt cx="3071252" cy="836149"/>
          </a:xfrm>
        </p:grpSpPr>
        <p:cxnSp>
          <p:nvCxnSpPr>
            <p:cNvPr id="62508" name="Straight Connector 57">
              <a:extLst>
                <a:ext uri="{FF2B5EF4-FFF2-40B4-BE49-F238E27FC236}">
                  <a16:creationId xmlns:a16="http://schemas.microsoft.com/office/drawing/2014/main" id="{6981B2CB-124C-40D9-B256-11EC9B7308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69726" y="5805264"/>
              <a:ext cx="45825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509" name="Straight Connector 60">
              <a:extLst>
                <a:ext uri="{FF2B5EF4-FFF2-40B4-BE49-F238E27FC236}">
                  <a16:creationId xmlns:a16="http://schemas.microsoft.com/office/drawing/2014/main" id="{8CEAD19D-87A1-486F-B1B0-8DC86A21E3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27984" y="4969115"/>
              <a:ext cx="0" cy="83614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510" name="Straight Connector 17407">
              <a:extLst>
                <a:ext uri="{FF2B5EF4-FFF2-40B4-BE49-F238E27FC236}">
                  <a16:creationId xmlns:a16="http://schemas.microsoft.com/office/drawing/2014/main" id="{A7A14683-64CC-4BE4-ACE1-28211BEAA7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27984" y="4969115"/>
              <a:ext cx="2612994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511" name="Straight Arrow Connector 17411">
              <a:extLst>
                <a:ext uri="{FF2B5EF4-FFF2-40B4-BE49-F238E27FC236}">
                  <a16:creationId xmlns:a16="http://schemas.microsoft.com/office/drawing/2014/main" id="{A0371D3D-593B-4307-94DD-195305FB4D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40978" y="4969790"/>
              <a:ext cx="0" cy="218793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99F6740B-C250-4D66-A7D1-432EFB349597}"/>
              </a:ext>
            </a:extLst>
          </p:cNvPr>
          <p:cNvSpPr/>
          <p:nvPr/>
        </p:nvSpPr>
        <p:spPr>
          <a:xfrm>
            <a:off x="2509044" y="2317750"/>
            <a:ext cx="6913562" cy="295433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79487" indent="-379487">
              <a:buFont typeface="+mj-lt"/>
              <a:buAutoNum type="arabicPeriod"/>
              <a:defRPr/>
            </a:pPr>
            <a:r>
              <a:rPr lang="en-US" sz="2656">
                <a:latin typeface="+mn-lt"/>
              </a:rPr>
              <a:t>Pred</a:t>
            </a:r>
            <a:r>
              <a:rPr lang="sk-SK" sz="2656" err="1">
                <a:latin typeface="+mn-lt"/>
              </a:rPr>
              <a:t>chádzajúci</a:t>
            </a:r>
            <a:r>
              <a:rPr lang="sk-SK" sz="2656">
                <a:latin typeface="+mn-lt"/>
              </a:rPr>
              <a:t> pred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+mn-lt"/>
              </a:rPr>
              <a:t> bude ako na ďalší prvok ukazovať na terajšieho nasledovníka </a:t>
            </a:r>
            <a:r>
              <a:rPr lang="sk-SK" sz="2656" err="1">
                <a:cs typeface="Courier New" pitchFamily="49" charset="0"/>
              </a:rPr>
              <a:t>vloz</a:t>
            </a:r>
            <a:endParaRPr lang="sk-SK" sz="2656">
              <a:cs typeface="Courier New" pitchFamily="49" charset="0"/>
            </a:endParaRPr>
          </a:p>
          <a:p>
            <a:pPr marL="379487" indent="-379487">
              <a:buFont typeface="+mj-lt"/>
              <a:buAutoNum type="arabicPeriod"/>
              <a:defRPr/>
            </a:pPr>
            <a:r>
              <a:rPr lang="sk-SK" sz="2656">
                <a:cs typeface="Courier New" pitchFamily="49" charset="0"/>
              </a:rPr>
              <a:t>v</a:t>
            </a:r>
            <a:r>
              <a:rPr lang="en-US" sz="2656" err="1">
                <a:cs typeface="Courier New" pitchFamily="49" charset="0"/>
              </a:rPr>
              <a:t>loz</a:t>
            </a:r>
            <a:r>
              <a:rPr lang="sk-SK" sz="2656">
                <a:latin typeface="+mn-lt"/>
              </a:rPr>
              <a:t> bude ako na ďalšieho ukazovať na prvok za </a:t>
            </a:r>
            <a:r>
              <a:rPr lang="sk-SK" sz="2656">
                <a:cs typeface="Courier New" pitchFamily="49" charset="0"/>
              </a:rPr>
              <a:t>akt</a:t>
            </a:r>
          </a:p>
          <a:p>
            <a:pPr marL="379487" indent="-379487">
              <a:buFont typeface="+mj-lt"/>
              <a:buAutoNum type="arabicPeriod"/>
              <a:defRPr/>
            </a:pPr>
            <a:r>
              <a:rPr lang="sk-SK" sz="2656">
                <a:cs typeface="Courier New" pitchFamily="49" charset="0"/>
              </a:rPr>
              <a:t>akt</a:t>
            </a:r>
            <a:r>
              <a:rPr lang="sk-SK" sz="2656">
                <a:latin typeface="+mn-lt"/>
              </a:rPr>
              <a:t> bude ukazovať na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+mn-lt"/>
              </a:rPr>
              <a:t> ako na </a:t>
            </a:r>
            <a:r>
              <a:rPr lang="sk-SK" sz="2656" err="1">
                <a:latin typeface="+mn-lt"/>
              </a:rPr>
              <a:t>další</a:t>
            </a:r>
            <a:r>
              <a:rPr lang="sk-SK" sz="2656">
                <a:latin typeface="+mn-lt"/>
              </a:rPr>
              <a:t> prvok</a:t>
            </a:r>
            <a:endParaRPr lang="en-US" sz="2656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B50B6D4-A82F-4F52-8554-C48DDDA10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vloženie prvku na inú pozíciu v zozname</a:t>
            </a:r>
            <a:endParaRPr lang="en-US" altLang="sk-SK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EBC95C1-D5E0-4919-9C6E-9BFBEEECA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760538"/>
            <a:ext cx="9429750" cy="506253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5F28BF6-8C83-4607-8908-CD0B432F6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838325"/>
            <a:ext cx="9020175" cy="349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Courier New" panose="02070309020205020404" pitchFamily="49" charset="0"/>
              </a:rPr>
              <a:t>void vloz(</a:t>
            </a:r>
            <a:r>
              <a:rPr lang="en-US" altLang="sk-SK" sz="2213">
                <a:latin typeface="Courier New" panose="02070309020205020404" pitchFamily="49" charset="0"/>
              </a:rPr>
              <a:t>ZOZNAM * zac, </a:t>
            </a:r>
            <a:r>
              <a:rPr lang="sk-SK" altLang="sk-SK" sz="2213">
                <a:latin typeface="Courier New" panose="02070309020205020404" pitchFamily="49" charset="0"/>
              </a:rPr>
              <a:t>ZOZNAM *akt, </a:t>
            </a:r>
            <a:r>
              <a:rPr lang="en-US" altLang="sk-SK" sz="2213">
                <a:latin typeface="Courier New" panose="02070309020205020404" pitchFamily="49" charset="0"/>
              </a:rPr>
              <a:t>ZOZNAM *vloz)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ZOZNAM * pred_vloz;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if(zac != NULL &amp;&amp; akt != NULL &amp;&amp; vloz != NULL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&amp;&amp; akt-&gt;dalsi != vloz) {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pred_vloz = najdi_predchodcu(vloz);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pred_vloz-&gt;dalsi = vloz-&gt;dalsi;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vloz-&gt;dalsi = akt-&gt;dalsi;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  akt-&gt;dalsi = vloz;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8CD52A-8F95-41A7-BCC4-6317D9AEF4D3}"/>
              </a:ext>
            </a:extLst>
          </p:cNvPr>
          <p:cNvSpPr/>
          <p:nvPr/>
        </p:nvSpPr>
        <p:spPr>
          <a:xfrm>
            <a:off x="2624138" y="5335588"/>
            <a:ext cx="6913562" cy="2952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79487" indent="-379487">
              <a:buFont typeface="+mj-lt"/>
              <a:buAutoNum type="arabicPeriod"/>
              <a:defRPr/>
            </a:pPr>
            <a:r>
              <a:rPr lang="en-US" sz="2656" err="1">
                <a:latin typeface="+mn-lt"/>
              </a:rPr>
              <a:t>Pred</a:t>
            </a:r>
            <a:r>
              <a:rPr lang="sk-SK" sz="2656" err="1">
                <a:latin typeface="+mn-lt"/>
              </a:rPr>
              <a:t>chádzajúci</a:t>
            </a:r>
            <a:r>
              <a:rPr lang="sk-SK" sz="2656">
                <a:latin typeface="+mn-lt"/>
              </a:rPr>
              <a:t> pred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+mn-lt"/>
              </a:rPr>
              <a:t> bude ako na ďalší prvok ukazovať na terajšieho nasledovníka </a:t>
            </a:r>
            <a:r>
              <a:rPr lang="sk-SK" sz="2656" err="1">
                <a:cs typeface="Courier New" pitchFamily="49" charset="0"/>
              </a:rPr>
              <a:t>vloz</a:t>
            </a:r>
            <a:endParaRPr lang="sk-SK" sz="2656">
              <a:cs typeface="Courier New" pitchFamily="49" charset="0"/>
            </a:endParaRPr>
          </a:p>
          <a:p>
            <a:pPr marL="379487" indent="-379487">
              <a:buFont typeface="+mj-lt"/>
              <a:buAutoNum type="arabicPeriod"/>
              <a:defRPr/>
            </a:pPr>
            <a:r>
              <a:rPr lang="sk-SK" sz="2656">
                <a:cs typeface="Courier New" pitchFamily="49" charset="0"/>
              </a:rPr>
              <a:t>v</a:t>
            </a:r>
            <a:r>
              <a:rPr lang="en-US" sz="2656" err="1">
                <a:cs typeface="Courier New" pitchFamily="49" charset="0"/>
              </a:rPr>
              <a:t>loz</a:t>
            </a:r>
            <a:r>
              <a:rPr lang="sk-SK" sz="2656">
                <a:latin typeface="+mn-lt"/>
              </a:rPr>
              <a:t> bude ako na ďalšieho ukazovať na prvok za </a:t>
            </a:r>
            <a:r>
              <a:rPr lang="sk-SK" sz="2656">
                <a:cs typeface="Courier New" pitchFamily="49" charset="0"/>
              </a:rPr>
              <a:t>akt</a:t>
            </a:r>
          </a:p>
          <a:p>
            <a:pPr marL="379487" indent="-379487">
              <a:buFont typeface="+mj-lt"/>
              <a:buAutoNum type="arabicPeriod"/>
              <a:defRPr/>
            </a:pPr>
            <a:r>
              <a:rPr lang="sk-SK" sz="2656">
                <a:cs typeface="Courier New" pitchFamily="49" charset="0"/>
              </a:rPr>
              <a:t>akt</a:t>
            </a:r>
            <a:r>
              <a:rPr lang="sk-SK" sz="2656">
                <a:latin typeface="+mn-lt"/>
              </a:rPr>
              <a:t> bude ukazovať na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+mn-lt"/>
              </a:rPr>
              <a:t> ako na </a:t>
            </a:r>
            <a:r>
              <a:rPr lang="sk-SK" sz="2656" err="1">
                <a:latin typeface="+mn-lt"/>
              </a:rPr>
              <a:t>další</a:t>
            </a:r>
            <a:r>
              <a:rPr lang="sk-SK" sz="2656">
                <a:latin typeface="+mn-lt"/>
              </a:rPr>
              <a:t> prvok</a:t>
            </a:r>
            <a:endParaRPr lang="en-US" sz="2656">
              <a:latin typeface="+mn-lt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F51471F-CBCB-4200-9381-CA02238C9BE2}"/>
              </a:ext>
            </a:extLst>
          </p:cNvPr>
          <p:cNvSpPr/>
          <p:nvPr/>
        </p:nvSpPr>
        <p:spPr bwMode="auto">
          <a:xfrm>
            <a:off x="2430254" y="5255891"/>
            <a:ext cx="7489825" cy="2230438"/>
          </a:xfrm>
          <a:prstGeom prst="wedgeRoundRectCallout">
            <a:avLst>
              <a:gd name="adj1" fmla="val -20833"/>
              <a:gd name="adj2" fmla="val 4960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2656">
                <a:latin typeface="Arial" charset="0"/>
              </a:rPr>
              <a:t>Je </a:t>
            </a:r>
            <a:r>
              <a:rPr lang="en-US" sz="2656" err="1">
                <a:latin typeface="Arial" charset="0"/>
              </a:rPr>
              <a:t>potrebn</a:t>
            </a:r>
            <a:r>
              <a:rPr lang="sk-SK" sz="2656">
                <a:latin typeface="Arial" charset="0"/>
              </a:rPr>
              <a:t>é ošetriť hraničné situácie?</a:t>
            </a:r>
          </a:p>
          <a:p>
            <a:pPr marL="316240" indent="-316240">
              <a:buFontTx/>
              <a:buChar char="-"/>
              <a:defRPr/>
            </a:pPr>
            <a:r>
              <a:rPr lang="sk-SK" sz="2656">
                <a:latin typeface="Arial" charset="0"/>
              </a:rPr>
              <a:t>Čo ak </a:t>
            </a:r>
            <a:r>
              <a:rPr lang="sk-SK" sz="2656">
                <a:cs typeface="Courier New" pitchFamily="49" charset="0"/>
              </a:rPr>
              <a:t>akt</a:t>
            </a:r>
            <a:r>
              <a:rPr lang="sk-SK" sz="2656">
                <a:latin typeface="Arial" charset="0"/>
              </a:rPr>
              <a:t> je na začiatku zoznamu?</a:t>
            </a:r>
          </a:p>
          <a:p>
            <a:pPr marL="316240" indent="-316240">
              <a:buFontTx/>
              <a:buChar char="-"/>
              <a:defRPr/>
            </a:pPr>
            <a:r>
              <a:rPr lang="sk-SK" sz="2656">
                <a:latin typeface="Arial" charset="0"/>
              </a:rPr>
              <a:t>Čo ak </a:t>
            </a:r>
            <a:r>
              <a:rPr lang="sk-SK" sz="2656">
                <a:cs typeface="Courier New" pitchFamily="49" charset="0"/>
              </a:rPr>
              <a:t>akt</a:t>
            </a:r>
            <a:r>
              <a:rPr lang="sk-SK" sz="2656">
                <a:latin typeface="Arial" charset="0"/>
              </a:rPr>
              <a:t> je na konci zoznamu?</a:t>
            </a:r>
          </a:p>
          <a:p>
            <a:pPr marL="316240" indent="-316240">
              <a:buFontTx/>
              <a:buChar char="-"/>
              <a:defRPr/>
            </a:pPr>
            <a:r>
              <a:rPr lang="sk-SK" sz="2656">
                <a:latin typeface="Arial" charset="0"/>
              </a:rPr>
              <a:t>Čo ak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Arial" charset="0"/>
              </a:rPr>
              <a:t> je na začiatku zoznamu?</a:t>
            </a:r>
          </a:p>
          <a:p>
            <a:pPr marL="316240" indent="-316240">
              <a:buFontTx/>
              <a:buChar char="-"/>
              <a:defRPr/>
            </a:pPr>
            <a:r>
              <a:rPr lang="sk-SK" sz="2656">
                <a:latin typeface="Arial" charset="0"/>
              </a:rPr>
              <a:t>Čo ak </a:t>
            </a:r>
            <a:r>
              <a:rPr lang="sk-SK" sz="2656" err="1">
                <a:cs typeface="Courier New" pitchFamily="49" charset="0"/>
              </a:rPr>
              <a:t>vloz</a:t>
            </a:r>
            <a:r>
              <a:rPr lang="sk-SK" sz="2656">
                <a:latin typeface="Arial" charset="0"/>
              </a:rPr>
              <a:t> je na konci zoznamu?</a:t>
            </a:r>
            <a:endParaRPr lang="en-US" sz="2656">
              <a:latin typeface="Arial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480842-B9BB-453B-92BA-58409ED06E79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5562600"/>
            <a:ext cx="239712" cy="274638"/>
            <a:chOff x="4761872" y="1094238"/>
            <a:chExt cx="530208" cy="390546"/>
          </a:xfrm>
        </p:grpSpPr>
        <p:cxnSp>
          <p:nvCxnSpPr>
            <p:cNvPr id="63503" name="Straight Connector 4">
              <a:extLst>
                <a:ext uri="{FF2B5EF4-FFF2-40B4-BE49-F238E27FC236}">
                  <a16:creationId xmlns:a16="http://schemas.microsoft.com/office/drawing/2014/main" id="{711C2AF7-387E-408D-AB82-9F455884F3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1872" y="1187531"/>
              <a:ext cx="170168" cy="2972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496" name="Freeform 7">
              <a:extLst>
                <a:ext uri="{FF2B5EF4-FFF2-40B4-BE49-F238E27FC236}">
                  <a16:creationId xmlns:a16="http://schemas.microsoft.com/office/drawing/2014/main" id="{4571E932-4D0C-4161-A946-458CC79F6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926" y="1094238"/>
              <a:ext cx="358154" cy="381516"/>
            </a:xfrm>
            <a:custGeom>
              <a:avLst/>
              <a:gdLst>
                <a:gd name="T0" fmla="*/ 0 w 492690"/>
                <a:gd name="T1" fmla="*/ 382232 h 382225"/>
                <a:gd name="T2" fmla="*/ 21500 w 492690"/>
                <a:gd name="T3" fmla="*/ 38277 h 382225"/>
                <a:gd name="T4" fmla="*/ 38969 w 492690"/>
                <a:gd name="T5" fmla="*/ 4721 h 382225"/>
                <a:gd name="T6" fmla="*/ 32922 w 492690"/>
                <a:gd name="T7" fmla="*/ 4721 h 3822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2690" h="382225">
                  <a:moveTo>
                    <a:pt x="0" y="382225"/>
                  </a:moveTo>
                  <a:cubicBezTo>
                    <a:pt x="93677" y="241709"/>
                    <a:pt x="187354" y="101194"/>
                    <a:pt x="268447" y="38277"/>
                  </a:cubicBezTo>
                  <a:cubicBezTo>
                    <a:pt x="349540" y="-24640"/>
                    <a:pt x="462792" y="10314"/>
                    <a:pt x="486561" y="4721"/>
                  </a:cubicBezTo>
                  <a:cubicBezTo>
                    <a:pt x="510330" y="-872"/>
                    <a:pt x="460695" y="1924"/>
                    <a:pt x="411060" y="472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sk-SK" sz="2656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7227680-38C6-4B48-8B14-0523A7D43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6175375"/>
            <a:ext cx="196691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sk-SK" altLang="sk-SK" sz="1992"/>
              <a:t>Treba ošetriť...</a:t>
            </a:r>
            <a:endParaRPr lang="en-US" altLang="sk-SK" sz="1992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3F41EB-6037-4A43-AE6F-575F331630C3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5905500"/>
            <a:ext cx="239712" cy="273050"/>
            <a:chOff x="4761872" y="1094238"/>
            <a:chExt cx="530208" cy="390546"/>
          </a:xfrm>
        </p:grpSpPr>
        <p:cxnSp>
          <p:nvCxnSpPr>
            <p:cNvPr id="63501" name="Straight Connector 4">
              <a:extLst>
                <a:ext uri="{FF2B5EF4-FFF2-40B4-BE49-F238E27FC236}">
                  <a16:creationId xmlns:a16="http://schemas.microsoft.com/office/drawing/2014/main" id="{6B072F2F-FF34-497D-974E-EB5FBFBFEE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1872" y="1187531"/>
              <a:ext cx="170168" cy="2972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494" name="Freeform 7">
              <a:extLst>
                <a:ext uri="{FF2B5EF4-FFF2-40B4-BE49-F238E27FC236}">
                  <a16:creationId xmlns:a16="http://schemas.microsoft.com/office/drawing/2014/main" id="{6F4C0565-AED9-423E-BA3A-F78A8FEA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926" y="1094238"/>
              <a:ext cx="358154" cy="381464"/>
            </a:xfrm>
            <a:custGeom>
              <a:avLst/>
              <a:gdLst>
                <a:gd name="T0" fmla="*/ 0 w 492690"/>
                <a:gd name="T1" fmla="*/ 382232 h 382225"/>
                <a:gd name="T2" fmla="*/ 21500 w 492690"/>
                <a:gd name="T3" fmla="*/ 38277 h 382225"/>
                <a:gd name="T4" fmla="*/ 38969 w 492690"/>
                <a:gd name="T5" fmla="*/ 4721 h 382225"/>
                <a:gd name="T6" fmla="*/ 32922 w 492690"/>
                <a:gd name="T7" fmla="*/ 4721 h 3822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2690" h="382225">
                  <a:moveTo>
                    <a:pt x="0" y="382225"/>
                  </a:moveTo>
                  <a:cubicBezTo>
                    <a:pt x="93677" y="241709"/>
                    <a:pt x="187354" y="101194"/>
                    <a:pt x="268447" y="38277"/>
                  </a:cubicBezTo>
                  <a:cubicBezTo>
                    <a:pt x="349540" y="-24640"/>
                    <a:pt x="462792" y="10314"/>
                    <a:pt x="486561" y="4721"/>
                  </a:cubicBezTo>
                  <a:cubicBezTo>
                    <a:pt x="510330" y="-872"/>
                    <a:pt x="460695" y="1924"/>
                    <a:pt x="411060" y="472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sk-SK" sz="2656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15B9C8-E789-4F5C-A026-30E179D99EBB}"/>
              </a:ext>
            </a:extLst>
          </p:cNvPr>
          <p:cNvGrpSpPr>
            <a:grpSpLocks/>
          </p:cNvGrpSpPr>
          <p:nvPr/>
        </p:nvGrpSpPr>
        <p:grpSpPr bwMode="auto">
          <a:xfrm>
            <a:off x="7505700" y="6503988"/>
            <a:ext cx="238125" cy="274637"/>
            <a:chOff x="4761872" y="1094238"/>
            <a:chExt cx="530208" cy="390546"/>
          </a:xfrm>
        </p:grpSpPr>
        <p:cxnSp>
          <p:nvCxnSpPr>
            <p:cNvPr id="63499" name="Straight Connector 4">
              <a:extLst>
                <a:ext uri="{FF2B5EF4-FFF2-40B4-BE49-F238E27FC236}">
                  <a16:creationId xmlns:a16="http://schemas.microsoft.com/office/drawing/2014/main" id="{C37ACEE3-FF57-4A3E-9B4A-C36BE07410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61872" y="1187531"/>
              <a:ext cx="170168" cy="29725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492" name="Freeform 7">
              <a:extLst>
                <a:ext uri="{FF2B5EF4-FFF2-40B4-BE49-F238E27FC236}">
                  <a16:creationId xmlns:a16="http://schemas.microsoft.com/office/drawing/2014/main" id="{BB7F3AAD-8721-4324-8D7F-4939C620D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1539" y="1094238"/>
              <a:ext cx="360541" cy="381516"/>
            </a:xfrm>
            <a:custGeom>
              <a:avLst/>
              <a:gdLst>
                <a:gd name="T0" fmla="*/ 0 w 492690"/>
                <a:gd name="T1" fmla="*/ 382232 h 382225"/>
                <a:gd name="T2" fmla="*/ 21500 w 492690"/>
                <a:gd name="T3" fmla="*/ 38277 h 382225"/>
                <a:gd name="T4" fmla="*/ 38969 w 492690"/>
                <a:gd name="T5" fmla="*/ 4721 h 382225"/>
                <a:gd name="T6" fmla="*/ 32922 w 492690"/>
                <a:gd name="T7" fmla="*/ 4721 h 3822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2690" h="382225">
                  <a:moveTo>
                    <a:pt x="0" y="382225"/>
                  </a:moveTo>
                  <a:cubicBezTo>
                    <a:pt x="93677" y="241709"/>
                    <a:pt x="187354" y="101194"/>
                    <a:pt x="268447" y="38277"/>
                  </a:cubicBezTo>
                  <a:cubicBezTo>
                    <a:pt x="349540" y="-24640"/>
                    <a:pt x="462792" y="10314"/>
                    <a:pt x="486561" y="4721"/>
                  </a:cubicBezTo>
                  <a:cubicBezTo>
                    <a:pt x="510330" y="-872"/>
                    <a:pt x="460695" y="1924"/>
                    <a:pt x="411060" y="4721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sk-SK" sz="265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E074A57-14C6-4B26-A763-382E29D60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vloženie prvku na inú pozíciu v zozname</a:t>
            </a:r>
            <a:endParaRPr lang="en-US" altLang="sk-SK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809FABA-B9C5-40FE-9E49-310FFE79E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760538"/>
            <a:ext cx="9429750" cy="5062537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8439C60A-C097-4EE9-A6C5-19797EDAD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838325"/>
            <a:ext cx="9020175" cy="485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sk-SK" sz="2213" err="1">
                <a:latin typeface="Courier New" pitchFamily="49" charset="0"/>
              </a:rPr>
              <a:t>void</a:t>
            </a:r>
            <a:r>
              <a:rPr lang="sk-SK" sz="2213">
                <a:latin typeface="Courier New" pitchFamily="49" charset="0"/>
              </a:rPr>
              <a:t> </a:t>
            </a:r>
            <a:r>
              <a:rPr lang="sk-SK" sz="2213" err="1">
                <a:latin typeface="Courier New" pitchFamily="49" charset="0"/>
              </a:rPr>
              <a:t>vloz</a:t>
            </a:r>
            <a:r>
              <a:rPr lang="sk-SK" sz="2213">
                <a:latin typeface="Courier New" pitchFamily="49" charset="0"/>
              </a:rPr>
              <a:t>(</a:t>
            </a:r>
            <a:r>
              <a:rPr lang="en-US" sz="2213">
                <a:latin typeface="Courier New" pitchFamily="49" charset="0"/>
              </a:rPr>
              <a:t>ZOZNAM * </a:t>
            </a:r>
            <a:r>
              <a:rPr lang="en-US" sz="2213" err="1">
                <a:latin typeface="Courier New" pitchFamily="49" charset="0"/>
              </a:rPr>
              <a:t>zac</a:t>
            </a:r>
            <a:r>
              <a:rPr lang="en-US" sz="2213">
                <a:latin typeface="Courier New" pitchFamily="49" charset="0"/>
              </a:rPr>
              <a:t>, </a:t>
            </a:r>
            <a:r>
              <a:rPr lang="sk-SK" sz="2213">
                <a:latin typeface="Courier New" pitchFamily="49" charset="0"/>
              </a:rPr>
              <a:t>ZOZNAM *akt, </a:t>
            </a:r>
            <a:r>
              <a:rPr lang="en-US" sz="2213">
                <a:latin typeface="Courier New" pitchFamily="49" charset="0"/>
              </a:rPr>
              <a:t>ZOZNAM *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ZOZNAM * </a:t>
            </a:r>
            <a:r>
              <a:rPr lang="en-US" sz="2213" err="1">
                <a:latin typeface="Courier New" pitchFamily="49" charset="0"/>
              </a:rPr>
              <a:t>pred_vloz</a:t>
            </a:r>
            <a:r>
              <a:rPr lang="en-US" sz="2213"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if(</a:t>
            </a:r>
            <a:r>
              <a:rPr lang="en-US" sz="2213" err="1">
                <a:latin typeface="Courier New" pitchFamily="49" charset="0"/>
              </a:rPr>
              <a:t>zac</a:t>
            </a:r>
            <a:r>
              <a:rPr lang="en-US" sz="2213">
                <a:latin typeface="Courier New" pitchFamily="49" charset="0"/>
              </a:rPr>
              <a:t> != NULL &amp;&amp; </a:t>
            </a:r>
            <a:r>
              <a:rPr lang="en-US" sz="2213" err="1">
                <a:latin typeface="Courier New" pitchFamily="49" charset="0"/>
              </a:rPr>
              <a:t>akt</a:t>
            </a:r>
            <a:r>
              <a:rPr lang="en-US" sz="2213">
                <a:latin typeface="Courier New" pitchFamily="49" charset="0"/>
              </a:rPr>
              <a:t> != NULL &amp;&amp; 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 != NULL 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&amp;&amp; </a:t>
            </a:r>
            <a:r>
              <a:rPr lang="en-US" sz="2213" err="1">
                <a:latin typeface="Courier New" pitchFamily="49" charset="0"/>
              </a:rPr>
              <a:t>akt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 != 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if(</a:t>
            </a:r>
            <a:r>
              <a:rPr lang="en-US" sz="2213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vloz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 == </a:t>
            </a:r>
            <a:r>
              <a:rPr lang="en-US" sz="2213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zac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) </a:t>
            </a:r>
          </a:p>
          <a:p>
            <a:pPr>
              <a:defRPr/>
            </a:pP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         </a:t>
            </a:r>
            <a:r>
              <a:rPr lang="en-US" sz="2213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zac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 = </a:t>
            </a:r>
            <a:r>
              <a:rPr lang="en-US" sz="2213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zac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-&gt;</a:t>
            </a:r>
            <a:r>
              <a:rPr lang="en-US" sz="2213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dalsi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      else {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   </a:t>
            </a:r>
            <a:r>
              <a:rPr lang="en-US" sz="2213" err="1">
                <a:latin typeface="Courier New" pitchFamily="49" charset="0"/>
              </a:rPr>
              <a:t>pred_vloz</a:t>
            </a:r>
            <a:r>
              <a:rPr lang="en-US" sz="2213">
                <a:latin typeface="Courier New" pitchFamily="49" charset="0"/>
              </a:rPr>
              <a:t> = </a:t>
            </a:r>
            <a:r>
              <a:rPr lang="en-US" sz="2213" err="1">
                <a:latin typeface="Courier New" pitchFamily="49" charset="0"/>
              </a:rPr>
              <a:t>najdi_predchodcu</a:t>
            </a:r>
            <a:r>
              <a:rPr lang="en-US" sz="2213">
                <a:latin typeface="Courier New" pitchFamily="49" charset="0"/>
              </a:rPr>
              <a:t>(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   </a:t>
            </a:r>
            <a:r>
              <a:rPr lang="en-US" sz="2213" err="1">
                <a:latin typeface="Courier New" pitchFamily="49" charset="0"/>
              </a:rPr>
              <a:t>pred_vloz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 = 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</a:t>
            </a:r>
            <a:r>
              <a:rPr lang="en-US" sz="2213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 = </a:t>
            </a:r>
            <a:r>
              <a:rPr lang="en-US" sz="2213" err="1">
                <a:latin typeface="Courier New" pitchFamily="49" charset="0"/>
              </a:rPr>
              <a:t>akt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   </a:t>
            </a:r>
            <a:r>
              <a:rPr lang="en-US" sz="2213" err="1">
                <a:latin typeface="Courier New" pitchFamily="49" charset="0"/>
              </a:rPr>
              <a:t>akt</a:t>
            </a:r>
            <a:r>
              <a:rPr lang="en-US" sz="2213">
                <a:latin typeface="Courier New" pitchFamily="49" charset="0"/>
              </a:rPr>
              <a:t>-&gt;</a:t>
            </a:r>
            <a:r>
              <a:rPr lang="en-US" sz="2213" err="1">
                <a:latin typeface="Courier New" pitchFamily="49" charset="0"/>
              </a:rPr>
              <a:t>dalsi</a:t>
            </a:r>
            <a:r>
              <a:rPr lang="en-US" sz="2213">
                <a:latin typeface="Courier New" pitchFamily="49" charset="0"/>
              </a:rPr>
              <a:t> = </a:t>
            </a:r>
            <a:r>
              <a:rPr lang="en-US" sz="2213" err="1">
                <a:latin typeface="Courier New" pitchFamily="49" charset="0"/>
              </a:rPr>
              <a:t>vloz</a:t>
            </a:r>
            <a:r>
              <a:rPr lang="en-US" sz="2213">
                <a:latin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   }</a:t>
            </a:r>
          </a:p>
          <a:p>
            <a:pPr>
              <a:defRPr/>
            </a:pPr>
            <a:r>
              <a:rPr lang="en-US" sz="2213">
                <a:latin typeface="Courier New" pitchFamily="49" charset="0"/>
              </a:rPr>
              <a:t>}</a:t>
            </a:r>
          </a:p>
        </p:txBody>
      </p:sp>
      <p:sp>
        <p:nvSpPr>
          <p:cNvPr id="21509" name="TextBox 1">
            <a:extLst>
              <a:ext uri="{FF2B5EF4-FFF2-40B4-BE49-F238E27FC236}">
                <a16:creationId xmlns:a16="http://schemas.microsoft.com/office/drawing/2014/main" id="{C3D26D66-99A8-4E0C-B84F-E83E2ECD4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7062788"/>
            <a:ext cx="61896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/>
              <a:t>ND</a:t>
            </a:r>
            <a:r>
              <a:rPr lang="sk-SK" altLang="sk-SK" sz="1992"/>
              <a:t>Ú: naprogramujte funkciu </a:t>
            </a: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najdi_predchodcu</a:t>
            </a:r>
            <a:endParaRPr lang="en-US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26">
            <a:extLst>
              <a:ext uri="{FF2B5EF4-FFF2-40B4-BE49-F238E27FC236}">
                <a16:creationId xmlns:a16="http://schemas.microsoft.com/office/drawing/2014/main" id="{2F5EE886-6680-449A-A0F7-4BEDC4078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</a:t>
            </a:r>
            <a:r>
              <a:rPr lang="en-US" altLang="sk-SK"/>
              <a:t>pr</a:t>
            </a:r>
            <a:r>
              <a:rPr lang="sk-SK" altLang="sk-SK"/>
              <a:t>ístup k položkám prvku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2531" name="Rectangle 1027">
            <a:extLst>
              <a:ext uri="{FF2B5EF4-FFF2-40B4-BE49-F238E27FC236}">
                <a16:creationId xmlns:a16="http://schemas.microsoft.com/office/drawing/2014/main" id="{0D7B5B70-3DC6-4736-AF93-674BE9E01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3395663"/>
            <a:ext cx="7999412" cy="4429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32" name="Text Box 1028">
            <a:extLst>
              <a:ext uri="{FF2B5EF4-FFF2-40B4-BE49-F238E27FC236}">
                <a16:creationId xmlns:a16="http://schemas.microsoft.com/office/drawing/2014/main" id="{C57D0A35-A83F-4DC7-BE19-E5F12DD21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3395663"/>
            <a:ext cx="7202487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== 7</a:t>
            </a:r>
            <a:r>
              <a:rPr lang="en-US" altLang="sk-SK" sz="2213">
                <a:latin typeface="Courier New" panose="02070309020205020404" pitchFamily="49" charset="0"/>
              </a:rPr>
              <a:t>) …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D491A7A2-4821-4391-8628-148CCBF2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962150"/>
            <a:ext cx="97218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>
                <a:solidFill>
                  <a:srgbClr val="FF0000"/>
                </a:solidFill>
              </a:rPr>
              <a:t>K položkám prvku spájaného zoznamu môžeme pristupovať, len ak daný prvok existuje (nie je </a:t>
            </a:r>
            <a:r>
              <a:rPr lang="sk-SK" altLang="sk-SK" sz="2656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k-SK" altLang="sk-SK" sz="2656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sk-SK" altLang="sk-SK" sz="2213"/>
              <a:t>Namiesto:</a:t>
            </a:r>
          </a:p>
          <a:p>
            <a:pPr lvl="1">
              <a:defRPr/>
            </a:pPr>
            <a:endParaRPr lang="sk-SK" altLang="sk-SK" sz="2213"/>
          </a:p>
          <a:p>
            <a:pPr lvl="1">
              <a:defRPr/>
            </a:pPr>
            <a:endParaRPr lang="sk-SK" altLang="sk-SK" sz="2213"/>
          </a:p>
          <a:p>
            <a:pPr lvl="1">
              <a:defRPr/>
            </a:pPr>
            <a:r>
              <a:rPr lang="sk-SK" altLang="sk-SK" sz="2213"/>
              <a:t>Treba použiť</a:t>
            </a:r>
          </a:p>
          <a:p>
            <a:pPr>
              <a:buFontTx/>
              <a:buAutoNum type="arabicPeriod"/>
              <a:defRPr/>
            </a:pPr>
            <a:endParaRPr lang="sk-SK" altLang="sk-SK" sz="2656"/>
          </a:p>
          <a:p>
            <a:pPr>
              <a:buFontTx/>
              <a:buAutoNum type="arabicPeriod"/>
              <a:defRPr/>
            </a:pPr>
            <a:endParaRPr lang="sk-SK" altLang="sk-SK" sz="2656"/>
          </a:p>
        </p:txBody>
      </p:sp>
      <p:sp>
        <p:nvSpPr>
          <p:cNvPr id="22534" name="Rectangle 7">
            <a:extLst>
              <a:ext uri="{FF2B5EF4-FFF2-40B4-BE49-F238E27FC236}">
                <a16:creationId xmlns:a16="http://schemas.microsoft.com/office/drawing/2014/main" id="{D2E149A7-E6C2-465A-AB34-809F649D2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35" name="Text Box 9">
            <a:extLst>
              <a:ext uri="{FF2B5EF4-FFF2-40B4-BE49-F238E27FC236}">
                <a16:creationId xmlns:a16="http://schemas.microsoft.com/office/drawing/2014/main" id="{D45E2A76-BAC7-4FFE-ADCA-CFB3678EE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569075"/>
            <a:ext cx="341312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1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2536" name="Rectangle 10">
            <a:extLst>
              <a:ext uri="{FF2B5EF4-FFF2-40B4-BE49-F238E27FC236}">
                <a16:creationId xmlns:a16="http://schemas.microsoft.com/office/drawing/2014/main" id="{78F41F02-680D-4785-BFA0-FE2A0DA7B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510338"/>
            <a:ext cx="842963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37" name="Text Box 12">
            <a:extLst>
              <a:ext uri="{FF2B5EF4-FFF2-40B4-BE49-F238E27FC236}">
                <a16:creationId xmlns:a16="http://schemas.microsoft.com/office/drawing/2014/main" id="{62E6EE8F-97EF-441C-A653-6450FE157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569075"/>
            <a:ext cx="341312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38" name="Rectangle 13">
            <a:extLst>
              <a:ext uri="{FF2B5EF4-FFF2-40B4-BE49-F238E27FC236}">
                <a16:creationId xmlns:a16="http://schemas.microsoft.com/office/drawing/2014/main" id="{89EFBD19-C728-46B0-BB38-1EE91AE90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39" name="Text Box 15">
            <a:extLst>
              <a:ext uri="{FF2B5EF4-FFF2-40B4-BE49-F238E27FC236}">
                <a16:creationId xmlns:a16="http://schemas.microsoft.com/office/drawing/2014/main" id="{B9334A7B-6B89-4BE5-B974-E8E508B52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40" name="Rectangle 16">
            <a:extLst>
              <a:ext uri="{FF2B5EF4-FFF2-40B4-BE49-F238E27FC236}">
                <a16:creationId xmlns:a16="http://schemas.microsoft.com/office/drawing/2014/main" id="{186340F9-CE5E-4E52-8122-C2B5BEE23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510338"/>
            <a:ext cx="841375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41" name="Text Box 18">
            <a:extLst>
              <a:ext uri="{FF2B5EF4-FFF2-40B4-BE49-F238E27FC236}">
                <a16:creationId xmlns:a16="http://schemas.microsoft.com/office/drawing/2014/main" id="{37F004E9-9D5D-4B47-A324-B2453300B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42" name="Rectangle 19">
            <a:extLst>
              <a:ext uri="{FF2B5EF4-FFF2-40B4-BE49-F238E27FC236}">
                <a16:creationId xmlns:a16="http://schemas.microsoft.com/office/drawing/2014/main" id="{56558742-B982-4309-BAF4-24C27C870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6510338"/>
            <a:ext cx="842963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43" name="Text Box 21">
            <a:extLst>
              <a:ext uri="{FF2B5EF4-FFF2-40B4-BE49-F238E27FC236}">
                <a16:creationId xmlns:a16="http://schemas.microsoft.com/office/drawing/2014/main" id="{029525AF-137D-4AF4-9A86-AADF4455D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6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2544" name="Rectangle 26">
            <a:extLst>
              <a:ext uri="{FF2B5EF4-FFF2-40B4-BE49-F238E27FC236}">
                <a16:creationId xmlns:a16="http://schemas.microsoft.com/office/drawing/2014/main" id="{C4286BAE-31A6-4BBB-8B7F-A83B94F33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510338"/>
            <a:ext cx="842962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45" name="Text Box 28">
            <a:extLst>
              <a:ext uri="{FF2B5EF4-FFF2-40B4-BE49-F238E27FC236}">
                <a16:creationId xmlns:a16="http://schemas.microsoft.com/office/drawing/2014/main" id="{F8D7B199-5006-49E4-8E28-FE883AA67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7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2546" name="Rectangle 29">
            <a:extLst>
              <a:ext uri="{FF2B5EF4-FFF2-40B4-BE49-F238E27FC236}">
                <a16:creationId xmlns:a16="http://schemas.microsoft.com/office/drawing/2014/main" id="{FC8EBB92-FF1C-4D75-9262-C4D819EBD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510338"/>
            <a:ext cx="841375" cy="933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47" name="Text Box 31">
            <a:extLst>
              <a:ext uri="{FF2B5EF4-FFF2-40B4-BE49-F238E27FC236}">
                <a16:creationId xmlns:a16="http://schemas.microsoft.com/office/drawing/2014/main" id="{3C20FE44-6C16-4E1D-92A6-2D3E3B17A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6569075"/>
            <a:ext cx="339725" cy="4667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8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712439-DFCD-43E8-B462-D97046C35FE2}"/>
              </a:ext>
            </a:extLst>
          </p:cNvPr>
          <p:cNvSpPr/>
          <p:nvPr/>
        </p:nvSpPr>
        <p:spPr bwMode="auto">
          <a:xfrm>
            <a:off x="1471613" y="7077075"/>
            <a:ext cx="842962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7F4531-92EA-4CED-B77A-02F2A667A13B}"/>
              </a:ext>
            </a:extLst>
          </p:cNvPr>
          <p:cNvSpPr/>
          <p:nvPr/>
        </p:nvSpPr>
        <p:spPr bwMode="auto">
          <a:xfrm>
            <a:off x="2684463" y="707866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E52C3A-E2B3-42AD-A684-4508528BEC68}"/>
              </a:ext>
            </a:extLst>
          </p:cNvPr>
          <p:cNvSpPr/>
          <p:nvPr/>
        </p:nvSpPr>
        <p:spPr bwMode="auto">
          <a:xfrm>
            <a:off x="3906838" y="7086600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93DDA0-75C5-4859-AC11-69B1055D0D0B}"/>
              </a:ext>
            </a:extLst>
          </p:cNvPr>
          <p:cNvSpPr/>
          <p:nvPr/>
        </p:nvSpPr>
        <p:spPr bwMode="auto">
          <a:xfrm>
            <a:off x="5124450" y="7086600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A351A8-464D-40A3-B853-6ECD02AC79CB}"/>
              </a:ext>
            </a:extLst>
          </p:cNvPr>
          <p:cNvSpPr/>
          <p:nvPr/>
        </p:nvSpPr>
        <p:spPr bwMode="auto">
          <a:xfrm>
            <a:off x="6340475" y="7086600"/>
            <a:ext cx="842963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355F0E-D6F6-4ACD-A8B5-DD35E4021E36}"/>
              </a:ext>
            </a:extLst>
          </p:cNvPr>
          <p:cNvSpPr/>
          <p:nvPr/>
        </p:nvSpPr>
        <p:spPr bwMode="auto">
          <a:xfrm>
            <a:off x="7558088" y="7078663"/>
            <a:ext cx="841375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9F1A8D-CCE9-4C76-85B5-F82481A83B73}"/>
              </a:ext>
            </a:extLst>
          </p:cNvPr>
          <p:cNvSpPr/>
          <p:nvPr/>
        </p:nvSpPr>
        <p:spPr bwMode="auto">
          <a:xfrm>
            <a:off x="8775700" y="7086600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555" name="Line 22">
            <a:extLst>
              <a:ext uri="{FF2B5EF4-FFF2-40B4-BE49-F238E27FC236}">
                <a16:creationId xmlns:a16="http://schemas.microsoft.com/office/drawing/2014/main" id="{D161AEE7-A310-4076-A4D8-582D381BB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258050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56" name="Line 23">
            <a:extLst>
              <a:ext uri="{FF2B5EF4-FFF2-40B4-BE49-F238E27FC236}">
                <a16:creationId xmlns:a16="http://schemas.microsoft.com/office/drawing/2014/main" id="{EF7C25C7-B3F7-4519-9B70-976B6009D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258050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57" name="Line 24">
            <a:extLst>
              <a:ext uri="{FF2B5EF4-FFF2-40B4-BE49-F238E27FC236}">
                <a16:creationId xmlns:a16="http://schemas.microsoft.com/office/drawing/2014/main" id="{9B36A1EA-A100-4902-AE3F-F4D18D7BF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258050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58" name="Line 25">
            <a:extLst>
              <a:ext uri="{FF2B5EF4-FFF2-40B4-BE49-F238E27FC236}">
                <a16:creationId xmlns:a16="http://schemas.microsoft.com/office/drawing/2014/main" id="{B991F429-C6B8-46D8-99E2-8B9569922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59" name="Line 32">
            <a:extLst>
              <a:ext uri="{FF2B5EF4-FFF2-40B4-BE49-F238E27FC236}">
                <a16:creationId xmlns:a16="http://schemas.microsoft.com/office/drawing/2014/main" id="{7993DA95-13D6-45F1-BDD5-DEA21E57F3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60" name="Line 33">
            <a:extLst>
              <a:ext uri="{FF2B5EF4-FFF2-40B4-BE49-F238E27FC236}">
                <a16:creationId xmlns:a16="http://schemas.microsoft.com/office/drawing/2014/main" id="{9974A668-198A-4380-906D-1D93D29CD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7258050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61" name="Line 34">
            <a:extLst>
              <a:ext uri="{FF2B5EF4-FFF2-40B4-BE49-F238E27FC236}">
                <a16:creationId xmlns:a16="http://schemas.microsoft.com/office/drawing/2014/main" id="{8CB753D9-298A-4490-B1E8-75B39C321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727392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62" name="Line 35">
            <a:extLst>
              <a:ext uri="{FF2B5EF4-FFF2-40B4-BE49-F238E27FC236}">
                <a16:creationId xmlns:a16="http://schemas.microsoft.com/office/drawing/2014/main" id="{8B39CAFD-3007-4A36-8AF8-1550B6C3D2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7145338"/>
            <a:ext cx="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2563" name="Line 36">
            <a:extLst>
              <a:ext uri="{FF2B5EF4-FFF2-40B4-BE49-F238E27FC236}">
                <a16:creationId xmlns:a16="http://schemas.microsoft.com/office/drawing/2014/main" id="{89BF4034-3831-49DE-9F94-16CC73C649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7145338"/>
            <a:ext cx="0" cy="261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9AC055-E6EC-47D7-B5E3-7B23FE8B18A6}"/>
              </a:ext>
            </a:extLst>
          </p:cNvPr>
          <p:cNvSpPr/>
          <p:nvPr/>
        </p:nvSpPr>
        <p:spPr bwMode="auto">
          <a:xfrm>
            <a:off x="533400" y="5864225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594AF3-B7B5-4C3C-9005-18643D415B09}"/>
              </a:ext>
            </a:extLst>
          </p:cNvPr>
          <p:cNvSpPr/>
          <p:nvPr/>
        </p:nvSpPr>
        <p:spPr bwMode="auto">
          <a:xfrm>
            <a:off x="1614488" y="584041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5574" name="Elbow Connector 3">
            <a:extLst>
              <a:ext uri="{FF2B5EF4-FFF2-40B4-BE49-F238E27FC236}">
                <a16:creationId xmlns:a16="http://schemas.microsoft.com/office/drawing/2014/main" id="{90D15AF2-A4FB-4B1D-9D96-106BEDFF97A9}"/>
              </a:ext>
            </a:extLst>
          </p:cNvPr>
          <p:cNvCxnSpPr>
            <a:cxnSpLocks noChangeShapeType="1"/>
            <a:stCxn id="54" idx="2"/>
            <a:endCxn id="22534" idx="1"/>
          </p:cNvCxnSpPr>
          <p:nvPr/>
        </p:nvCxnSpPr>
        <p:spPr bwMode="auto">
          <a:xfrm rot="16200000" flipH="1">
            <a:off x="842170" y="6349206"/>
            <a:ext cx="741362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6026A4BE-70F1-4B6A-9473-330009BE2CBD}"/>
              </a:ext>
            </a:extLst>
          </p:cNvPr>
          <p:cNvCxnSpPr>
            <a:cxnSpLocks noChangeShapeType="1"/>
            <a:stCxn id="55" idx="3"/>
            <a:endCxn id="22540" idx="0"/>
          </p:cNvCxnSpPr>
          <p:nvPr/>
        </p:nvCxnSpPr>
        <p:spPr bwMode="auto">
          <a:xfrm>
            <a:off x="2457450" y="6026150"/>
            <a:ext cx="3086100" cy="4841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68" name="Rectangle 1027">
            <a:extLst>
              <a:ext uri="{FF2B5EF4-FFF2-40B4-BE49-F238E27FC236}">
                <a16:creationId xmlns:a16="http://schemas.microsoft.com/office/drawing/2014/main" id="{00374EAA-E66C-4F6C-AC41-213EED9C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4627563"/>
            <a:ext cx="7999412" cy="4429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2569" name="Text Box 1028">
            <a:extLst>
              <a:ext uri="{FF2B5EF4-FFF2-40B4-BE49-F238E27FC236}">
                <a16:creationId xmlns:a16="http://schemas.microsoft.com/office/drawing/2014/main" id="{08145031-62B8-4D95-89AC-4241D315A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627563"/>
            <a:ext cx="7202487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 != NULL </a:t>
            </a:r>
            <a:r>
              <a:rPr lang="en-US" altLang="sk-SK" sz="2213">
                <a:latin typeface="Courier New" panose="02070309020205020404" pitchFamily="49" charset="0"/>
              </a:rPr>
              <a:t>&amp;&amp;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== 7</a:t>
            </a:r>
            <a:r>
              <a:rPr lang="en-US" altLang="sk-SK" sz="2213">
                <a:latin typeface="Courier New" panose="02070309020205020404" pitchFamily="49" charset="0"/>
              </a:rPr>
              <a:t>) …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23B5F7D4-9974-4507-BF93-0E904A723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2860675"/>
            <a:ext cx="2754312" cy="1514475"/>
          </a:xfrm>
          <a:prstGeom prst="wedgeRoundRectCallout">
            <a:avLst>
              <a:gd name="adj1" fmla="val -48139"/>
              <a:gd name="adj2" fmla="val 67403"/>
              <a:gd name="adj3" fmla="val 16667"/>
            </a:avLst>
          </a:prstGeom>
          <a:solidFill>
            <a:schemeClr val="bg1"/>
          </a:solidFill>
          <a:ln w="127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solidFill>
                  <a:srgbClr val="FF0000"/>
                </a:solidFill>
              </a:rPr>
              <a:t>Vyu</a:t>
            </a:r>
            <a:r>
              <a:rPr lang="sk-SK" altLang="sk-SK" sz="1992">
                <a:solidFill>
                  <a:srgbClr val="FF0000"/>
                </a:solidFill>
              </a:rPr>
              <a:t>žite skrátené vyhodnocovanie logických operátorov</a:t>
            </a:r>
            <a:endParaRPr lang="en-US" altLang="sk-SK" sz="1992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77AAE2B-DC85-49B8-93F9-741F663A5507}"/>
              </a:ext>
            </a:extLst>
          </p:cNvPr>
          <p:cNvGrpSpPr>
            <a:grpSpLocks/>
          </p:cNvGrpSpPr>
          <p:nvPr/>
        </p:nvGrpSpPr>
        <p:grpSpPr bwMode="auto">
          <a:xfrm>
            <a:off x="2206625" y="5892800"/>
            <a:ext cx="633413" cy="261938"/>
            <a:chOff x="7236296" y="5157192"/>
            <a:chExt cx="573321" cy="237503"/>
          </a:xfrm>
        </p:grpSpPr>
        <p:sp>
          <p:nvSpPr>
            <p:cNvPr id="22572" name="Line 34">
              <a:extLst>
                <a:ext uri="{FF2B5EF4-FFF2-40B4-BE49-F238E27FC236}">
                  <a16:creationId xmlns:a16="http://schemas.microsoft.com/office/drawing/2014/main" id="{99CEA43A-2CD9-403C-8D69-ECBDD8BE1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296" y="5273785"/>
              <a:ext cx="57332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2573" name="Line 35">
              <a:extLst>
                <a:ext uri="{FF2B5EF4-FFF2-40B4-BE49-F238E27FC236}">
                  <a16:creationId xmlns:a16="http://schemas.microsoft.com/office/drawing/2014/main" id="{1089AF28-C858-4ABF-B6BF-7EF310759A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7423" y="5157192"/>
              <a:ext cx="0" cy="231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2574" name="Line 36">
              <a:extLst>
                <a:ext uri="{FF2B5EF4-FFF2-40B4-BE49-F238E27FC236}">
                  <a16:creationId xmlns:a16="http://schemas.microsoft.com/office/drawing/2014/main" id="{B751906A-3C10-44C9-87CC-872FA9537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6898" y="5157192"/>
              <a:ext cx="0" cy="237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>
            <a:extLst>
              <a:ext uri="{FF2B5EF4-FFF2-40B4-BE49-F238E27FC236}">
                <a16:creationId xmlns:a16="http://schemas.microsoft.com/office/drawing/2014/main" id="{B4FF9AE2-5144-461F-98A5-AA11FE085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kontrola hodnoty dalšieho prvku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E15E08AC-0E34-4797-9754-8F1F849E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2373313"/>
            <a:ext cx="8764587" cy="784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56" name="Text Box 1028">
            <a:extLst>
              <a:ext uri="{FF2B5EF4-FFF2-40B4-BE49-F238E27FC236}">
                <a16:creationId xmlns:a16="http://schemas.microsoft.com/office/drawing/2014/main" id="{CDDF1FA6-CB72-4C37-8794-BC0871415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373313"/>
            <a:ext cx="720248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2ED2285D-583C-4743-9F1A-4A3786E1D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484313"/>
            <a:ext cx="9158288" cy="358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435"/>
              <a:t>Ak treba vložiť prvok</a:t>
            </a:r>
            <a:r>
              <a:rPr lang="en-US" altLang="sk-SK" sz="2435"/>
              <a:t>, na ktor</a:t>
            </a:r>
            <a:r>
              <a:rPr lang="sk-SK" altLang="sk-SK" sz="2435"/>
              <a:t>ý ukazuje </a:t>
            </a:r>
            <a:r>
              <a:rPr lang="sk-SK" altLang="sk-SK" sz="2435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/>
              <a:t> do usporiadaného zoznamu, môžem sa potrebovať opýtať:</a:t>
            </a:r>
          </a:p>
          <a:p>
            <a:pPr>
              <a:buFontTx/>
              <a:buNone/>
              <a:defRPr/>
            </a:pPr>
            <a:endParaRPr lang="sk-SK" altLang="sk-SK" sz="775"/>
          </a:p>
          <a:p>
            <a:pPr>
              <a:buFontTx/>
              <a:buAutoNum type="arabicPeriod"/>
              <a:defRPr/>
            </a:pPr>
            <a:endParaRPr lang="sk-SK" altLang="sk-SK" sz="1992"/>
          </a:p>
          <a:p>
            <a:pPr>
              <a:buFontTx/>
              <a:buAutoNum type="arabicPeriod"/>
              <a:defRPr/>
            </a:pPr>
            <a:endParaRPr lang="sk-SK" altLang="sk-SK" sz="2435"/>
          </a:p>
          <a:p>
            <a:pPr>
              <a:defRPr/>
            </a:pPr>
            <a:r>
              <a:rPr lang="sk-SK" altLang="sk-SK" sz="2435">
                <a:solidFill>
                  <a:srgbClr val="FF0000"/>
                </a:solidFill>
              </a:rPr>
              <a:t>Predtým je však treba zistiť, či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NULL,</a:t>
            </a:r>
            <a:r>
              <a:rPr lang="sk-SK" altLang="sk-SK" sz="2435">
                <a:solidFill>
                  <a:srgbClr val="FF0000"/>
                </a:solidFill>
              </a:rPr>
              <a:t>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k-SK" altLang="sk-SK" sz="2435">
                <a:solidFill>
                  <a:srgbClr val="FF0000"/>
                </a:solidFill>
              </a:rPr>
              <a:t> 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en-US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dalsi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altLang="sk-SK" sz="2435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558" name="Rectangle 7">
            <a:extLst>
              <a:ext uri="{FF2B5EF4-FFF2-40B4-BE49-F238E27FC236}">
                <a16:creationId xmlns:a16="http://schemas.microsoft.com/office/drawing/2014/main" id="{6868DD60-C2E4-4200-A7F2-C7BD2B11D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59" name="Text Box 9">
            <a:extLst>
              <a:ext uri="{FF2B5EF4-FFF2-40B4-BE49-F238E27FC236}">
                <a16:creationId xmlns:a16="http://schemas.microsoft.com/office/drawing/2014/main" id="{02349FD8-FCDD-4206-A72A-7ED63EC56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778625"/>
            <a:ext cx="3286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1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3560" name="Rectangle 10">
            <a:extLst>
              <a:ext uri="{FF2B5EF4-FFF2-40B4-BE49-F238E27FC236}">
                <a16:creationId xmlns:a16="http://schemas.microsoft.com/office/drawing/2014/main" id="{7AABD63C-5446-4009-A339-3DDC4BCD1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61" name="Text Box 12">
            <a:extLst>
              <a:ext uri="{FF2B5EF4-FFF2-40B4-BE49-F238E27FC236}">
                <a16:creationId xmlns:a16="http://schemas.microsoft.com/office/drawing/2014/main" id="{4BC4F925-F48F-4247-AB6C-30EB3D9B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62" name="Rectangle 13">
            <a:extLst>
              <a:ext uri="{FF2B5EF4-FFF2-40B4-BE49-F238E27FC236}">
                <a16:creationId xmlns:a16="http://schemas.microsoft.com/office/drawing/2014/main" id="{0580907A-8BC0-48D8-903F-44EDEC3AE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63" name="Text Box 15">
            <a:extLst>
              <a:ext uri="{FF2B5EF4-FFF2-40B4-BE49-F238E27FC236}">
                <a16:creationId xmlns:a16="http://schemas.microsoft.com/office/drawing/2014/main" id="{CE56DE1E-2E85-4BCE-8D6C-33BE20B48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64" name="Rectangle 16">
            <a:extLst>
              <a:ext uri="{FF2B5EF4-FFF2-40B4-BE49-F238E27FC236}">
                <a16:creationId xmlns:a16="http://schemas.microsoft.com/office/drawing/2014/main" id="{9E64F5ED-92A0-49C5-97B8-A16415BC0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65" name="Text Box 18">
            <a:extLst>
              <a:ext uri="{FF2B5EF4-FFF2-40B4-BE49-F238E27FC236}">
                <a16:creationId xmlns:a16="http://schemas.microsoft.com/office/drawing/2014/main" id="{A1CFBE2C-8EF4-4B9C-9A26-8A2149CF5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66" name="Rectangle 19">
            <a:extLst>
              <a:ext uri="{FF2B5EF4-FFF2-40B4-BE49-F238E27FC236}">
                <a16:creationId xmlns:a16="http://schemas.microsoft.com/office/drawing/2014/main" id="{C5CA8712-BB67-4F25-977C-B6D365633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67" name="Text Box 21">
            <a:extLst>
              <a:ext uri="{FF2B5EF4-FFF2-40B4-BE49-F238E27FC236}">
                <a16:creationId xmlns:a16="http://schemas.microsoft.com/office/drawing/2014/main" id="{0DA661D9-50DE-4AFE-9068-ACE1BF02A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6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3568" name="Rectangle 26">
            <a:extLst>
              <a:ext uri="{FF2B5EF4-FFF2-40B4-BE49-F238E27FC236}">
                <a16:creationId xmlns:a16="http://schemas.microsoft.com/office/drawing/2014/main" id="{F3153B88-76C5-4E2A-8B66-B2880DAF2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69" name="Text Box 28">
            <a:extLst>
              <a:ext uri="{FF2B5EF4-FFF2-40B4-BE49-F238E27FC236}">
                <a16:creationId xmlns:a16="http://schemas.microsoft.com/office/drawing/2014/main" id="{60C77F47-09AA-43A9-AE8F-EA7621BC5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7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3570" name="Rectangle 29">
            <a:extLst>
              <a:ext uri="{FF2B5EF4-FFF2-40B4-BE49-F238E27FC236}">
                <a16:creationId xmlns:a16="http://schemas.microsoft.com/office/drawing/2014/main" id="{7659A0EF-9989-44A9-BA2D-F240329E0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71" name="Text Box 31">
            <a:extLst>
              <a:ext uri="{FF2B5EF4-FFF2-40B4-BE49-F238E27FC236}">
                <a16:creationId xmlns:a16="http://schemas.microsoft.com/office/drawing/2014/main" id="{7487CB60-F972-4125-B0A5-AE85B22A7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8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F52B-591C-4108-9EAA-59B0F456DC29}"/>
              </a:ext>
            </a:extLst>
          </p:cNvPr>
          <p:cNvSpPr/>
          <p:nvPr/>
        </p:nvSpPr>
        <p:spPr bwMode="auto">
          <a:xfrm>
            <a:off x="1471613" y="72263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B7884E-C442-4819-BB3E-039EB15A4DD0}"/>
              </a:ext>
            </a:extLst>
          </p:cNvPr>
          <p:cNvSpPr/>
          <p:nvPr/>
        </p:nvSpPr>
        <p:spPr bwMode="auto">
          <a:xfrm>
            <a:off x="2684463" y="7229475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CB2F68C-3129-4FE0-A8AC-7BA2EF4AF946}"/>
              </a:ext>
            </a:extLst>
          </p:cNvPr>
          <p:cNvSpPr/>
          <p:nvPr/>
        </p:nvSpPr>
        <p:spPr bwMode="auto">
          <a:xfrm>
            <a:off x="3906838" y="72390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B7FCFE-3DA1-471B-BBFA-083034BCA7E6}"/>
              </a:ext>
            </a:extLst>
          </p:cNvPr>
          <p:cNvSpPr/>
          <p:nvPr/>
        </p:nvSpPr>
        <p:spPr bwMode="auto">
          <a:xfrm>
            <a:off x="512445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776B14-0672-4F5D-9B16-BBEAD0E6606D}"/>
              </a:ext>
            </a:extLst>
          </p:cNvPr>
          <p:cNvSpPr/>
          <p:nvPr/>
        </p:nvSpPr>
        <p:spPr bwMode="auto">
          <a:xfrm>
            <a:off x="6340475" y="7239000"/>
            <a:ext cx="842963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398ED4E-C2E0-467D-8214-0EBE94D9A685}"/>
              </a:ext>
            </a:extLst>
          </p:cNvPr>
          <p:cNvSpPr/>
          <p:nvPr/>
        </p:nvSpPr>
        <p:spPr bwMode="auto">
          <a:xfrm>
            <a:off x="7558088" y="7229475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F0A62F-B1F3-497C-ABDC-3F1060D02DF3}"/>
              </a:ext>
            </a:extLst>
          </p:cNvPr>
          <p:cNvSpPr/>
          <p:nvPr/>
        </p:nvSpPr>
        <p:spPr bwMode="auto">
          <a:xfrm>
            <a:off x="877570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579" name="Line 22">
            <a:extLst>
              <a:ext uri="{FF2B5EF4-FFF2-40B4-BE49-F238E27FC236}">
                <a16:creationId xmlns:a16="http://schemas.microsoft.com/office/drawing/2014/main" id="{B86869CB-B412-4228-BB05-220D4AA7F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337425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0" name="Line 23">
            <a:extLst>
              <a:ext uri="{FF2B5EF4-FFF2-40B4-BE49-F238E27FC236}">
                <a16:creationId xmlns:a16="http://schemas.microsoft.com/office/drawing/2014/main" id="{3A52B17C-B16B-425A-9FB4-90D8C7CBA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337425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1" name="Line 24">
            <a:extLst>
              <a:ext uri="{FF2B5EF4-FFF2-40B4-BE49-F238E27FC236}">
                <a16:creationId xmlns:a16="http://schemas.microsoft.com/office/drawing/2014/main" id="{D865F5BA-2A1A-4407-8562-1B28F4602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337425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2" name="Line 25">
            <a:extLst>
              <a:ext uri="{FF2B5EF4-FFF2-40B4-BE49-F238E27FC236}">
                <a16:creationId xmlns:a16="http://schemas.microsoft.com/office/drawing/2014/main" id="{CEF3E482-9EE6-45C1-9C4D-C55D62CAC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3" name="Line 32">
            <a:extLst>
              <a:ext uri="{FF2B5EF4-FFF2-40B4-BE49-F238E27FC236}">
                <a16:creationId xmlns:a16="http://schemas.microsoft.com/office/drawing/2014/main" id="{493D6C8E-9E9A-41EB-A7EF-71EA21D23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4" name="Line 33">
            <a:extLst>
              <a:ext uri="{FF2B5EF4-FFF2-40B4-BE49-F238E27FC236}">
                <a16:creationId xmlns:a16="http://schemas.microsoft.com/office/drawing/2014/main" id="{5BB6AA41-0BA3-4E6A-A6C5-53AA75BF8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5" name="Line 34">
            <a:extLst>
              <a:ext uri="{FF2B5EF4-FFF2-40B4-BE49-F238E27FC236}">
                <a16:creationId xmlns:a16="http://schemas.microsoft.com/office/drawing/2014/main" id="{0646F2ED-9CBA-454C-B497-5437030C0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7354888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6" name="Line 35">
            <a:extLst>
              <a:ext uri="{FF2B5EF4-FFF2-40B4-BE49-F238E27FC236}">
                <a16:creationId xmlns:a16="http://schemas.microsoft.com/office/drawing/2014/main" id="{4D6FC366-44EE-44CC-AA61-714C36E99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7245350"/>
            <a:ext cx="0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587" name="Line 36">
            <a:extLst>
              <a:ext uri="{FF2B5EF4-FFF2-40B4-BE49-F238E27FC236}">
                <a16:creationId xmlns:a16="http://schemas.microsoft.com/office/drawing/2014/main" id="{D1BD3FEC-F6A8-429E-AD6E-A2312E3500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7245350"/>
            <a:ext cx="0" cy="214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60352D-851D-486C-99FC-1AA98F4147B5}"/>
              </a:ext>
            </a:extLst>
          </p:cNvPr>
          <p:cNvSpPr/>
          <p:nvPr/>
        </p:nvSpPr>
        <p:spPr bwMode="auto">
          <a:xfrm>
            <a:off x="533400" y="5891213"/>
            <a:ext cx="84137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2071F2-7330-46AA-8E73-09E8D2F9E297}"/>
              </a:ext>
            </a:extLst>
          </p:cNvPr>
          <p:cNvSpPr/>
          <p:nvPr/>
        </p:nvSpPr>
        <p:spPr bwMode="auto">
          <a:xfrm>
            <a:off x="1614488" y="5865813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6598" name="Elbow Connector 3">
            <a:extLst>
              <a:ext uri="{FF2B5EF4-FFF2-40B4-BE49-F238E27FC236}">
                <a16:creationId xmlns:a16="http://schemas.microsoft.com/office/drawing/2014/main" id="{6BF5F6E1-9173-434E-8826-2BE415FEE812}"/>
              </a:ext>
            </a:extLst>
          </p:cNvPr>
          <p:cNvCxnSpPr>
            <a:cxnSpLocks noChangeShapeType="1"/>
            <a:stCxn id="54" idx="2"/>
            <a:endCxn id="23558" idx="1"/>
          </p:cNvCxnSpPr>
          <p:nvPr/>
        </p:nvCxnSpPr>
        <p:spPr bwMode="auto">
          <a:xfrm rot="16200000" flipH="1">
            <a:off x="771526" y="6445250"/>
            <a:ext cx="882650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599" name="Elbow Connector 5">
            <a:extLst>
              <a:ext uri="{FF2B5EF4-FFF2-40B4-BE49-F238E27FC236}">
                <a16:creationId xmlns:a16="http://schemas.microsoft.com/office/drawing/2014/main" id="{6A39521B-667B-4C4A-99EA-86AFD31780F2}"/>
              </a:ext>
            </a:extLst>
          </p:cNvPr>
          <p:cNvCxnSpPr>
            <a:cxnSpLocks noChangeShapeType="1"/>
            <a:stCxn id="55" idx="3"/>
            <a:endCxn id="23565" idx="0"/>
          </p:cNvCxnSpPr>
          <p:nvPr/>
        </p:nvCxnSpPr>
        <p:spPr bwMode="auto">
          <a:xfrm>
            <a:off x="2457450" y="6053138"/>
            <a:ext cx="3079750" cy="725487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92" name="Rectangle 1027">
            <a:extLst>
              <a:ext uri="{FF2B5EF4-FFF2-40B4-BE49-F238E27FC236}">
                <a16:creationId xmlns:a16="http://schemas.microsoft.com/office/drawing/2014/main" id="{15557238-7CC3-473A-A602-370A5DFC5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4194175"/>
            <a:ext cx="8764587" cy="15144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93" name="Text Box 1028">
            <a:extLst>
              <a:ext uri="{FF2B5EF4-FFF2-40B4-BE49-F238E27FC236}">
                <a16:creationId xmlns:a16="http://schemas.microsoft.com/office/drawing/2014/main" id="{B268F90E-C8DC-4D69-97B7-B84786543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194175"/>
            <a:ext cx="8926512" cy="145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f(vloz </a:t>
            </a:r>
            <a:r>
              <a:rPr lang="en-US" altLang="sk-SK" sz="2213">
                <a:latin typeface="Courier New" panose="02070309020205020404" pitchFamily="49" charset="0"/>
              </a:rPr>
              <a:t>!= NULL)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</a:t>
            </a:r>
            <a:r>
              <a:rPr lang="sk-SK" altLang="sk-SK" sz="2213">
                <a:latin typeface="Courier New" panose="02070309020205020404" pitchFamily="49" charset="0"/>
              </a:rPr>
              <a:t>f (akt</a:t>
            </a:r>
            <a:r>
              <a:rPr lang="en-US" altLang="sk-SK" sz="2213">
                <a:latin typeface="Courier New" panose="02070309020205020404" pitchFamily="49" charset="0"/>
              </a:rPr>
              <a:t> != NULL &amp;&amp;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akt-&gt;dalsi != NULL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662476-BF2B-4437-9603-120E1D50C0A3}"/>
              </a:ext>
            </a:extLst>
          </p:cNvPr>
          <p:cNvSpPr/>
          <p:nvPr/>
        </p:nvSpPr>
        <p:spPr bwMode="auto">
          <a:xfrm>
            <a:off x="6111875" y="5910263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cxnSp>
        <p:nvCxnSpPr>
          <p:cNvPr id="66603" name="Elbow Connector 73">
            <a:extLst>
              <a:ext uri="{FF2B5EF4-FFF2-40B4-BE49-F238E27FC236}">
                <a16:creationId xmlns:a16="http://schemas.microsoft.com/office/drawing/2014/main" id="{C0882961-37B1-49D9-B929-63E4C30C4242}"/>
              </a:ext>
            </a:extLst>
          </p:cNvPr>
          <p:cNvCxnSpPr>
            <a:cxnSpLocks noChangeShapeType="1"/>
            <a:stCxn id="73" idx="3"/>
          </p:cNvCxnSpPr>
          <p:nvPr/>
        </p:nvCxnSpPr>
        <p:spPr bwMode="auto">
          <a:xfrm>
            <a:off x="6953250" y="6096000"/>
            <a:ext cx="609600" cy="0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96" name="Rectangle 29">
            <a:extLst>
              <a:ext uri="{FF2B5EF4-FFF2-40B4-BE49-F238E27FC236}">
                <a16:creationId xmlns:a16="http://schemas.microsoft.com/office/drawing/2014/main" id="{3EC94446-8672-44F9-836D-A790F451A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58912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3597" name="Text Box 31">
            <a:extLst>
              <a:ext uri="{FF2B5EF4-FFF2-40B4-BE49-F238E27FC236}">
                <a16:creationId xmlns:a16="http://schemas.microsoft.com/office/drawing/2014/main" id="{9736B9C2-15C0-4D48-A22E-C97F9670C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900738"/>
            <a:ext cx="3270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5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E4303F-2FEA-46D9-A188-712A108B28DF}"/>
              </a:ext>
            </a:extLst>
          </p:cNvPr>
          <p:cNvSpPr/>
          <p:nvPr/>
        </p:nvSpPr>
        <p:spPr bwMode="auto">
          <a:xfrm>
            <a:off x="7545388" y="6361113"/>
            <a:ext cx="842962" cy="30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599" name="Line 34">
            <a:extLst>
              <a:ext uri="{FF2B5EF4-FFF2-40B4-BE49-F238E27FC236}">
                <a16:creationId xmlns:a16="http://schemas.microsoft.com/office/drawing/2014/main" id="{66E1C53A-962A-4DB6-9B7A-8A206CFCE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9263" y="6477000"/>
            <a:ext cx="633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600" name="Line 35">
            <a:extLst>
              <a:ext uri="{FF2B5EF4-FFF2-40B4-BE49-F238E27FC236}">
                <a16:creationId xmlns:a16="http://schemas.microsoft.com/office/drawing/2014/main" id="{EECD3EE2-0BF4-4E37-8B2E-FE162420BF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8213" y="6376988"/>
            <a:ext cx="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3601" name="Line 36">
            <a:extLst>
              <a:ext uri="{FF2B5EF4-FFF2-40B4-BE49-F238E27FC236}">
                <a16:creationId xmlns:a16="http://schemas.microsoft.com/office/drawing/2014/main" id="{D351FD41-7429-490D-932D-C2F3B15DDE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6613" y="6378575"/>
            <a:ext cx="0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>
            <a:extLst>
              <a:ext uri="{FF2B5EF4-FFF2-40B4-BE49-F238E27FC236}">
                <a16:creationId xmlns:a16="http://schemas.microsoft.com/office/drawing/2014/main" id="{12C8F29B-9BE7-47E0-87BD-AE617CDF4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kontrola hodnoty dalšieho prvku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4579" name="Rectangle 1027">
            <a:extLst>
              <a:ext uri="{FF2B5EF4-FFF2-40B4-BE49-F238E27FC236}">
                <a16:creationId xmlns:a16="http://schemas.microsoft.com/office/drawing/2014/main" id="{E7D5B730-64EF-4F9B-8221-9FF2829B2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2373313"/>
            <a:ext cx="8764587" cy="784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80" name="Text Box 1028">
            <a:extLst>
              <a:ext uri="{FF2B5EF4-FFF2-40B4-BE49-F238E27FC236}">
                <a16:creationId xmlns:a16="http://schemas.microsoft.com/office/drawing/2014/main" id="{E9D6FF6E-BE58-4ED5-B670-4A6821ACB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373313"/>
            <a:ext cx="720248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A5A1059D-43B0-41BF-B475-3B0352DB7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484313"/>
            <a:ext cx="915828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435"/>
              <a:t>Ak treba vložiť prvok</a:t>
            </a:r>
            <a:r>
              <a:rPr lang="en-US" altLang="sk-SK" sz="2435"/>
              <a:t>, na ktor</a:t>
            </a:r>
            <a:r>
              <a:rPr lang="sk-SK" altLang="sk-SK" sz="2435"/>
              <a:t>ý ukazuje </a:t>
            </a:r>
            <a:r>
              <a:rPr lang="sk-SK" altLang="sk-SK" sz="2435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/>
              <a:t> do usporiadaného zoznamu, môžem sa potrebovať opýtať:</a:t>
            </a:r>
          </a:p>
          <a:p>
            <a:pPr>
              <a:buFontTx/>
              <a:buNone/>
              <a:defRPr/>
            </a:pPr>
            <a:endParaRPr lang="sk-SK" altLang="sk-SK" sz="775"/>
          </a:p>
          <a:p>
            <a:pPr>
              <a:buFontTx/>
              <a:buAutoNum type="arabicPeriod"/>
              <a:defRPr/>
            </a:pPr>
            <a:endParaRPr lang="sk-SK" altLang="sk-SK" sz="1992"/>
          </a:p>
          <a:p>
            <a:pPr>
              <a:buFontTx/>
              <a:buAutoNum type="arabicPeriod"/>
              <a:defRPr/>
            </a:pPr>
            <a:endParaRPr lang="sk-SK" altLang="sk-SK" sz="2435"/>
          </a:p>
          <a:p>
            <a:pPr>
              <a:defRPr/>
            </a:pPr>
            <a:r>
              <a:rPr lang="sk-SK" altLang="sk-SK" sz="2435">
                <a:solidFill>
                  <a:srgbClr val="FF0000"/>
                </a:solidFill>
              </a:rPr>
              <a:t>Predtým je však treba zistiť, či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NULL,</a:t>
            </a:r>
            <a:r>
              <a:rPr lang="sk-SK" altLang="sk-SK" sz="2435">
                <a:solidFill>
                  <a:srgbClr val="FF0000"/>
                </a:solidFill>
              </a:rPr>
              <a:t>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k-SK" altLang="sk-SK" sz="2435">
                <a:solidFill>
                  <a:srgbClr val="FF0000"/>
                </a:solidFill>
              </a:rPr>
              <a:t> 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en-US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dalsi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altLang="sk-SK" sz="2435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582" name="Rectangle 7">
            <a:extLst>
              <a:ext uri="{FF2B5EF4-FFF2-40B4-BE49-F238E27FC236}">
                <a16:creationId xmlns:a16="http://schemas.microsoft.com/office/drawing/2014/main" id="{33A7A529-733C-4845-9637-16A1A51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83" name="Text Box 9">
            <a:extLst>
              <a:ext uri="{FF2B5EF4-FFF2-40B4-BE49-F238E27FC236}">
                <a16:creationId xmlns:a16="http://schemas.microsoft.com/office/drawing/2014/main" id="{4F0BE919-EA97-449A-B3F7-15D292C92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778625"/>
            <a:ext cx="3286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1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4584" name="Rectangle 10">
            <a:extLst>
              <a:ext uri="{FF2B5EF4-FFF2-40B4-BE49-F238E27FC236}">
                <a16:creationId xmlns:a16="http://schemas.microsoft.com/office/drawing/2014/main" id="{D39E8FD3-424C-482C-BCBE-07E90A0F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85" name="Text Box 12">
            <a:extLst>
              <a:ext uri="{FF2B5EF4-FFF2-40B4-BE49-F238E27FC236}">
                <a16:creationId xmlns:a16="http://schemas.microsoft.com/office/drawing/2014/main" id="{B176D27F-975F-407A-BF98-B3CF56B7D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586" name="Rectangle 13">
            <a:extLst>
              <a:ext uri="{FF2B5EF4-FFF2-40B4-BE49-F238E27FC236}">
                <a16:creationId xmlns:a16="http://schemas.microsoft.com/office/drawing/2014/main" id="{2AD16901-5AD0-4027-8FAF-0B8E7170A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87" name="Text Box 15">
            <a:extLst>
              <a:ext uri="{FF2B5EF4-FFF2-40B4-BE49-F238E27FC236}">
                <a16:creationId xmlns:a16="http://schemas.microsoft.com/office/drawing/2014/main" id="{83533076-EAB4-42FF-BB73-C3A65AE3C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588" name="Rectangle 16">
            <a:extLst>
              <a:ext uri="{FF2B5EF4-FFF2-40B4-BE49-F238E27FC236}">
                <a16:creationId xmlns:a16="http://schemas.microsoft.com/office/drawing/2014/main" id="{D473FE76-8D52-4809-B5A4-F633179F6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89" name="Text Box 18">
            <a:extLst>
              <a:ext uri="{FF2B5EF4-FFF2-40B4-BE49-F238E27FC236}">
                <a16:creationId xmlns:a16="http://schemas.microsoft.com/office/drawing/2014/main" id="{FFB83BF4-1553-4ABC-9358-60D7A7983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590" name="Rectangle 19">
            <a:extLst>
              <a:ext uri="{FF2B5EF4-FFF2-40B4-BE49-F238E27FC236}">
                <a16:creationId xmlns:a16="http://schemas.microsoft.com/office/drawing/2014/main" id="{BC8621A2-AA9A-49E2-A92F-CD7A86289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91" name="Text Box 21">
            <a:extLst>
              <a:ext uri="{FF2B5EF4-FFF2-40B4-BE49-F238E27FC236}">
                <a16:creationId xmlns:a16="http://schemas.microsoft.com/office/drawing/2014/main" id="{28B0AE18-99AD-4527-A80F-7AF381236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6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4592" name="Rectangle 26">
            <a:extLst>
              <a:ext uri="{FF2B5EF4-FFF2-40B4-BE49-F238E27FC236}">
                <a16:creationId xmlns:a16="http://schemas.microsoft.com/office/drawing/2014/main" id="{26644090-F686-428A-99E2-1F0A82DC3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93" name="Text Box 28">
            <a:extLst>
              <a:ext uri="{FF2B5EF4-FFF2-40B4-BE49-F238E27FC236}">
                <a16:creationId xmlns:a16="http://schemas.microsoft.com/office/drawing/2014/main" id="{9F937DFE-A67C-4FF6-BE90-27243AF26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7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4594" name="Rectangle 29">
            <a:extLst>
              <a:ext uri="{FF2B5EF4-FFF2-40B4-BE49-F238E27FC236}">
                <a16:creationId xmlns:a16="http://schemas.microsoft.com/office/drawing/2014/main" id="{0E775A32-AD4E-49AE-9B47-5CFAE9000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595" name="Text Box 31">
            <a:extLst>
              <a:ext uri="{FF2B5EF4-FFF2-40B4-BE49-F238E27FC236}">
                <a16:creationId xmlns:a16="http://schemas.microsoft.com/office/drawing/2014/main" id="{C06222CB-20C7-4AB1-84CF-F1964CB8C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8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0B020D-86EE-471B-88A3-B9C2BA596B7B}"/>
              </a:ext>
            </a:extLst>
          </p:cNvPr>
          <p:cNvSpPr/>
          <p:nvPr/>
        </p:nvSpPr>
        <p:spPr bwMode="auto">
          <a:xfrm>
            <a:off x="1471613" y="72263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D10599-D6E0-496F-AB28-87A81A2C0920}"/>
              </a:ext>
            </a:extLst>
          </p:cNvPr>
          <p:cNvSpPr/>
          <p:nvPr/>
        </p:nvSpPr>
        <p:spPr bwMode="auto">
          <a:xfrm>
            <a:off x="2684463" y="7229475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262663-FBBE-4857-A5D3-30045B2B909D}"/>
              </a:ext>
            </a:extLst>
          </p:cNvPr>
          <p:cNvSpPr/>
          <p:nvPr/>
        </p:nvSpPr>
        <p:spPr bwMode="auto">
          <a:xfrm>
            <a:off x="3906838" y="72390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805FAB-AB74-4B0D-A2C0-51F27D4898FB}"/>
              </a:ext>
            </a:extLst>
          </p:cNvPr>
          <p:cNvSpPr/>
          <p:nvPr/>
        </p:nvSpPr>
        <p:spPr bwMode="auto">
          <a:xfrm>
            <a:off x="512445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4860CD-54F5-45A6-97AB-A057670ECED5}"/>
              </a:ext>
            </a:extLst>
          </p:cNvPr>
          <p:cNvSpPr/>
          <p:nvPr/>
        </p:nvSpPr>
        <p:spPr bwMode="auto">
          <a:xfrm>
            <a:off x="6340475" y="7239000"/>
            <a:ext cx="842963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48CFEF-9A60-4C75-B497-8F046843FECB}"/>
              </a:ext>
            </a:extLst>
          </p:cNvPr>
          <p:cNvSpPr/>
          <p:nvPr/>
        </p:nvSpPr>
        <p:spPr bwMode="auto">
          <a:xfrm>
            <a:off x="7558088" y="7229475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74CEEC-32AE-4E66-9ECB-BE65C5D20D46}"/>
              </a:ext>
            </a:extLst>
          </p:cNvPr>
          <p:cNvSpPr/>
          <p:nvPr/>
        </p:nvSpPr>
        <p:spPr bwMode="auto">
          <a:xfrm>
            <a:off x="877570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603" name="Line 22">
            <a:extLst>
              <a:ext uri="{FF2B5EF4-FFF2-40B4-BE49-F238E27FC236}">
                <a16:creationId xmlns:a16="http://schemas.microsoft.com/office/drawing/2014/main" id="{BA4A7F69-7CF1-40F7-85DC-DA8B3C2F8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337425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4" name="Line 23">
            <a:extLst>
              <a:ext uri="{FF2B5EF4-FFF2-40B4-BE49-F238E27FC236}">
                <a16:creationId xmlns:a16="http://schemas.microsoft.com/office/drawing/2014/main" id="{108D277C-86C9-4E77-919C-784DEA1EC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337425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5" name="Line 24">
            <a:extLst>
              <a:ext uri="{FF2B5EF4-FFF2-40B4-BE49-F238E27FC236}">
                <a16:creationId xmlns:a16="http://schemas.microsoft.com/office/drawing/2014/main" id="{508B75AC-B56C-4044-8802-DDCEDD38F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337425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6" name="Line 25">
            <a:extLst>
              <a:ext uri="{FF2B5EF4-FFF2-40B4-BE49-F238E27FC236}">
                <a16:creationId xmlns:a16="http://schemas.microsoft.com/office/drawing/2014/main" id="{60FD050C-7F60-4899-9D0A-0784179CE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7" name="Line 32">
            <a:extLst>
              <a:ext uri="{FF2B5EF4-FFF2-40B4-BE49-F238E27FC236}">
                <a16:creationId xmlns:a16="http://schemas.microsoft.com/office/drawing/2014/main" id="{D314E5D6-FB93-4510-9F42-A024C671B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8" name="Line 33">
            <a:extLst>
              <a:ext uri="{FF2B5EF4-FFF2-40B4-BE49-F238E27FC236}">
                <a16:creationId xmlns:a16="http://schemas.microsoft.com/office/drawing/2014/main" id="{6A5633E9-5B78-4745-9C74-FF3F604D0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09" name="Line 34">
            <a:extLst>
              <a:ext uri="{FF2B5EF4-FFF2-40B4-BE49-F238E27FC236}">
                <a16:creationId xmlns:a16="http://schemas.microsoft.com/office/drawing/2014/main" id="{6FA93115-7A82-4D25-9C24-F306C1411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7354888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10" name="Line 35">
            <a:extLst>
              <a:ext uri="{FF2B5EF4-FFF2-40B4-BE49-F238E27FC236}">
                <a16:creationId xmlns:a16="http://schemas.microsoft.com/office/drawing/2014/main" id="{7B188A76-9DAB-4B81-8AFD-B93B22ADC7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7245350"/>
            <a:ext cx="0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11" name="Line 36">
            <a:extLst>
              <a:ext uri="{FF2B5EF4-FFF2-40B4-BE49-F238E27FC236}">
                <a16:creationId xmlns:a16="http://schemas.microsoft.com/office/drawing/2014/main" id="{057F3A4F-EB03-414A-8AED-0AE21F69A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7245350"/>
            <a:ext cx="0" cy="214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35D02C-DBAC-415A-9CA7-CE5D2373557C}"/>
              </a:ext>
            </a:extLst>
          </p:cNvPr>
          <p:cNvSpPr/>
          <p:nvPr/>
        </p:nvSpPr>
        <p:spPr bwMode="auto">
          <a:xfrm>
            <a:off x="533400" y="5891213"/>
            <a:ext cx="84137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587476-472F-4A85-9378-5F3926ECDA71}"/>
              </a:ext>
            </a:extLst>
          </p:cNvPr>
          <p:cNvSpPr/>
          <p:nvPr/>
        </p:nvSpPr>
        <p:spPr bwMode="auto">
          <a:xfrm>
            <a:off x="1614488" y="5865813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7622" name="Elbow Connector 3">
            <a:extLst>
              <a:ext uri="{FF2B5EF4-FFF2-40B4-BE49-F238E27FC236}">
                <a16:creationId xmlns:a16="http://schemas.microsoft.com/office/drawing/2014/main" id="{BAFB4713-5A48-45F0-97A3-979CCE25CD96}"/>
              </a:ext>
            </a:extLst>
          </p:cNvPr>
          <p:cNvCxnSpPr>
            <a:cxnSpLocks noChangeShapeType="1"/>
            <a:stCxn id="54" idx="2"/>
            <a:endCxn id="24582" idx="1"/>
          </p:cNvCxnSpPr>
          <p:nvPr/>
        </p:nvCxnSpPr>
        <p:spPr bwMode="auto">
          <a:xfrm rot="16200000" flipH="1">
            <a:off x="771526" y="6445250"/>
            <a:ext cx="882650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623" name="Elbow Connector 5">
            <a:extLst>
              <a:ext uri="{FF2B5EF4-FFF2-40B4-BE49-F238E27FC236}">
                <a16:creationId xmlns:a16="http://schemas.microsoft.com/office/drawing/2014/main" id="{C1161DE0-83FF-4A82-B32F-DFD45779694A}"/>
              </a:ext>
            </a:extLst>
          </p:cNvPr>
          <p:cNvCxnSpPr>
            <a:cxnSpLocks noChangeShapeType="1"/>
            <a:stCxn id="55" idx="3"/>
            <a:endCxn id="24589" idx="0"/>
          </p:cNvCxnSpPr>
          <p:nvPr/>
        </p:nvCxnSpPr>
        <p:spPr bwMode="auto">
          <a:xfrm>
            <a:off x="2457450" y="6053138"/>
            <a:ext cx="3079750" cy="725487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16" name="Rectangle 1027">
            <a:extLst>
              <a:ext uri="{FF2B5EF4-FFF2-40B4-BE49-F238E27FC236}">
                <a16:creationId xmlns:a16="http://schemas.microsoft.com/office/drawing/2014/main" id="{70F546E9-E402-4EC8-8BB8-CEB092552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4194175"/>
            <a:ext cx="8764587" cy="15144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4617" name="Text Box 1028">
            <a:extLst>
              <a:ext uri="{FF2B5EF4-FFF2-40B4-BE49-F238E27FC236}">
                <a16:creationId xmlns:a16="http://schemas.microsoft.com/office/drawing/2014/main" id="{B28CC3EF-AE52-4ECD-983C-156CB3251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194175"/>
            <a:ext cx="8926512" cy="145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f(vloz </a:t>
            </a:r>
            <a:r>
              <a:rPr lang="en-US" altLang="sk-SK" sz="2213">
                <a:latin typeface="Courier New" panose="02070309020205020404" pitchFamily="49" charset="0"/>
              </a:rPr>
              <a:t>!= NULL)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</a:t>
            </a:r>
            <a:r>
              <a:rPr lang="sk-SK" altLang="sk-SK" sz="2213">
                <a:latin typeface="Courier New" panose="02070309020205020404" pitchFamily="49" charset="0"/>
              </a:rPr>
              <a:t>f (akt</a:t>
            </a:r>
            <a:r>
              <a:rPr lang="en-US" altLang="sk-SK" sz="2213">
                <a:latin typeface="Courier New" panose="02070309020205020404" pitchFamily="49" charset="0"/>
              </a:rPr>
              <a:t> != NULL &amp;&amp;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akt-&gt;dalsi != NULL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894D8AF-D9FC-4DDE-92BB-56A3F9DFC511}"/>
              </a:ext>
            </a:extLst>
          </p:cNvPr>
          <p:cNvSpPr/>
          <p:nvPr/>
        </p:nvSpPr>
        <p:spPr bwMode="auto">
          <a:xfrm>
            <a:off x="6111875" y="5910263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sp>
        <p:nvSpPr>
          <p:cNvPr id="24619" name="Line 34">
            <a:extLst>
              <a:ext uri="{FF2B5EF4-FFF2-40B4-BE49-F238E27FC236}">
                <a16:creationId xmlns:a16="http://schemas.microsoft.com/office/drawing/2014/main" id="{631D176E-14AF-4EC4-9FAA-321292C5E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7675" y="6102350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20" name="Line 35">
            <a:extLst>
              <a:ext uri="{FF2B5EF4-FFF2-40B4-BE49-F238E27FC236}">
                <a16:creationId xmlns:a16="http://schemas.microsoft.com/office/drawing/2014/main" id="{43CA4339-3803-4B6D-94C1-B203CF8521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85038" y="6003925"/>
            <a:ext cx="0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4621" name="Line 36">
            <a:extLst>
              <a:ext uri="{FF2B5EF4-FFF2-40B4-BE49-F238E27FC236}">
                <a16:creationId xmlns:a16="http://schemas.microsoft.com/office/drawing/2014/main" id="{37A95702-2580-4BF8-B3A6-8EA01C19C6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3438" y="6003925"/>
            <a:ext cx="0" cy="214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>
            <a:extLst>
              <a:ext uri="{FF2B5EF4-FFF2-40B4-BE49-F238E27FC236}">
                <a16:creationId xmlns:a16="http://schemas.microsoft.com/office/drawing/2014/main" id="{77AA4335-507F-4AB7-923D-95C6D2BD3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kontrola hodnoty dalšieho prvku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BFDC4C6B-F146-4039-B63C-C03EA1D82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2373313"/>
            <a:ext cx="8764587" cy="784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04" name="Text Box 1028">
            <a:extLst>
              <a:ext uri="{FF2B5EF4-FFF2-40B4-BE49-F238E27FC236}">
                <a16:creationId xmlns:a16="http://schemas.microsoft.com/office/drawing/2014/main" id="{9539BA0B-9E6A-422A-853C-37CF0BA27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373313"/>
            <a:ext cx="720248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DD25BD00-F62B-425D-823B-2D537FADA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484313"/>
            <a:ext cx="915828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435"/>
              <a:t>Ak treba vložiť prvok</a:t>
            </a:r>
            <a:r>
              <a:rPr lang="en-US" altLang="sk-SK" sz="2435"/>
              <a:t>, na ktor</a:t>
            </a:r>
            <a:r>
              <a:rPr lang="sk-SK" altLang="sk-SK" sz="2435"/>
              <a:t>ý ukazuje </a:t>
            </a:r>
            <a:r>
              <a:rPr lang="sk-SK" altLang="sk-SK" sz="2435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/>
              <a:t> do usporiadaného zoznamu, môžem sa potrebovať opýtať:</a:t>
            </a:r>
          </a:p>
          <a:p>
            <a:pPr>
              <a:buFontTx/>
              <a:buNone/>
              <a:defRPr/>
            </a:pPr>
            <a:endParaRPr lang="sk-SK" altLang="sk-SK" sz="775"/>
          </a:p>
          <a:p>
            <a:pPr>
              <a:buFontTx/>
              <a:buAutoNum type="arabicPeriod"/>
              <a:defRPr/>
            </a:pPr>
            <a:endParaRPr lang="sk-SK" altLang="sk-SK" sz="1992"/>
          </a:p>
          <a:p>
            <a:pPr>
              <a:buFontTx/>
              <a:buAutoNum type="arabicPeriod"/>
              <a:defRPr/>
            </a:pPr>
            <a:endParaRPr lang="sk-SK" altLang="sk-SK" sz="2435"/>
          </a:p>
          <a:p>
            <a:pPr>
              <a:defRPr/>
            </a:pPr>
            <a:r>
              <a:rPr lang="sk-SK" altLang="sk-SK" sz="2435">
                <a:solidFill>
                  <a:srgbClr val="FF0000"/>
                </a:solidFill>
              </a:rPr>
              <a:t>Predtým je však treba zistiť, či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NULL,</a:t>
            </a:r>
            <a:r>
              <a:rPr lang="sk-SK" altLang="sk-SK" sz="2435">
                <a:solidFill>
                  <a:srgbClr val="FF0000"/>
                </a:solidFill>
              </a:rPr>
              <a:t>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k-SK" altLang="sk-SK" sz="2435">
                <a:solidFill>
                  <a:srgbClr val="FF0000"/>
                </a:solidFill>
              </a:rPr>
              <a:t> 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en-US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dalsi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altLang="sk-SK" sz="2435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606" name="Rectangle 7">
            <a:extLst>
              <a:ext uri="{FF2B5EF4-FFF2-40B4-BE49-F238E27FC236}">
                <a16:creationId xmlns:a16="http://schemas.microsoft.com/office/drawing/2014/main" id="{377D463A-6DC3-455D-9771-EFDDB7845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07" name="Text Box 9">
            <a:extLst>
              <a:ext uri="{FF2B5EF4-FFF2-40B4-BE49-F238E27FC236}">
                <a16:creationId xmlns:a16="http://schemas.microsoft.com/office/drawing/2014/main" id="{3C010EFD-19A6-43FD-9D8F-693E6F87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778625"/>
            <a:ext cx="3286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1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5608" name="Rectangle 10">
            <a:extLst>
              <a:ext uri="{FF2B5EF4-FFF2-40B4-BE49-F238E27FC236}">
                <a16:creationId xmlns:a16="http://schemas.microsoft.com/office/drawing/2014/main" id="{2A486EAE-2C54-4FF2-AEE7-72AED6004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09" name="Text Box 12">
            <a:extLst>
              <a:ext uri="{FF2B5EF4-FFF2-40B4-BE49-F238E27FC236}">
                <a16:creationId xmlns:a16="http://schemas.microsoft.com/office/drawing/2014/main" id="{744EE54D-8697-4EB3-BA06-EB405DED0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10" name="Rectangle 13">
            <a:extLst>
              <a:ext uri="{FF2B5EF4-FFF2-40B4-BE49-F238E27FC236}">
                <a16:creationId xmlns:a16="http://schemas.microsoft.com/office/drawing/2014/main" id="{F4D9BFCC-40E0-456A-8B22-E6268135B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11" name="Text Box 15">
            <a:extLst>
              <a:ext uri="{FF2B5EF4-FFF2-40B4-BE49-F238E27FC236}">
                <a16:creationId xmlns:a16="http://schemas.microsoft.com/office/drawing/2014/main" id="{7BC64751-A9D2-44C6-AD44-CA9691D40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12" name="Rectangle 16">
            <a:extLst>
              <a:ext uri="{FF2B5EF4-FFF2-40B4-BE49-F238E27FC236}">
                <a16:creationId xmlns:a16="http://schemas.microsoft.com/office/drawing/2014/main" id="{B0F2F47F-6041-4FBE-BC5E-12F21683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13" name="Text Box 18">
            <a:extLst>
              <a:ext uri="{FF2B5EF4-FFF2-40B4-BE49-F238E27FC236}">
                <a16:creationId xmlns:a16="http://schemas.microsoft.com/office/drawing/2014/main" id="{45E166AA-1B55-48DF-A721-9AED46E3C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14" name="Rectangle 19">
            <a:extLst>
              <a:ext uri="{FF2B5EF4-FFF2-40B4-BE49-F238E27FC236}">
                <a16:creationId xmlns:a16="http://schemas.microsoft.com/office/drawing/2014/main" id="{5BD06A55-6915-4730-9BE3-6E6887B3B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15" name="Text Box 21">
            <a:extLst>
              <a:ext uri="{FF2B5EF4-FFF2-40B4-BE49-F238E27FC236}">
                <a16:creationId xmlns:a16="http://schemas.microsoft.com/office/drawing/2014/main" id="{37CD7F82-41FE-49F0-9EBA-2D2D719D8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6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5616" name="Rectangle 26">
            <a:extLst>
              <a:ext uri="{FF2B5EF4-FFF2-40B4-BE49-F238E27FC236}">
                <a16:creationId xmlns:a16="http://schemas.microsoft.com/office/drawing/2014/main" id="{65096FAD-52C9-4561-8EDC-566042961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17" name="Text Box 28">
            <a:extLst>
              <a:ext uri="{FF2B5EF4-FFF2-40B4-BE49-F238E27FC236}">
                <a16:creationId xmlns:a16="http://schemas.microsoft.com/office/drawing/2014/main" id="{2A5A1153-8973-49FA-B484-220FD0526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7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5618" name="Rectangle 29">
            <a:extLst>
              <a:ext uri="{FF2B5EF4-FFF2-40B4-BE49-F238E27FC236}">
                <a16:creationId xmlns:a16="http://schemas.microsoft.com/office/drawing/2014/main" id="{973E02B0-112E-47E5-A3F3-E5D5C13E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19" name="Text Box 31">
            <a:extLst>
              <a:ext uri="{FF2B5EF4-FFF2-40B4-BE49-F238E27FC236}">
                <a16:creationId xmlns:a16="http://schemas.microsoft.com/office/drawing/2014/main" id="{DF5EB46D-C47A-44AC-AEAE-51A51CDE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8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753295-2BCB-48B8-B569-A77B6FF5BEBE}"/>
              </a:ext>
            </a:extLst>
          </p:cNvPr>
          <p:cNvSpPr/>
          <p:nvPr/>
        </p:nvSpPr>
        <p:spPr bwMode="auto">
          <a:xfrm>
            <a:off x="1471613" y="72263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9915D7-289A-4CDD-AE01-28F0A1B582CA}"/>
              </a:ext>
            </a:extLst>
          </p:cNvPr>
          <p:cNvSpPr/>
          <p:nvPr/>
        </p:nvSpPr>
        <p:spPr bwMode="auto">
          <a:xfrm>
            <a:off x="2684463" y="7229475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130578C-EA6D-4188-B3F7-10AEE2ACF1ED}"/>
              </a:ext>
            </a:extLst>
          </p:cNvPr>
          <p:cNvSpPr/>
          <p:nvPr/>
        </p:nvSpPr>
        <p:spPr bwMode="auto">
          <a:xfrm>
            <a:off x="3906838" y="72390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ED3990-7957-4486-A8C2-43275B6E7B3A}"/>
              </a:ext>
            </a:extLst>
          </p:cNvPr>
          <p:cNvSpPr/>
          <p:nvPr/>
        </p:nvSpPr>
        <p:spPr bwMode="auto">
          <a:xfrm>
            <a:off x="512445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16D02-E78F-4095-8994-6EE56BDFF441}"/>
              </a:ext>
            </a:extLst>
          </p:cNvPr>
          <p:cNvSpPr/>
          <p:nvPr/>
        </p:nvSpPr>
        <p:spPr bwMode="auto">
          <a:xfrm>
            <a:off x="6340475" y="7239000"/>
            <a:ext cx="842963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D3765F-BCB3-49B2-B6CD-AAD244216BE2}"/>
              </a:ext>
            </a:extLst>
          </p:cNvPr>
          <p:cNvSpPr/>
          <p:nvPr/>
        </p:nvSpPr>
        <p:spPr bwMode="auto">
          <a:xfrm>
            <a:off x="7558088" y="7229475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16F2807-C984-452F-8CB8-2D162032AE6B}"/>
              </a:ext>
            </a:extLst>
          </p:cNvPr>
          <p:cNvSpPr/>
          <p:nvPr/>
        </p:nvSpPr>
        <p:spPr bwMode="auto">
          <a:xfrm>
            <a:off x="877570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627" name="Line 22">
            <a:extLst>
              <a:ext uri="{FF2B5EF4-FFF2-40B4-BE49-F238E27FC236}">
                <a16:creationId xmlns:a16="http://schemas.microsoft.com/office/drawing/2014/main" id="{F3F01757-3218-405B-B874-C422EF3F3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337425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28" name="Line 23">
            <a:extLst>
              <a:ext uri="{FF2B5EF4-FFF2-40B4-BE49-F238E27FC236}">
                <a16:creationId xmlns:a16="http://schemas.microsoft.com/office/drawing/2014/main" id="{40A27B01-7999-4FBD-9115-F41FF4EF6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337425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29" name="Line 24">
            <a:extLst>
              <a:ext uri="{FF2B5EF4-FFF2-40B4-BE49-F238E27FC236}">
                <a16:creationId xmlns:a16="http://schemas.microsoft.com/office/drawing/2014/main" id="{F7505231-A2F6-4AAA-AEC9-F72407CB2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337425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0" name="Line 25">
            <a:extLst>
              <a:ext uri="{FF2B5EF4-FFF2-40B4-BE49-F238E27FC236}">
                <a16:creationId xmlns:a16="http://schemas.microsoft.com/office/drawing/2014/main" id="{494D4F91-D4D8-4951-A665-B9838F7C3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1" name="Line 32">
            <a:extLst>
              <a:ext uri="{FF2B5EF4-FFF2-40B4-BE49-F238E27FC236}">
                <a16:creationId xmlns:a16="http://schemas.microsoft.com/office/drawing/2014/main" id="{26302430-1F23-486B-8624-D4A2F9F91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2" name="Line 33">
            <a:extLst>
              <a:ext uri="{FF2B5EF4-FFF2-40B4-BE49-F238E27FC236}">
                <a16:creationId xmlns:a16="http://schemas.microsoft.com/office/drawing/2014/main" id="{660DA015-A578-45C0-BD37-269D5C938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7337425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3" name="Line 34">
            <a:extLst>
              <a:ext uri="{FF2B5EF4-FFF2-40B4-BE49-F238E27FC236}">
                <a16:creationId xmlns:a16="http://schemas.microsoft.com/office/drawing/2014/main" id="{4E2E51B2-DC7B-43A0-9D51-559A20A53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7354888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4" name="Line 35">
            <a:extLst>
              <a:ext uri="{FF2B5EF4-FFF2-40B4-BE49-F238E27FC236}">
                <a16:creationId xmlns:a16="http://schemas.microsoft.com/office/drawing/2014/main" id="{513D4898-C948-4ED4-80D9-6B07DB111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7245350"/>
            <a:ext cx="0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35" name="Line 36">
            <a:extLst>
              <a:ext uri="{FF2B5EF4-FFF2-40B4-BE49-F238E27FC236}">
                <a16:creationId xmlns:a16="http://schemas.microsoft.com/office/drawing/2014/main" id="{E9641FB9-D553-44B0-A73B-424C55F127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7245350"/>
            <a:ext cx="0" cy="214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A8D6B-F062-4137-BDA7-081C17FD1DA5}"/>
              </a:ext>
            </a:extLst>
          </p:cNvPr>
          <p:cNvSpPr/>
          <p:nvPr/>
        </p:nvSpPr>
        <p:spPr bwMode="auto">
          <a:xfrm>
            <a:off x="533400" y="5891213"/>
            <a:ext cx="84137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F4AB459-82DA-488B-98D2-D932EB33CF0B}"/>
              </a:ext>
            </a:extLst>
          </p:cNvPr>
          <p:cNvSpPr/>
          <p:nvPr/>
        </p:nvSpPr>
        <p:spPr bwMode="auto">
          <a:xfrm>
            <a:off x="1614488" y="5865813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8646" name="Elbow Connector 3">
            <a:extLst>
              <a:ext uri="{FF2B5EF4-FFF2-40B4-BE49-F238E27FC236}">
                <a16:creationId xmlns:a16="http://schemas.microsoft.com/office/drawing/2014/main" id="{A1AC2EAB-1845-4E82-8706-9A2D6B078596}"/>
              </a:ext>
            </a:extLst>
          </p:cNvPr>
          <p:cNvCxnSpPr>
            <a:cxnSpLocks noChangeShapeType="1"/>
            <a:stCxn id="54" idx="2"/>
            <a:endCxn id="25606" idx="1"/>
          </p:cNvCxnSpPr>
          <p:nvPr/>
        </p:nvCxnSpPr>
        <p:spPr bwMode="auto">
          <a:xfrm rot="16200000" flipH="1">
            <a:off x="771526" y="6445250"/>
            <a:ext cx="882650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39" name="Rectangle 1027">
            <a:extLst>
              <a:ext uri="{FF2B5EF4-FFF2-40B4-BE49-F238E27FC236}">
                <a16:creationId xmlns:a16="http://schemas.microsoft.com/office/drawing/2014/main" id="{DB7865D3-9957-475D-9D51-D7234037E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4194175"/>
            <a:ext cx="8764587" cy="15144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40" name="Text Box 1028">
            <a:extLst>
              <a:ext uri="{FF2B5EF4-FFF2-40B4-BE49-F238E27FC236}">
                <a16:creationId xmlns:a16="http://schemas.microsoft.com/office/drawing/2014/main" id="{8CF16795-4C05-4768-AD04-046AF9F30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194175"/>
            <a:ext cx="8926512" cy="145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f(vloz </a:t>
            </a:r>
            <a:r>
              <a:rPr lang="en-US" altLang="sk-SK" sz="2213">
                <a:latin typeface="Courier New" panose="02070309020205020404" pitchFamily="49" charset="0"/>
              </a:rPr>
              <a:t>!= NULL)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</a:t>
            </a:r>
            <a:r>
              <a:rPr lang="sk-SK" altLang="sk-SK" sz="2213">
                <a:latin typeface="Courier New" panose="02070309020205020404" pitchFamily="49" charset="0"/>
              </a:rPr>
              <a:t>f (akt</a:t>
            </a:r>
            <a:r>
              <a:rPr lang="en-US" altLang="sk-SK" sz="2213">
                <a:latin typeface="Courier New" panose="02070309020205020404" pitchFamily="49" charset="0"/>
              </a:rPr>
              <a:t> != NULL &amp;&amp;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akt-&gt;dalsi != NULL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C6187F-63EC-479D-99B8-FC2079354364}"/>
              </a:ext>
            </a:extLst>
          </p:cNvPr>
          <p:cNvSpPr/>
          <p:nvPr/>
        </p:nvSpPr>
        <p:spPr bwMode="auto">
          <a:xfrm>
            <a:off x="6111875" y="5910263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cxnSp>
        <p:nvCxnSpPr>
          <p:cNvPr id="68650" name="Elbow Connector 73">
            <a:extLst>
              <a:ext uri="{FF2B5EF4-FFF2-40B4-BE49-F238E27FC236}">
                <a16:creationId xmlns:a16="http://schemas.microsoft.com/office/drawing/2014/main" id="{3DCCFA22-E36D-48FC-B1A3-B74F0E098749}"/>
              </a:ext>
            </a:extLst>
          </p:cNvPr>
          <p:cNvCxnSpPr>
            <a:cxnSpLocks noChangeShapeType="1"/>
            <a:stCxn id="73" idx="3"/>
          </p:cNvCxnSpPr>
          <p:nvPr/>
        </p:nvCxnSpPr>
        <p:spPr bwMode="auto">
          <a:xfrm>
            <a:off x="6953250" y="6096000"/>
            <a:ext cx="609600" cy="0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43" name="Rectangle 29">
            <a:extLst>
              <a:ext uri="{FF2B5EF4-FFF2-40B4-BE49-F238E27FC236}">
                <a16:creationId xmlns:a16="http://schemas.microsoft.com/office/drawing/2014/main" id="{CD066F87-A134-4D9E-80EB-870172FC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58912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5644" name="Text Box 31">
            <a:extLst>
              <a:ext uri="{FF2B5EF4-FFF2-40B4-BE49-F238E27FC236}">
                <a16:creationId xmlns:a16="http://schemas.microsoft.com/office/drawing/2014/main" id="{E7E26E3D-31E5-42FC-AD7D-590FA3BCC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900738"/>
            <a:ext cx="3270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5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829C65-75CC-462F-9074-64E422345C7E}"/>
              </a:ext>
            </a:extLst>
          </p:cNvPr>
          <p:cNvSpPr/>
          <p:nvPr/>
        </p:nvSpPr>
        <p:spPr bwMode="auto">
          <a:xfrm>
            <a:off x="7545388" y="6361113"/>
            <a:ext cx="842962" cy="30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646" name="Line 34">
            <a:extLst>
              <a:ext uri="{FF2B5EF4-FFF2-40B4-BE49-F238E27FC236}">
                <a16:creationId xmlns:a16="http://schemas.microsoft.com/office/drawing/2014/main" id="{3E46CFD7-D6EF-409A-92E6-01FC62406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9263" y="6477000"/>
            <a:ext cx="633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47" name="Line 35">
            <a:extLst>
              <a:ext uri="{FF2B5EF4-FFF2-40B4-BE49-F238E27FC236}">
                <a16:creationId xmlns:a16="http://schemas.microsoft.com/office/drawing/2014/main" id="{A2551C4C-34CC-4950-A4CD-6DBC24B5AB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8213" y="6376988"/>
            <a:ext cx="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48" name="Line 36">
            <a:extLst>
              <a:ext uri="{FF2B5EF4-FFF2-40B4-BE49-F238E27FC236}">
                <a16:creationId xmlns:a16="http://schemas.microsoft.com/office/drawing/2014/main" id="{4D7639CC-A7CB-42EE-8C3B-8A575A794C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6613" y="6378575"/>
            <a:ext cx="0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49" name="Line 34">
            <a:extLst>
              <a:ext uri="{FF2B5EF4-FFF2-40B4-BE49-F238E27FC236}">
                <a16:creationId xmlns:a16="http://schemas.microsoft.com/office/drawing/2014/main" id="{4D6A6AD1-3DAC-445B-ABD3-728B5BEA4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6070600"/>
            <a:ext cx="63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50" name="Line 35">
            <a:extLst>
              <a:ext uri="{FF2B5EF4-FFF2-40B4-BE49-F238E27FC236}">
                <a16:creationId xmlns:a16="http://schemas.microsoft.com/office/drawing/2014/main" id="{4C848D92-59EA-49C1-B7B3-E349CEF1C5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3363" y="5970588"/>
            <a:ext cx="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5651" name="Line 36">
            <a:extLst>
              <a:ext uri="{FF2B5EF4-FFF2-40B4-BE49-F238E27FC236}">
                <a16:creationId xmlns:a16="http://schemas.microsoft.com/office/drawing/2014/main" id="{CA7C777E-1C5B-4D90-8288-FD0302E6CE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3350" y="5972175"/>
            <a:ext cx="0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6">
            <a:extLst>
              <a:ext uri="{FF2B5EF4-FFF2-40B4-BE49-F238E27FC236}">
                <a16:creationId xmlns:a16="http://schemas.microsoft.com/office/drawing/2014/main" id="{CE31468A-2AC7-4D5A-92C2-B3C2BFD2F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kontrola hodnoty dalšieho prvku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28E9C452-CD56-4EE3-9BBB-2D135EFCA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2373313"/>
            <a:ext cx="8764587" cy="784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28" name="Text Box 1028">
            <a:extLst>
              <a:ext uri="{FF2B5EF4-FFF2-40B4-BE49-F238E27FC236}">
                <a16:creationId xmlns:a16="http://schemas.microsoft.com/office/drawing/2014/main" id="{7713B22B-B92D-4141-A609-A8853A69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373313"/>
            <a:ext cx="720248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 (akt-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2F2B2478-7642-4AE4-9E5E-B07258694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484313"/>
            <a:ext cx="916463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435"/>
              <a:t>Ak treba vložiť prvok</a:t>
            </a:r>
            <a:r>
              <a:rPr lang="en-US" altLang="sk-SK" sz="2435"/>
              <a:t>, na ktor</a:t>
            </a:r>
            <a:r>
              <a:rPr lang="sk-SK" altLang="sk-SK" sz="2435"/>
              <a:t>ý ukazuje </a:t>
            </a:r>
            <a:r>
              <a:rPr lang="sk-SK" altLang="sk-SK" sz="2435"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/>
              <a:t> do usporiadaného zoznamu, môžem sa potrebovať opýtať:</a:t>
            </a:r>
          </a:p>
          <a:p>
            <a:pPr>
              <a:buFontTx/>
              <a:buNone/>
              <a:defRPr/>
            </a:pPr>
            <a:endParaRPr lang="sk-SK" altLang="sk-SK" sz="775"/>
          </a:p>
          <a:p>
            <a:pPr>
              <a:buFontTx/>
              <a:buAutoNum type="arabicPeriod"/>
              <a:defRPr/>
            </a:pPr>
            <a:endParaRPr lang="sk-SK" altLang="sk-SK" sz="1992"/>
          </a:p>
          <a:p>
            <a:pPr>
              <a:buFontTx/>
              <a:buAutoNum type="arabicPeriod"/>
              <a:defRPr/>
            </a:pPr>
            <a:endParaRPr lang="sk-SK" altLang="sk-SK" sz="2435"/>
          </a:p>
          <a:p>
            <a:pPr>
              <a:defRPr/>
            </a:pPr>
            <a:r>
              <a:rPr lang="sk-SK" altLang="sk-SK" sz="2435">
                <a:solidFill>
                  <a:srgbClr val="FF0000"/>
                </a:solidFill>
              </a:rPr>
              <a:t>Predtým je však treba zistiť, či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vloz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NULL,</a:t>
            </a:r>
            <a:r>
              <a:rPr lang="sk-SK" altLang="sk-SK" sz="2435">
                <a:solidFill>
                  <a:srgbClr val="FF0000"/>
                </a:solidFill>
              </a:rPr>
              <a:t>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sk-SK" altLang="sk-SK" sz="2435">
                <a:solidFill>
                  <a:srgbClr val="FF0000"/>
                </a:solidFill>
              </a:rPr>
              <a:t> 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akt</a:t>
            </a:r>
            <a:r>
              <a:rPr lang="en-US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dalsi</a:t>
            </a:r>
            <a:r>
              <a:rPr lang="sk-SK" altLang="sk-SK" sz="2435">
                <a:solidFill>
                  <a:srgbClr val="FF0000"/>
                </a:solidFill>
              </a:rPr>
              <a:t> neukazuje na </a:t>
            </a:r>
            <a:r>
              <a:rPr lang="sk-SK" altLang="sk-SK" sz="2435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altLang="sk-SK" sz="2435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630" name="Rectangle 7">
            <a:extLst>
              <a:ext uri="{FF2B5EF4-FFF2-40B4-BE49-F238E27FC236}">
                <a16:creationId xmlns:a16="http://schemas.microsoft.com/office/drawing/2014/main" id="{C5DA197B-D3CA-49B1-A1EA-D03D41C78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31" name="Text Box 9">
            <a:extLst>
              <a:ext uri="{FF2B5EF4-FFF2-40B4-BE49-F238E27FC236}">
                <a16:creationId xmlns:a16="http://schemas.microsoft.com/office/drawing/2014/main" id="{3B503465-821F-462F-A2D8-D72BBDF49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6778625"/>
            <a:ext cx="3286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1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26632" name="Rectangle 10">
            <a:extLst>
              <a:ext uri="{FF2B5EF4-FFF2-40B4-BE49-F238E27FC236}">
                <a16:creationId xmlns:a16="http://schemas.microsoft.com/office/drawing/2014/main" id="{245B3FCC-1333-4560-8ED3-7749948E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6767513"/>
            <a:ext cx="842963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33" name="Text Box 12">
            <a:extLst>
              <a:ext uri="{FF2B5EF4-FFF2-40B4-BE49-F238E27FC236}">
                <a16:creationId xmlns:a16="http://schemas.microsoft.com/office/drawing/2014/main" id="{C1EE9D88-D163-45B7-AA59-7C543D7B3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34" name="Rectangle 13">
            <a:extLst>
              <a:ext uri="{FF2B5EF4-FFF2-40B4-BE49-F238E27FC236}">
                <a16:creationId xmlns:a16="http://schemas.microsoft.com/office/drawing/2014/main" id="{5FD3728D-AAD9-4CDC-8BD6-65E8B5A93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67675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35" name="Text Box 15">
            <a:extLst>
              <a:ext uri="{FF2B5EF4-FFF2-40B4-BE49-F238E27FC236}">
                <a16:creationId xmlns:a16="http://schemas.microsoft.com/office/drawing/2014/main" id="{1D2B98B8-2509-4860-88A2-2EDFBCD92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36" name="Rectangle 16">
            <a:extLst>
              <a:ext uri="{FF2B5EF4-FFF2-40B4-BE49-F238E27FC236}">
                <a16:creationId xmlns:a16="http://schemas.microsoft.com/office/drawing/2014/main" id="{C778C4D9-1127-492E-8DDD-DE380B058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6767513"/>
            <a:ext cx="841375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37" name="Text Box 18">
            <a:extLst>
              <a:ext uri="{FF2B5EF4-FFF2-40B4-BE49-F238E27FC236}">
                <a16:creationId xmlns:a16="http://schemas.microsoft.com/office/drawing/2014/main" id="{75D7B38D-2B86-4B1F-B39C-3084563C6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6778625"/>
            <a:ext cx="3270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19368-89F8-4F16-9A1A-E755BAD57DA5}"/>
              </a:ext>
            </a:extLst>
          </p:cNvPr>
          <p:cNvSpPr/>
          <p:nvPr/>
        </p:nvSpPr>
        <p:spPr bwMode="auto">
          <a:xfrm>
            <a:off x="1471613" y="72263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45D5FD-36FD-4A3C-9559-ACD3A2D2CCE3}"/>
              </a:ext>
            </a:extLst>
          </p:cNvPr>
          <p:cNvSpPr/>
          <p:nvPr/>
        </p:nvSpPr>
        <p:spPr bwMode="auto">
          <a:xfrm>
            <a:off x="2684463" y="7229475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BFE954-D010-4764-B420-325D708AC96D}"/>
              </a:ext>
            </a:extLst>
          </p:cNvPr>
          <p:cNvSpPr/>
          <p:nvPr/>
        </p:nvSpPr>
        <p:spPr bwMode="auto">
          <a:xfrm>
            <a:off x="3906838" y="7239000"/>
            <a:ext cx="842962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B07DFE-282F-45F2-868D-C706150C1D90}"/>
              </a:ext>
            </a:extLst>
          </p:cNvPr>
          <p:cNvSpPr/>
          <p:nvPr/>
        </p:nvSpPr>
        <p:spPr bwMode="auto">
          <a:xfrm>
            <a:off x="5124450" y="7239000"/>
            <a:ext cx="841375" cy="3016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6642" name="Line 22">
            <a:extLst>
              <a:ext uri="{FF2B5EF4-FFF2-40B4-BE49-F238E27FC236}">
                <a16:creationId xmlns:a16="http://schemas.microsoft.com/office/drawing/2014/main" id="{1F2D75D5-9B3D-4BF2-8500-AEB002534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7337425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43" name="Line 23">
            <a:extLst>
              <a:ext uri="{FF2B5EF4-FFF2-40B4-BE49-F238E27FC236}">
                <a16:creationId xmlns:a16="http://schemas.microsoft.com/office/drawing/2014/main" id="{685C0FF8-3720-493D-9A5E-29A9AD946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7337425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44" name="Line 24">
            <a:extLst>
              <a:ext uri="{FF2B5EF4-FFF2-40B4-BE49-F238E27FC236}">
                <a16:creationId xmlns:a16="http://schemas.microsoft.com/office/drawing/2014/main" id="{8B063DE5-4234-4014-B87E-A390232A3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7337425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45" name="Line 34">
            <a:extLst>
              <a:ext uri="{FF2B5EF4-FFF2-40B4-BE49-F238E27FC236}">
                <a16:creationId xmlns:a16="http://schemas.microsoft.com/office/drawing/2014/main" id="{7E9171A6-940F-497B-B1FB-B05202C7B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9763" y="7380288"/>
            <a:ext cx="63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46" name="Line 35">
            <a:extLst>
              <a:ext uri="{FF2B5EF4-FFF2-40B4-BE49-F238E27FC236}">
                <a16:creationId xmlns:a16="http://schemas.microsoft.com/office/drawing/2014/main" id="{6E3DA333-BDB7-47C5-8928-0CE94CF97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8713" y="7270750"/>
            <a:ext cx="0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47" name="Line 36">
            <a:extLst>
              <a:ext uri="{FF2B5EF4-FFF2-40B4-BE49-F238E27FC236}">
                <a16:creationId xmlns:a16="http://schemas.microsoft.com/office/drawing/2014/main" id="{7341F93D-B651-4A34-9F66-A595009BB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7113" y="7272338"/>
            <a:ext cx="0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C6773B-169F-42D7-A12D-41C3010ACCD3}"/>
              </a:ext>
            </a:extLst>
          </p:cNvPr>
          <p:cNvSpPr/>
          <p:nvPr/>
        </p:nvSpPr>
        <p:spPr bwMode="auto">
          <a:xfrm>
            <a:off x="533400" y="5891213"/>
            <a:ext cx="841375" cy="3714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850CAA-314A-4512-8F8A-4A68BBB4D1E2}"/>
              </a:ext>
            </a:extLst>
          </p:cNvPr>
          <p:cNvSpPr/>
          <p:nvPr/>
        </p:nvSpPr>
        <p:spPr bwMode="auto">
          <a:xfrm>
            <a:off x="1614488" y="5865813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69658" name="Elbow Connector 3">
            <a:extLst>
              <a:ext uri="{FF2B5EF4-FFF2-40B4-BE49-F238E27FC236}">
                <a16:creationId xmlns:a16="http://schemas.microsoft.com/office/drawing/2014/main" id="{398D7E0B-BD44-4000-8E0E-66CC7692A4F1}"/>
              </a:ext>
            </a:extLst>
          </p:cNvPr>
          <p:cNvCxnSpPr>
            <a:cxnSpLocks noChangeShapeType="1"/>
            <a:stCxn id="54" idx="2"/>
            <a:endCxn id="26630" idx="1"/>
          </p:cNvCxnSpPr>
          <p:nvPr/>
        </p:nvCxnSpPr>
        <p:spPr bwMode="auto">
          <a:xfrm rot="16200000" flipH="1">
            <a:off x="771526" y="6445250"/>
            <a:ext cx="882650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659" name="Elbow Connector 5">
            <a:extLst>
              <a:ext uri="{FF2B5EF4-FFF2-40B4-BE49-F238E27FC236}">
                <a16:creationId xmlns:a16="http://schemas.microsoft.com/office/drawing/2014/main" id="{4DEC6306-ADCF-4CBB-ACDF-0A7D6027EE6C}"/>
              </a:ext>
            </a:extLst>
          </p:cNvPr>
          <p:cNvCxnSpPr>
            <a:cxnSpLocks noChangeShapeType="1"/>
            <a:stCxn id="55" idx="3"/>
            <a:endCxn id="26637" idx="0"/>
          </p:cNvCxnSpPr>
          <p:nvPr/>
        </p:nvCxnSpPr>
        <p:spPr bwMode="auto">
          <a:xfrm>
            <a:off x="2457450" y="6053138"/>
            <a:ext cx="3079750" cy="725487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52" name="Rectangle 1027">
            <a:extLst>
              <a:ext uri="{FF2B5EF4-FFF2-40B4-BE49-F238E27FC236}">
                <a16:creationId xmlns:a16="http://schemas.microsoft.com/office/drawing/2014/main" id="{9B6914F4-2E0C-4E41-A288-216B2028C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88" y="4194175"/>
            <a:ext cx="8764587" cy="15144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53" name="Text Box 1028">
            <a:extLst>
              <a:ext uri="{FF2B5EF4-FFF2-40B4-BE49-F238E27FC236}">
                <a16:creationId xmlns:a16="http://schemas.microsoft.com/office/drawing/2014/main" id="{27486ECF-3EB4-40C1-825C-70F2021EE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194175"/>
            <a:ext cx="8926512" cy="145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i</a:t>
            </a:r>
            <a:r>
              <a:rPr lang="sk-SK" altLang="sk-SK" sz="2213">
                <a:latin typeface="Courier New" panose="02070309020205020404" pitchFamily="49" charset="0"/>
              </a:rPr>
              <a:t>f(vloz </a:t>
            </a:r>
            <a:r>
              <a:rPr lang="en-US" altLang="sk-SK" sz="2213">
                <a:latin typeface="Courier New" panose="02070309020205020404" pitchFamily="49" charset="0"/>
              </a:rPr>
              <a:t>!= NULL)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i</a:t>
            </a:r>
            <a:r>
              <a:rPr lang="sk-SK" altLang="sk-SK" sz="2213">
                <a:latin typeface="Courier New" panose="02070309020205020404" pitchFamily="49" charset="0"/>
              </a:rPr>
              <a:t>f (akt</a:t>
            </a:r>
            <a:r>
              <a:rPr lang="en-US" altLang="sk-SK" sz="2213">
                <a:latin typeface="Courier New" panose="02070309020205020404" pitchFamily="49" charset="0"/>
              </a:rPr>
              <a:t> != NULL &amp;&amp;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&lt; vloz-&gt;data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akt-&gt;dalsi != NULL &amp;&amp;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sk-SK" sz="2213">
                <a:latin typeface="Courier New" panose="02070309020205020404" pitchFamily="49" charset="0"/>
              </a:rPr>
              <a:t>   </a:t>
            </a:r>
            <a:r>
              <a:rPr lang="sk-SK" altLang="sk-SK" sz="2213">
                <a:latin typeface="Courier New" panose="02070309020205020404" pitchFamily="49" charset="0"/>
              </a:rPr>
              <a:t>akt-</a:t>
            </a:r>
            <a:r>
              <a:rPr lang="en-US" altLang="sk-SK" sz="2213">
                <a:latin typeface="Courier New" panose="02070309020205020404" pitchFamily="49" charset="0"/>
              </a:rPr>
              <a:t>&gt;dalsi-&gt;</a:t>
            </a:r>
            <a:r>
              <a:rPr lang="sk-SK" altLang="sk-SK" sz="2213">
                <a:latin typeface="Courier New" panose="02070309020205020404" pitchFamily="49" charset="0"/>
              </a:rPr>
              <a:t>hodnota </a:t>
            </a:r>
            <a:r>
              <a:rPr lang="en-US" altLang="sk-SK" sz="2213">
                <a:latin typeface="Courier New" panose="02070309020205020404" pitchFamily="49" charset="0"/>
              </a:rPr>
              <a:t>&gt; vloz-&gt;data ) …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595BEE-5EA1-47EE-84F1-430DA9296700}"/>
              </a:ext>
            </a:extLst>
          </p:cNvPr>
          <p:cNvSpPr/>
          <p:nvPr/>
        </p:nvSpPr>
        <p:spPr bwMode="auto">
          <a:xfrm>
            <a:off x="6111875" y="5910263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vloz</a:t>
            </a:r>
            <a:endParaRPr lang="en-US" sz="2656">
              <a:latin typeface="Arial" charset="0"/>
            </a:endParaRPr>
          </a:p>
        </p:txBody>
      </p:sp>
      <p:cxnSp>
        <p:nvCxnSpPr>
          <p:cNvPr id="69663" name="Elbow Connector 73">
            <a:extLst>
              <a:ext uri="{FF2B5EF4-FFF2-40B4-BE49-F238E27FC236}">
                <a16:creationId xmlns:a16="http://schemas.microsoft.com/office/drawing/2014/main" id="{DDBD2A60-B79B-412D-84B2-8A5CE13894AE}"/>
              </a:ext>
            </a:extLst>
          </p:cNvPr>
          <p:cNvCxnSpPr>
            <a:cxnSpLocks noChangeShapeType="1"/>
            <a:stCxn id="73" idx="3"/>
          </p:cNvCxnSpPr>
          <p:nvPr/>
        </p:nvCxnSpPr>
        <p:spPr bwMode="auto">
          <a:xfrm>
            <a:off x="6953250" y="6096000"/>
            <a:ext cx="609600" cy="0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56" name="Rectangle 29">
            <a:extLst>
              <a:ext uri="{FF2B5EF4-FFF2-40B4-BE49-F238E27FC236}">
                <a16:creationId xmlns:a16="http://schemas.microsoft.com/office/drawing/2014/main" id="{A9C7EC15-8742-4B1C-9F8B-5FB4D83BE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5388" y="5891213"/>
            <a:ext cx="842962" cy="755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6657" name="Text Box 31">
            <a:extLst>
              <a:ext uri="{FF2B5EF4-FFF2-40B4-BE49-F238E27FC236}">
                <a16:creationId xmlns:a16="http://schemas.microsoft.com/office/drawing/2014/main" id="{04A82AD6-2BFD-4D08-A41A-314E6F66E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25" y="5900738"/>
            <a:ext cx="3270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213">
                <a:latin typeface="Times New Roman" panose="02020603050405020304" pitchFamily="18" charset="0"/>
              </a:rPr>
              <a:t>5</a:t>
            </a:r>
            <a:endParaRPr lang="en-US" altLang="sk-SK" sz="2213">
              <a:latin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39E0E36-F310-4A94-989E-95FFC591E731}"/>
              </a:ext>
            </a:extLst>
          </p:cNvPr>
          <p:cNvSpPr/>
          <p:nvPr/>
        </p:nvSpPr>
        <p:spPr bwMode="auto">
          <a:xfrm>
            <a:off x="7545388" y="6361113"/>
            <a:ext cx="842962" cy="3032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6659" name="Line 34">
            <a:extLst>
              <a:ext uri="{FF2B5EF4-FFF2-40B4-BE49-F238E27FC236}">
                <a16:creationId xmlns:a16="http://schemas.microsoft.com/office/drawing/2014/main" id="{B82A0D6B-DF22-42D8-AC8A-C8F2B55A7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9263" y="6477000"/>
            <a:ext cx="633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60" name="Line 35">
            <a:extLst>
              <a:ext uri="{FF2B5EF4-FFF2-40B4-BE49-F238E27FC236}">
                <a16:creationId xmlns:a16="http://schemas.microsoft.com/office/drawing/2014/main" id="{6FC960B8-9ABB-4A05-B0C7-E49FEC9ED2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8213" y="6376988"/>
            <a:ext cx="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6661" name="Line 36">
            <a:extLst>
              <a:ext uri="{FF2B5EF4-FFF2-40B4-BE49-F238E27FC236}">
                <a16:creationId xmlns:a16="http://schemas.microsoft.com/office/drawing/2014/main" id="{3F4A63C3-C35B-4F40-A3E6-E109B04AA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6613" y="6378575"/>
            <a:ext cx="0" cy="212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DC7FAD0-EBD2-4F8B-99F2-813321288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začiatok (časti) zoznamu</a:t>
            </a:r>
            <a:endParaRPr lang="en-US" altLang="sk-SK"/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0296D5FE-AA9E-4D97-B6D6-D89394B7B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3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52" name="Text Box 9">
            <a:extLst>
              <a:ext uri="{FF2B5EF4-FFF2-40B4-BE49-F238E27FC236}">
                <a16:creationId xmlns:a16="http://schemas.microsoft.com/office/drawing/2014/main" id="{0D2D20DE-2458-421B-9E29-1BD925E68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1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7653" name="Rectangle 10">
            <a:extLst>
              <a:ext uri="{FF2B5EF4-FFF2-40B4-BE49-F238E27FC236}">
                <a16:creationId xmlns:a16="http://schemas.microsoft.com/office/drawing/2014/main" id="{55E4B9DA-4297-43CE-BEC9-A3600A2E0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54" name="Text Box 12">
            <a:extLst>
              <a:ext uri="{FF2B5EF4-FFF2-40B4-BE49-F238E27FC236}">
                <a16:creationId xmlns:a16="http://schemas.microsoft.com/office/drawing/2014/main" id="{88A2ECA9-A36C-4CE2-ADCF-E98BCC011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8463" y="5800725"/>
            <a:ext cx="341312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55" name="Rectangle 13">
            <a:extLst>
              <a:ext uri="{FF2B5EF4-FFF2-40B4-BE49-F238E27FC236}">
                <a16:creationId xmlns:a16="http://schemas.microsoft.com/office/drawing/2014/main" id="{6384DAC8-A5DA-4A31-9477-39DE012E3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56" name="Text Box 15">
            <a:extLst>
              <a:ext uri="{FF2B5EF4-FFF2-40B4-BE49-F238E27FC236}">
                <a16:creationId xmlns:a16="http://schemas.microsoft.com/office/drawing/2014/main" id="{88CC19D4-1E20-4789-9B87-1A1A82C2B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2435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57" name="Rectangle 16">
            <a:extLst>
              <a:ext uri="{FF2B5EF4-FFF2-40B4-BE49-F238E27FC236}">
                <a16:creationId xmlns:a16="http://schemas.microsoft.com/office/drawing/2014/main" id="{0A2C2EAF-E54B-466A-963E-F907073CD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58" name="Text Box 18">
            <a:extLst>
              <a:ext uri="{FF2B5EF4-FFF2-40B4-BE49-F238E27FC236}">
                <a16:creationId xmlns:a16="http://schemas.microsoft.com/office/drawing/2014/main" id="{36660F40-69DB-4673-9CD1-81A4F843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5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7659" name="Rectangle 19">
            <a:extLst>
              <a:ext uri="{FF2B5EF4-FFF2-40B4-BE49-F238E27FC236}">
                <a16:creationId xmlns:a16="http://schemas.microsoft.com/office/drawing/2014/main" id="{C1B90334-99F3-4EBC-BE36-95BEA81AD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475" y="5741988"/>
            <a:ext cx="842963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60" name="Text Box 21">
            <a:extLst>
              <a:ext uri="{FF2B5EF4-FFF2-40B4-BE49-F238E27FC236}">
                <a16:creationId xmlns:a16="http://schemas.microsoft.com/office/drawing/2014/main" id="{3CFD1F0F-769C-4CD6-A71B-BD039C295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6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7661" name="Rectangle 26">
            <a:extLst>
              <a:ext uri="{FF2B5EF4-FFF2-40B4-BE49-F238E27FC236}">
                <a16:creationId xmlns:a16="http://schemas.microsoft.com/office/drawing/2014/main" id="{9E5CF8E0-1D9C-4339-AF05-8214C09B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5741988"/>
            <a:ext cx="842962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62" name="Text Box 28">
            <a:extLst>
              <a:ext uri="{FF2B5EF4-FFF2-40B4-BE49-F238E27FC236}">
                <a16:creationId xmlns:a16="http://schemas.microsoft.com/office/drawing/2014/main" id="{6D5E32E3-077A-4F3F-B0D6-467A39ABE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325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4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27663" name="Rectangle 29">
            <a:extLst>
              <a:ext uri="{FF2B5EF4-FFF2-40B4-BE49-F238E27FC236}">
                <a16:creationId xmlns:a16="http://schemas.microsoft.com/office/drawing/2014/main" id="{39CC6170-29D2-44DD-B9EB-EB80CC2A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5741988"/>
            <a:ext cx="841375" cy="931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27664" name="Text Box 31">
            <a:extLst>
              <a:ext uri="{FF2B5EF4-FFF2-40B4-BE49-F238E27FC236}">
                <a16:creationId xmlns:a16="http://schemas.microsoft.com/office/drawing/2014/main" id="{08E22EA1-5797-425B-9089-90F14BB09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938" y="5800725"/>
            <a:ext cx="339725" cy="468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2435">
                <a:latin typeface="Times New Roman" panose="02020603050405020304" pitchFamily="18" charset="0"/>
              </a:rPr>
              <a:t>8</a:t>
            </a:r>
            <a:endParaRPr lang="en-US" altLang="sk-SK" sz="2435">
              <a:latin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AC4D28-66B8-42B8-8DF7-B477B224B4F1}"/>
              </a:ext>
            </a:extLst>
          </p:cNvPr>
          <p:cNvSpPr/>
          <p:nvPr/>
        </p:nvSpPr>
        <p:spPr bwMode="auto">
          <a:xfrm>
            <a:off x="1471613" y="6307138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BFBEA3-FFE0-4799-9213-F8AEF26137EA}"/>
              </a:ext>
            </a:extLst>
          </p:cNvPr>
          <p:cNvSpPr/>
          <p:nvPr/>
        </p:nvSpPr>
        <p:spPr bwMode="auto">
          <a:xfrm>
            <a:off x="2684463" y="6308725"/>
            <a:ext cx="842962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CBB11A-E7D3-4EE0-BBFD-4E56D53DEF8F}"/>
              </a:ext>
            </a:extLst>
          </p:cNvPr>
          <p:cNvSpPr/>
          <p:nvPr/>
        </p:nvSpPr>
        <p:spPr bwMode="auto">
          <a:xfrm>
            <a:off x="3906838" y="631825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8FBE67-5D05-4C56-A8B2-F8915FA644E2}"/>
              </a:ext>
            </a:extLst>
          </p:cNvPr>
          <p:cNvSpPr/>
          <p:nvPr/>
        </p:nvSpPr>
        <p:spPr bwMode="auto">
          <a:xfrm>
            <a:off x="512445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1B5A11-8C60-4773-B66D-39717ABF298F}"/>
              </a:ext>
            </a:extLst>
          </p:cNvPr>
          <p:cNvSpPr/>
          <p:nvPr/>
        </p:nvSpPr>
        <p:spPr bwMode="auto">
          <a:xfrm>
            <a:off x="6340475" y="6318250"/>
            <a:ext cx="842963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C6E6CB-CBA1-424B-842A-FEFDE5166885}"/>
              </a:ext>
            </a:extLst>
          </p:cNvPr>
          <p:cNvSpPr/>
          <p:nvPr/>
        </p:nvSpPr>
        <p:spPr bwMode="auto">
          <a:xfrm>
            <a:off x="7558088" y="6308725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522C51-BECF-45B2-ACD2-92B2F39AF29C}"/>
              </a:ext>
            </a:extLst>
          </p:cNvPr>
          <p:cNvSpPr/>
          <p:nvPr/>
        </p:nvSpPr>
        <p:spPr bwMode="auto">
          <a:xfrm>
            <a:off x="8775700" y="6318250"/>
            <a:ext cx="841375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2656">
              <a:latin typeface="Arial" charset="0"/>
            </a:endParaRPr>
          </a:p>
        </p:txBody>
      </p:sp>
      <p:sp>
        <p:nvSpPr>
          <p:cNvPr id="27672" name="Line 22">
            <a:extLst>
              <a:ext uri="{FF2B5EF4-FFF2-40B4-BE49-F238E27FC236}">
                <a16:creationId xmlns:a16="http://schemas.microsoft.com/office/drawing/2014/main" id="{264C0083-E152-4F9C-87BC-6D256C035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1513" y="6488113"/>
            <a:ext cx="7477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3" name="Line 23">
            <a:extLst>
              <a:ext uri="{FF2B5EF4-FFF2-40B4-BE49-F238E27FC236}">
                <a16:creationId xmlns:a16="http://schemas.microsoft.com/office/drawing/2014/main" id="{00AC88D5-D51E-4CED-9A5F-7B6280C2A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9125" y="6488113"/>
            <a:ext cx="747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B5314020-24EE-4E3E-9D01-D0B10DF07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6488113"/>
            <a:ext cx="750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5" name="Line 25">
            <a:extLst>
              <a:ext uri="{FF2B5EF4-FFF2-40B4-BE49-F238E27FC236}">
                <a16:creationId xmlns:a16="http://schemas.microsoft.com/office/drawing/2014/main" id="{98118478-589D-4667-8823-46839C665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6" name="Line 32">
            <a:extLst>
              <a:ext uri="{FF2B5EF4-FFF2-40B4-BE49-F238E27FC236}">
                <a16:creationId xmlns:a16="http://schemas.microsoft.com/office/drawing/2014/main" id="{079D1EA0-B120-494E-803B-953528DEB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788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7" name="Line 33">
            <a:extLst>
              <a:ext uri="{FF2B5EF4-FFF2-40B4-BE49-F238E27FC236}">
                <a16:creationId xmlns:a16="http://schemas.microsoft.com/office/drawing/2014/main" id="{204533BD-0D82-40EA-A8F9-5DCFD1073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6400" y="6488113"/>
            <a:ext cx="749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8" name="Line 34">
            <a:extLst>
              <a:ext uri="{FF2B5EF4-FFF2-40B4-BE49-F238E27FC236}">
                <a16:creationId xmlns:a16="http://schemas.microsoft.com/office/drawing/2014/main" id="{693C4EB0-7240-4E0C-B800-812CE2967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9575" y="6505575"/>
            <a:ext cx="633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79" name="Line 35">
            <a:extLst>
              <a:ext uri="{FF2B5EF4-FFF2-40B4-BE49-F238E27FC236}">
                <a16:creationId xmlns:a16="http://schemas.microsoft.com/office/drawing/2014/main" id="{38F602A6-E0D8-4872-BDEA-B6CE4ED9D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86938" y="6375400"/>
            <a:ext cx="0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27680" name="Line 36">
            <a:extLst>
              <a:ext uri="{FF2B5EF4-FFF2-40B4-BE49-F238E27FC236}">
                <a16:creationId xmlns:a16="http://schemas.microsoft.com/office/drawing/2014/main" id="{CD16CC55-5120-4BE7-9ADA-F35D38EBD1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86925" y="6375400"/>
            <a:ext cx="0" cy="261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sk-SK" sz="2656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CC19BD-A519-4CE5-B579-01F185D6F483}"/>
              </a:ext>
            </a:extLst>
          </p:cNvPr>
          <p:cNvSpPr/>
          <p:nvPr/>
        </p:nvSpPr>
        <p:spPr bwMode="auto">
          <a:xfrm>
            <a:off x="533400" y="5094288"/>
            <a:ext cx="841375" cy="3746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zac</a:t>
            </a:r>
            <a:endParaRPr lang="en-US" sz="2656">
              <a:latin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67035F-A6DA-4E67-B101-8CF07482BE38}"/>
              </a:ext>
            </a:extLst>
          </p:cNvPr>
          <p:cNvSpPr/>
          <p:nvPr/>
        </p:nvSpPr>
        <p:spPr bwMode="auto">
          <a:xfrm>
            <a:off x="1614488" y="5072063"/>
            <a:ext cx="842962" cy="3730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>
                <a:latin typeface="Arial" charset="0"/>
              </a:rPr>
              <a:t>akt</a:t>
            </a:r>
            <a:endParaRPr lang="en-US" sz="2656">
              <a:latin typeface="Arial" charset="0"/>
            </a:endParaRPr>
          </a:p>
        </p:txBody>
      </p:sp>
      <p:cxnSp>
        <p:nvCxnSpPr>
          <p:cNvPr id="70691" name="Elbow Connector 36">
            <a:extLst>
              <a:ext uri="{FF2B5EF4-FFF2-40B4-BE49-F238E27FC236}">
                <a16:creationId xmlns:a16="http://schemas.microsoft.com/office/drawing/2014/main" id="{54B04FD7-ED2E-4550-B2A5-91141F621FC8}"/>
              </a:ext>
            </a:extLst>
          </p:cNvPr>
          <p:cNvCxnSpPr>
            <a:cxnSpLocks noChangeShapeType="1"/>
            <a:stCxn id="35" idx="2"/>
            <a:endCxn id="27651" idx="1"/>
          </p:cNvCxnSpPr>
          <p:nvPr/>
        </p:nvCxnSpPr>
        <p:spPr bwMode="auto">
          <a:xfrm rot="16200000" flipH="1">
            <a:off x="842963" y="5580063"/>
            <a:ext cx="739775" cy="517525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692" name="Elbow Connector 37">
            <a:extLst>
              <a:ext uri="{FF2B5EF4-FFF2-40B4-BE49-F238E27FC236}">
                <a16:creationId xmlns:a16="http://schemas.microsoft.com/office/drawing/2014/main" id="{EFD22316-BB45-49E8-A63B-7D7C14AC5A2A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auto">
          <a:xfrm>
            <a:off x="2457450" y="5257800"/>
            <a:ext cx="1698625" cy="484188"/>
          </a:xfrm>
          <a:prstGeom prst="bentConnector3">
            <a:avLst>
              <a:gd name="adj1" fmla="val 100014"/>
            </a:avLst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17CE240-1384-4B9D-A0F8-DE8781B017DC}"/>
              </a:ext>
            </a:extLst>
          </p:cNvPr>
          <p:cNvSpPr/>
          <p:nvPr/>
        </p:nvSpPr>
        <p:spPr bwMode="auto">
          <a:xfrm>
            <a:off x="4278313" y="5041900"/>
            <a:ext cx="842962" cy="3730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sk-SK" sz="2656" err="1">
                <a:latin typeface="Arial" charset="0"/>
              </a:rPr>
              <a:t>pom</a:t>
            </a:r>
            <a:endParaRPr lang="en-US" sz="2656">
              <a:latin typeface="Arial" charset="0"/>
            </a:endParaRPr>
          </a:p>
        </p:txBody>
      </p:sp>
      <p:cxnSp>
        <p:nvCxnSpPr>
          <p:cNvPr id="18470" name="Elbow Connector 47">
            <a:extLst>
              <a:ext uri="{FF2B5EF4-FFF2-40B4-BE49-F238E27FC236}">
                <a16:creationId xmlns:a16="http://schemas.microsoft.com/office/drawing/2014/main" id="{FD0BC2CB-4CD2-47B6-9F00-1530A59E2C64}"/>
              </a:ext>
            </a:extLst>
          </p:cNvPr>
          <p:cNvCxnSpPr>
            <a:cxnSpLocks noChangeShapeType="1"/>
            <a:stCxn id="47" idx="3"/>
          </p:cNvCxnSpPr>
          <p:nvPr/>
        </p:nvCxnSpPr>
        <p:spPr bwMode="auto">
          <a:xfrm>
            <a:off x="5121275" y="5229225"/>
            <a:ext cx="461963" cy="496888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71" name="Rectangle 3">
            <a:extLst>
              <a:ext uri="{FF2B5EF4-FFF2-40B4-BE49-F238E27FC236}">
                <a16:creationId xmlns:a16="http://schemas.microsoft.com/office/drawing/2014/main" id="{12AD7AC8-8DA0-470B-ADC8-E1818866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801813"/>
            <a:ext cx="9721850" cy="247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656"/>
              <a:t>Vždy je potrebné pamätať si počas celej práce so zoznamom jeho začiatok (</a:t>
            </a:r>
            <a:r>
              <a:rPr lang="sk-SK" altLang="sk-SK" sz="2656">
                <a:latin typeface="Courier New" panose="02070309020205020404" pitchFamily="49" charset="0"/>
                <a:cs typeface="Courier New" panose="02070309020205020404" pitchFamily="49" charset="0"/>
              </a:rPr>
              <a:t>zac</a:t>
            </a:r>
            <a:r>
              <a:rPr lang="sk-SK" altLang="sk-SK" sz="2656"/>
              <a:t>)</a:t>
            </a:r>
          </a:p>
          <a:p>
            <a:pPr>
              <a:defRPr/>
            </a:pPr>
            <a:r>
              <a:rPr lang="sk-SK" altLang="sk-SK" sz="2656"/>
              <a:t>Pri rozdelení zoznamu, pokým sa nespojí je potrebné si pamätať začiatok časti zoznamu (</a:t>
            </a:r>
            <a:r>
              <a:rPr lang="sk-SK" altLang="sk-SK" sz="2656">
                <a:latin typeface="Courier New" panose="02070309020205020404" pitchFamily="49" charset="0"/>
                <a:cs typeface="Courier New" panose="02070309020205020404" pitchFamily="49" charset="0"/>
              </a:rPr>
              <a:t>pom</a:t>
            </a:r>
            <a:r>
              <a:rPr lang="sk-SK" altLang="sk-SK" sz="2656"/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1CAB3E-81E2-495C-89EC-86800C446799}"/>
              </a:ext>
            </a:extLst>
          </p:cNvPr>
          <p:cNvGrpSpPr>
            <a:grpSpLocks/>
          </p:cNvGrpSpPr>
          <p:nvPr/>
        </p:nvGrpSpPr>
        <p:grpSpPr bwMode="auto">
          <a:xfrm>
            <a:off x="331788" y="4330700"/>
            <a:ext cx="2701925" cy="1220788"/>
            <a:chOff x="285840" y="3913226"/>
            <a:chExt cx="2442006" cy="1102916"/>
          </a:xfrm>
        </p:grpSpPr>
        <p:sp>
          <p:nvSpPr>
            <p:cNvPr id="27700" name="Rounded Rectangle 43">
              <a:extLst>
                <a:ext uri="{FF2B5EF4-FFF2-40B4-BE49-F238E27FC236}">
                  <a16:creationId xmlns:a16="http://schemas.microsoft.com/office/drawing/2014/main" id="{B228D0EF-6333-4813-8CEE-286EE18E6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40" y="4529941"/>
              <a:ext cx="1041655" cy="486201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27701" name="Rounded Rectangular Callout 39">
              <a:extLst>
                <a:ext uri="{FF2B5EF4-FFF2-40B4-BE49-F238E27FC236}">
                  <a16:creationId xmlns:a16="http://schemas.microsoft.com/office/drawing/2014/main" id="{D6B21C6F-C65E-4769-B50C-A9B25AED4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58" y="3913226"/>
              <a:ext cx="2061788" cy="359990"/>
            </a:xfrm>
            <a:prstGeom prst="wedgeRoundRectCallout">
              <a:avLst>
                <a:gd name="adj1" fmla="val -41176"/>
                <a:gd name="adj2" fmla="val 120750"/>
                <a:gd name="adj3" fmla="val 16667"/>
              </a:avLst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začiatok zoznamu</a:t>
              </a:r>
              <a:endParaRPr lang="en-US" altLang="sk-SK" sz="1992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F79C43-513B-4627-B977-6550C9AA2F73}"/>
              </a:ext>
            </a:extLst>
          </p:cNvPr>
          <p:cNvGrpSpPr>
            <a:grpSpLocks/>
          </p:cNvGrpSpPr>
          <p:nvPr/>
        </p:nvGrpSpPr>
        <p:grpSpPr bwMode="auto">
          <a:xfrm>
            <a:off x="5078413" y="5099050"/>
            <a:ext cx="635000" cy="261938"/>
            <a:chOff x="7236296" y="5157192"/>
            <a:chExt cx="573321" cy="237503"/>
          </a:xfrm>
        </p:grpSpPr>
        <p:sp>
          <p:nvSpPr>
            <p:cNvPr id="27697" name="Line 34">
              <a:extLst>
                <a:ext uri="{FF2B5EF4-FFF2-40B4-BE49-F238E27FC236}">
                  <a16:creationId xmlns:a16="http://schemas.microsoft.com/office/drawing/2014/main" id="{166019CA-87B0-44DC-9D91-4DF33C3F3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296" y="5273785"/>
              <a:ext cx="57332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7698" name="Line 35">
              <a:extLst>
                <a:ext uri="{FF2B5EF4-FFF2-40B4-BE49-F238E27FC236}">
                  <a16:creationId xmlns:a16="http://schemas.microsoft.com/office/drawing/2014/main" id="{81F1552D-7BE6-4916-954F-9307425D0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7753" y="5157192"/>
              <a:ext cx="0" cy="2317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7699" name="Line 36">
              <a:extLst>
                <a:ext uri="{FF2B5EF4-FFF2-40B4-BE49-F238E27FC236}">
                  <a16:creationId xmlns:a16="http://schemas.microsoft.com/office/drawing/2014/main" id="{A3DE7803-35BF-474E-9F0C-30115FE55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6022" y="5157192"/>
              <a:ext cx="0" cy="237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0F3AECA-834C-437D-A3FA-B2E90CA86AA5}"/>
              </a:ext>
            </a:extLst>
          </p:cNvPr>
          <p:cNvGrpSpPr>
            <a:grpSpLocks/>
          </p:cNvGrpSpPr>
          <p:nvPr/>
        </p:nvGrpSpPr>
        <p:grpSpPr bwMode="auto">
          <a:xfrm>
            <a:off x="4449763" y="6364288"/>
            <a:ext cx="635000" cy="260350"/>
            <a:chOff x="7236296" y="5157192"/>
            <a:chExt cx="573321" cy="237503"/>
          </a:xfrm>
        </p:grpSpPr>
        <p:sp>
          <p:nvSpPr>
            <p:cNvPr id="27694" name="Line 34">
              <a:extLst>
                <a:ext uri="{FF2B5EF4-FFF2-40B4-BE49-F238E27FC236}">
                  <a16:creationId xmlns:a16="http://schemas.microsoft.com/office/drawing/2014/main" id="{22661515-6658-4DF8-9262-D4A1B9DE7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296" y="5274495"/>
              <a:ext cx="57332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7695" name="Line 35">
              <a:extLst>
                <a:ext uri="{FF2B5EF4-FFF2-40B4-BE49-F238E27FC236}">
                  <a16:creationId xmlns:a16="http://schemas.microsoft.com/office/drawing/2014/main" id="{7D5116E5-3191-48D5-A3E9-FE34B6F2E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7753" y="5157192"/>
              <a:ext cx="0" cy="2317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  <p:sp>
          <p:nvSpPr>
            <p:cNvPr id="27696" name="Line 36">
              <a:extLst>
                <a:ext uri="{FF2B5EF4-FFF2-40B4-BE49-F238E27FC236}">
                  <a16:creationId xmlns:a16="http://schemas.microsoft.com/office/drawing/2014/main" id="{6BDEAC55-45B8-4E5F-BC90-20CAC39CE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6022" y="5157192"/>
              <a:ext cx="0" cy="2375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sk-SK" sz="2656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2EABB3B-D5A7-46D5-8FED-89ABE72206E8}"/>
              </a:ext>
            </a:extLst>
          </p:cNvPr>
          <p:cNvGrpSpPr>
            <a:grpSpLocks/>
          </p:cNvGrpSpPr>
          <p:nvPr/>
        </p:nvGrpSpPr>
        <p:grpSpPr bwMode="auto">
          <a:xfrm>
            <a:off x="4130675" y="4283075"/>
            <a:ext cx="5802313" cy="1219200"/>
            <a:chOff x="3717170" y="3869674"/>
            <a:chExt cx="5244268" cy="1102916"/>
          </a:xfrm>
        </p:grpSpPr>
        <p:sp>
          <p:nvSpPr>
            <p:cNvPr id="27692" name="Rounded Rectangle 43">
              <a:extLst>
                <a:ext uri="{FF2B5EF4-FFF2-40B4-BE49-F238E27FC236}">
                  <a16:creationId xmlns:a16="http://schemas.microsoft.com/office/drawing/2014/main" id="{F7C9B8A8-AFC2-4E70-88C3-FD9DAFDD3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170" y="4485756"/>
              <a:ext cx="1041679" cy="48683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27693" name="Rounded Rectangular Callout 39">
              <a:extLst>
                <a:ext uri="{FF2B5EF4-FFF2-40B4-BE49-F238E27FC236}">
                  <a16:creationId xmlns:a16="http://schemas.microsoft.com/office/drawing/2014/main" id="{1FA7B253-E9E0-42EC-9510-FD72C37DB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398" y="3869674"/>
              <a:ext cx="4864040" cy="360459"/>
            </a:xfrm>
            <a:prstGeom prst="wedgeRoundRectCallout">
              <a:avLst>
                <a:gd name="adj1" fmla="val -41176"/>
                <a:gd name="adj2" fmla="val 120750"/>
                <a:gd name="adj3" fmla="val 16667"/>
              </a:avLst>
            </a:prstGeom>
            <a:noFill/>
            <a:ln w="12700" algn="ctr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začiatok časti zoznamu, ktorú ideme „odpojiť“</a:t>
              </a:r>
              <a:endParaRPr lang="en-US" altLang="sk-SK" sz="1992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4F3283B3-E7F8-4C6D-B00C-6F20200D0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k-SK"/>
              <a:t>Sp</a:t>
            </a:r>
            <a:r>
              <a:rPr lang="sk-SK" altLang="sk-SK"/>
              <a:t>ájaný zoznam – zmena zoznamu vo funkcii</a:t>
            </a:r>
            <a:endParaRPr lang="en-US" altLang="sk-SK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35590C5-A8B1-46B3-BD5B-E9B53317C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484313"/>
            <a:ext cx="916463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sk-SK" altLang="sk-SK" sz="2435"/>
              <a:t>Ak </a:t>
            </a:r>
            <a:r>
              <a:rPr lang="sk-SK" altLang="sk-SK" sz="2435">
                <a:solidFill>
                  <a:srgbClr val="FF0000"/>
                </a:solidFill>
              </a:rPr>
              <a:t>vo funkcii </a:t>
            </a:r>
            <a:r>
              <a:rPr lang="en-US" altLang="sk-SK" sz="2435"/>
              <a:t>men</a:t>
            </a:r>
            <a:r>
              <a:rPr lang="sk-SK" altLang="sk-SK" sz="2435"/>
              <a:t>íme zoznam (vkladáme, mažeme, preusporadúvame), môže sa stať, že:</a:t>
            </a:r>
          </a:p>
          <a:p>
            <a:pPr lvl="1">
              <a:defRPr/>
            </a:pPr>
            <a:r>
              <a:rPr lang="sk-SK" altLang="sk-SK" sz="1992"/>
              <a:t>Pridávame na začiatok zoznamu</a:t>
            </a:r>
          </a:p>
          <a:p>
            <a:pPr lvl="1">
              <a:defRPr/>
            </a:pPr>
            <a:r>
              <a:rPr lang="sk-SK" altLang="sk-SK" sz="1992"/>
              <a:t>Zmazávame zo začiatku zoznamu </a:t>
            </a:r>
          </a:p>
          <a:p>
            <a:pPr lvl="1">
              <a:defRPr/>
            </a:pPr>
            <a:r>
              <a:rPr lang="sk-SK" altLang="sk-SK" sz="1992"/>
              <a:t>Zmazávame celý zoznam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3DF4DB-18F2-458E-9251-686A3C25974C}"/>
              </a:ext>
            </a:extLst>
          </p:cNvPr>
          <p:cNvGrpSpPr>
            <a:grpSpLocks/>
          </p:cNvGrpSpPr>
          <p:nvPr/>
        </p:nvGrpSpPr>
        <p:grpSpPr bwMode="auto">
          <a:xfrm>
            <a:off x="5154613" y="2281238"/>
            <a:ext cx="4795837" cy="1195387"/>
            <a:chOff x="4644008" y="2060848"/>
            <a:chExt cx="4332852" cy="1080120"/>
          </a:xfrm>
        </p:grpSpPr>
        <p:sp>
          <p:nvSpPr>
            <p:cNvPr id="28690" name="Right Brace 1">
              <a:extLst>
                <a:ext uri="{FF2B5EF4-FFF2-40B4-BE49-F238E27FC236}">
                  <a16:creationId xmlns:a16="http://schemas.microsoft.com/office/drawing/2014/main" id="{D8472E1B-34A7-4D72-BB74-7F5138837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008" y="2060848"/>
              <a:ext cx="288283" cy="108012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sk-SK" altLang="sk-SK" sz="1992"/>
            </a:p>
          </p:txBody>
        </p:sp>
        <p:sp>
          <p:nvSpPr>
            <p:cNvPr id="28691" name="TextBox 2">
              <a:extLst>
                <a:ext uri="{FF2B5EF4-FFF2-40B4-BE49-F238E27FC236}">
                  <a16:creationId xmlns:a16="http://schemas.microsoft.com/office/drawing/2014/main" id="{B9662FCF-6A8E-4EEE-A8D9-0CA3EEAE9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6633" y="2321913"/>
              <a:ext cx="4030227" cy="453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656">
                  <a:solidFill>
                    <a:srgbClr val="FF0000"/>
                  </a:solidFill>
                </a:rPr>
                <a:t>meníme začiatok zoznamu</a:t>
              </a:r>
              <a:endParaRPr lang="en-US" altLang="sk-SK" sz="2656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41602D-3951-4542-A508-2A3FBBCE8FFD}"/>
              </a:ext>
            </a:extLst>
          </p:cNvPr>
          <p:cNvGrpSpPr>
            <a:grpSpLocks/>
          </p:cNvGrpSpPr>
          <p:nvPr/>
        </p:nvGrpSpPr>
        <p:grpSpPr bwMode="auto">
          <a:xfrm>
            <a:off x="850900" y="3598863"/>
            <a:ext cx="8448675" cy="841375"/>
            <a:chOff x="755576" y="3250480"/>
            <a:chExt cx="7632848" cy="761794"/>
          </a:xfrm>
        </p:grpSpPr>
        <p:cxnSp>
          <p:nvCxnSpPr>
            <p:cNvPr id="71696" name="Straight Arrow Connector 6">
              <a:extLst>
                <a:ext uri="{FF2B5EF4-FFF2-40B4-BE49-F238E27FC236}">
                  <a16:creationId xmlns:a16="http://schemas.microsoft.com/office/drawing/2014/main" id="{D3B4AF80-B881-4B78-989C-0E1F3EAFC3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5576" y="3501008"/>
              <a:ext cx="216024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689" name="Rectangle 10">
              <a:extLst>
                <a:ext uri="{FF2B5EF4-FFF2-40B4-BE49-F238E27FC236}">
                  <a16:creationId xmlns:a16="http://schemas.microsoft.com/office/drawing/2014/main" id="{283C5808-845F-4F56-A091-C36D648F2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42" y="3250480"/>
              <a:ext cx="7416282" cy="761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2435"/>
                <a:t>preto je potrebné </a:t>
              </a:r>
              <a:r>
                <a:rPr lang="sk-SK" altLang="sk-SK" sz="2435">
                  <a:solidFill>
                    <a:srgbClr val="FF0000"/>
                  </a:solidFill>
                </a:rPr>
                <a:t>vrátiť ukazovateľ na začiatok zoznamu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1423A1-6A55-4DD2-AC48-2ED6C8F499C8}"/>
              </a:ext>
            </a:extLst>
          </p:cNvPr>
          <p:cNvGrpSpPr>
            <a:grpSpLocks/>
          </p:cNvGrpSpPr>
          <p:nvPr/>
        </p:nvGrpSpPr>
        <p:grpSpPr bwMode="auto">
          <a:xfrm>
            <a:off x="311150" y="4454525"/>
            <a:ext cx="9437688" cy="1465263"/>
            <a:chOff x="266101" y="4024808"/>
            <a:chExt cx="8528093" cy="1323439"/>
          </a:xfrm>
        </p:grpSpPr>
        <p:grpSp>
          <p:nvGrpSpPr>
            <p:cNvPr id="71692" name="Group 12">
              <a:extLst>
                <a:ext uri="{FF2B5EF4-FFF2-40B4-BE49-F238E27FC236}">
                  <a16:creationId xmlns:a16="http://schemas.microsoft.com/office/drawing/2014/main" id="{2E87AA73-F4F6-4645-AC08-F6BA3122C6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101" y="4024808"/>
              <a:ext cx="5458027" cy="1323439"/>
              <a:chOff x="266101" y="4024808"/>
              <a:chExt cx="5458027" cy="1323439"/>
            </a:xfrm>
          </p:grpSpPr>
          <p:sp>
            <p:nvSpPr>
              <p:cNvPr id="28686" name="Rectangle 3">
                <a:extLst>
                  <a:ext uri="{FF2B5EF4-FFF2-40B4-BE49-F238E27FC236}">
                    <a16:creationId xmlns:a16="http://schemas.microsoft.com/office/drawing/2014/main" id="{033DD469-0E9C-4416-AC4C-7706C1936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101" y="4024808"/>
                <a:ext cx="5458266" cy="1323439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endParaRPr lang="sk-SK" altLang="sk-SK" sz="1992"/>
              </a:p>
            </p:txBody>
          </p:sp>
          <p:sp>
            <p:nvSpPr>
              <p:cNvPr id="28687" name="Text Box 4">
                <a:extLst>
                  <a:ext uri="{FF2B5EF4-FFF2-40B4-BE49-F238E27FC236}">
                    <a16:creationId xmlns:a16="http://schemas.microsoft.com/office/drawing/2014/main" id="{9393CD62-7401-4B70-8CD2-8FFD0D6EF8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101" y="4024808"/>
                <a:ext cx="5233050" cy="1313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sk-SK" altLang="sk-SK" sz="2213">
                    <a:latin typeface="Courier New" panose="02070309020205020404" pitchFamily="49" charset="0"/>
                  </a:rPr>
                  <a:t>ZOZNAM *zmena(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ZOZNAM *zac</a:t>
                </a:r>
                <a:r>
                  <a:rPr lang="sk-SK" altLang="sk-SK" sz="2213">
                    <a:latin typeface="Courier New" panose="02070309020205020404" pitchFamily="49" charset="0"/>
                  </a:rPr>
                  <a:t>, ...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) {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sk-SK" altLang="sk-SK" sz="2213">
                    <a:latin typeface="Courier New" panose="02070309020205020404" pitchFamily="49" charset="0"/>
                  </a:rPr>
                  <a:t>   ...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sk-SK" altLang="sk-SK" sz="2213">
                    <a:latin typeface="Courier New" panose="02070309020205020404" pitchFamily="49" charset="0"/>
                  </a:rPr>
                  <a:t>   return zac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;</a:t>
                </a:r>
                <a:endParaRPr lang="sk-SK" altLang="sk-SK" sz="2213">
                  <a:latin typeface="Courier New" panose="02070309020205020404" pitchFamily="49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sk-SK" sz="2213">
                    <a:latin typeface="Courier New" panose="02070309020205020404" pitchFamily="49" charset="0"/>
                  </a:rPr>
                  <a:t>}</a:t>
                </a:r>
              </a:p>
            </p:txBody>
          </p:sp>
        </p:grpSp>
        <p:sp>
          <p:nvSpPr>
            <p:cNvPr id="28685" name="Rounded Rectangular Callout 39">
              <a:extLst>
                <a:ext uri="{FF2B5EF4-FFF2-40B4-BE49-F238E27FC236}">
                  <a16:creationId xmlns:a16="http://schemas.microsoft.com/office/drawing/2014/main" id="{964E1ACC-2DB3-4248-A9E6-0DCA160A0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2701" y="4039146"/>
              <a:ext cx="2781493" cy="359895"/>
            </a:xfrm>
            <a:prstGeom prst="wedgeRoundRectCallout">
              <a:avLst>
                <a:gd name="adj1" fmla="val -60468"/>
                <a:gd name="adj2" fmla="val 180653"/>
                <a:gd name="adj3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Návratovou hodnotou</a:t>
              </a:r>
              <a:endParaRPr lang="en-US" altLang="sk-SK" sz="1992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BC26B4-9D58-4095-BB29-66D9FDABE03A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6097588"/>
            <a:ext cx="9426575" cy="1123950"/>
            <a:chOff x="277398" y="5509681"/>
            <a:chExt cx="8516796" cy="1015663"/>
          </a:xfrm>
        </p:grpSpPr>
        <p:grpSp>
          <p:nvGrpSpPr>
            <p:cNvPr id="71688" name="Group 13">
              <a:extLst>
                <a:ext uri="{FF2B5EF4-FFF2-40B4-BE49-F238E27FC236}">
                  <a16:creationId xmlns:a16="http://schemas.microsoft.com/office/drawing/2014/main" id="{83F8AE63-97AB-4BA7-8D00-2B72E57110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398" y="5509681"/>
              <a:ext cx="5458027" cy="1015663"/>
              <a:chOff x="277398" y="5509681"/>
              <a:chExt cx="5458027" cy="1015663"/>
            </a:xfrm>
          </p:grpSpPr>
          <p:sp>
            <p:nvSpPr>
              <p:cNvPr id="28682" name="Rectangle 3">
                <a:extLst>
                  <a:ext uri="{FF2B5EF4-FFF2-40B4-BE49-F238E27FC236}">
                    <a16:creationId xmlns:a16="http://schemas.microsoft.com/office/drawing/2014/main" id="{B5347FF9-63E9-46B6-9FA8-E8E1D4208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98" y="5509681"/>
                <a:ext cx="5457461" cy="1015663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endParaRPr lang="sk-SK" altLang="sk-SK" sz="1992"/>
              </a:p>
            </p:txBody>
          </p:sp>
          <p:sp>
            <p:nvSpPr>
              <p:cNvPr id="28683" name="Text Box 4">
                <a:extLst>
                  <a:ext uri="{FF2B5EF4-FFF2-40B4-BE49-F238E27FC236}">
                    <a16:creationId xmlns:a16="http://schemas.microsoft.com/office/drawing/2014/main" id="{781E28B3-71DE-4120-8DFC-D212730A84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398" y="5509681"/>
                <a:ext cx="4925341" cy="10084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9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sk-SK" altLang="sk-SK" sz="2213">
                    <a:latin typeface="Courier New" panose="02070309020205020404" pitchFamily="49" charset="0"/>
                  </a:rPr>
                  <a:t>void zmena(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ZOZNAM *</a:t>
                </a:r>
                <a:r>
                  <a:rPr lang="sk-SK" altLang="sk-SK" sz="2213">
                    <a:latin typeface="Courier New" panose="02070309020205020404" pitchFamily="49" charset="0"/>
                  </a:rPr>
                  <a:t>*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zac</a:t>
                </a:r>
                <a:r>
                  <a:rPr lang="sk-SK" altLang="sk-SK" sz="2213">
                    <a:latin typeface="Courier New" panose="02070309020205020404" pitchFamily="49" charset="0"/>
                  </a:rPr>
                  <a:t>, ...</a:t>
                </a:r>
                <a:r>
                  <a:rPr lang="en-US" altLang="sk-SK" sz="2213">
                    <a:latin typeface="Courier New" panose="02070309020205020404" pitchFamily="49" charset="0"/>
                  </a:rPr>
                  <a:t>) {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sk-SK" altLang="sk-SK" sz="2213">
                    <a:latin typeface="Courier New" panose="02070309020205020404" pitchFamily="49" charset="0"/>
                  </a:rPr>
                  <a:t>   ...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sk-SK" sz="2213">
                    <a:latin typeface="Courier New" panose="02070309020205020404" pitchFamily="49" charset="0"/>
                  </a:rPr>
                  <a:t>}</a:t>
                </a:r>
              </a:p>
            </p:txBody>
          </p:sp>
        </p:grpSp>
        <p:sp>
          <p:nvSpPr>
            <p:cNvPr id="28681" name="Rounded Rectangular Callout 39">
              <a:extLst>
                <a:ext uri="{FF2B5EF4-FFF2-40B4-BE49-F238E27FC236}">
                  <a16:creationId xmlns:a16="http://schemas.microsoft.com/office/drawing/2014/main" id="{F2BF5F9E-F824-4307-ACEE-55BD94A43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1677" y="5516853"/>
              <a:ext cx="2782517" cy="936763"/>
            </a:xfrm>
            <a:prstGeom prst="wedgeRoundRectCallout">
              <a:avLst>
                <a:gd name="adj1" fmla="val -60157"/>
                <a:gd name="adj2" fmla="val 45185"/>
                <a:gd name="adj3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9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sk-SK" altLang="sk-SK" sz="1992"/>
                <a:t>Pomocou argumentov a použitím ukazovateľa na ukazovateľ</a:t>
              </a:r>
              <a:endParaRPr lang="en-US" altLang="sk-SK" sz="1992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>
            <a:extLst>
              <a:ext uri="{FF2B5EF4-FFF2-40B4-BE49-F238E27FC236}">
                <a16:creationId xmlns:a16="http://schemas.microsoft.com/office/drawing/2014/main" id="{8A95A9B2-70BF-4A03-9E65-89733C4FF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6408738"/>
            <a:ext cx="2789237" cy="1117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44035" name="Rectangle 9">
            <a:extLst>
              <a:ext uri="{FF2B5EF4-FFF2-40B4-BE49-F238E27FC236}">
                <a16:creationId xmlns:a16="http://schemas.microsoft.com/office/drawing/2014/main" id="{3A3C4E7F-3779-447F-9392-BF8013B5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6408738"/>
            <a:ext cx="2789237" cy="1117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44036" name="Rectangle 10">
            <a:extLst>
              <a:ext uri="{FF2B5EF4-FFF2-40B4-BE49-F238E27FC236}">
                <a16:creationId xmlns:a16="http://schemas.microsoft.com/office/drawing/2014/main" id="{D3244F97-5FD6-407A-85CF-BAC7C4F5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588" y="6408738"/>
            <a:ext cx="2790825" cy="1117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72709" name="Rectangle 1026">
            <a:extLst>
              <a:ext uri="{FF2B5EF4-FFF2-40B4-BE49-F238E27FC236}">
                <a16:creationId xmlns:a16="http://schemas.microsoft.com/office/drawing/2014/main" id="{E6F58F59-7712-4C6B-8710-58D47EA531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49213"/>
            <a:ext cx="8126413" cy="936625"/>
          </a:xfrm>
        </p:spPr>
        <p:txBody>
          <a:bodyPr/>
          <a:lstStyle/>
          <a:p>
            <a:r>
              <a:rPr lang="sk-SK" altLang="sk-SK"/>
              <a:t>Binárne operácie</a:t>
            </a:r>
            <a:endParaRPr lang="en-US" altLang="sk-SK">
              <a:latin typeface="Courier New" panose="02070309020205020404" pitchFamily="49" charset="0"/>
            </a:endParaRPr>
          </a:p>
        </p:txBody>
      </p:sp>
      <p:sp>
        <p:nvSpPr>
          <p:cNvPr id="44038" name="Rectangle 1027">
            <a:extLst>
              <a:ext uri="{FF2B5EF4-FFF2-40B4-BE49-F238E27FC236}">
                <a16:creationId xmlns:a16="http://schemas.microsoft.com/office/drawing/2014/main" id="{F300AA0D-8234-4CBC-A8A7-0FB4001A3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" y="925513"/>
            <a:ext cx="8688388" cy="47021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sk-SK" altLang="sk-SK" sz="1992"/>
          </a:p>
        </p:txBody>
      </p:sp>
      <p:sp>
        <p:nvSpPr>
          <p:cNvPr id="44039" name="Text Box 1028">
            <a:extLst>
              <a:ext uri="{FF2B5EF4-FFF2-40B4-BE49-F238E27FC236}">
                <a16:creationId xmlns:a16="http://schemas.microsoft.com/office/drawing/2014/main" id="{6BCD608C-5293-40BD-B776-117379388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" y="1014413"/>
            <a:ext cx="8340725" cy="468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#include &lt;stdio.h&gt;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int main(){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 &lt;&lt; 1 = %d\t%x\n", 1 &lt;&lt; 1, 1 &lt;&lt; 1);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 &lt;&lt; 7 = %d\t%x\n", 1 &lt;&lt; 7, 1 &lt;&lt; 7);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printf("1024 &gt;&gt; 9 = %d\t%x\n",1024 &gt;&gt; 9,</a:t>
            </a: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024 &gt;&gt;9);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printf("13 &amp; 6 = %d\t%x\n", 13 &amp; 6, 13 &amp; 6);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printf("13 | 6 = %d\t%</a:t>
            </a: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\n", 13 | 6, 13 | 6);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printf("13 ^ 6 = %d\t%x\n", 13 ^ 6, 13 ^ 6);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printf("2 &amp; 1 = %d\t%x\n", 2 &amp; 1, 2 &amp; 1);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printf("2 | 1 = %d\t%x\n", 2 | 1, 2 | 1);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printf("2 ^ 1 = %d\t%x\n", 2 ^ 1, 2 ^ 1); 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  <a:endParaRPr lang="sk-SK" altLang="sk-SK" sz="1992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992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44040" name="Text Box 7">
            <a:extLst>
              <a:ext uri="{FF2B5EF4-FFF2-40B4-BE49-F238E27FC236}">
                <a16:creationId xmlns:a16="http://schemas.microsoft.com/office/drawing/2014/main" id="{8E8C4108-A5DD-4407-BA73-CA80491B3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6446838"/>
            <a:ext cx="3227388" cy="9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 &lt;&lt; 1 =  2       </a:t>
            </a:r>
            <a:r>
              <a:rPr lang="sk-SK" altLang="sk-SK" sz="1771">
                <a:latin typeface="Tahoma" panose="020B0604030504040204" pitchFamily="34" charset="0"/>
              </a:rPr>
              <a:t>    </a:t>
            </a:r>
            <a:r>
              <a:rPr lang="en-US" altLang="sk-SK" sz="1771">
                <a:latin typeface="Tahoma" panose="020B0604030504040204" pitchFamily="34" charset="0"/>
              </a:rPr>
              <a:t>0x2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 &lt;&lt; 7 =  128     </a:t>
            </a:r>
            <a:r>
              <a:rPr lang="sk-SK" altLang="sk-SK" sz="1771">
                <a:latin typeface="Tahoma" panose="020B0604030504040204" pitchFamily="34" charset="0"/>
              </a:rPr>
              <a:t>  </a:t>
            </a:r>
            <a:r>
              <a:rPr lang="en-US" altLang="sk-SK" sz="1771">
                <a:latin typeface="Tahoma" panose="020B0604030504040204" pitchFamily="34" charset="0"/>
              </a:rPr>
              <a:t>0x80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1024 &gt;&gt; 9 = 2      0x2</a:t>
            </a:r>
          </a:p>
        </p:txBody>
      </p:sp>
      <p:sp>
        <p:nvSpPr>
          <p:cNvPr id="44041" name="Text Box 11">
            <a:extLst>
              <a:ext uri="{FF2B5EF4-FFF2-40B4-BE49-F238E27FC236}">
                <a16:creationId xmlns:a16="http://schemas.microsoft.com/office/drawing/2014/main" id="{80B9141A-EE27-483A-9DA8-31923C8D5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6489700"/>
            <a:ext cx="2947988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13 &amp; 6 =  4      </a:t>
            </a:r>
            <a:r>
              <a:rPr lang="sk-SK" altLang="sk-SK" sz="1771">
                <a:latin typeface="Tahoma" panose="020B0604030504040204" pitchFamily="34" charset="0"/>
              </a:rPr>
              <a:t> </a:t>
            </a:r>
            <a:r>
              <a:rPr lang="en-US" altLang="sk-SK" sz="1771">
                <a:latin typeface="Tahoma" panose="020B0604030504040204" pitchFamily="34" charset="0"/>
              </a:rPr>
              <a:t> 0x4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13 | 6 =   15      0xf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13 ^ 6 =   11     0xb</a:t>
            </a:r>
            <a:endParaRPr lang="en-US" altLang="sk-SK" sz="2656">
              <a:latin typeface="Tahoma" panose="020B0604030504040204" pitchFamily="34" charset="0"/>
            </a:endParaRPr>
          </a:p>
        </p:txBody>
      </p:sp>
      <p:sp>
        <p:nvSpPr>
          <p:cNvPr id="44042" name="Text Box 12">
            <a:extLst>
              <a:ext uri="{FF2B5EF4-FFF2-40B4-BE49-F238E27FC236}">
                <a16:creationId xmlns:a16="http://schemas.microsoft.com/office/drawing/2014/main" id="{A8C93EEB-434D-47F0-BFBE-C4A7FE133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6489700"/>
            <a:ext cx="2868613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2 &amp; 1 = 0       0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2 | 1 = 3       0x3</a:t>
            </a:r>
            <a:endParaRPr lang="sk-SK" altLang="sk-SK" sz="177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k-SK" sz="1771">
                <a:latin typeface="Tahoma" panose="020B0604030504040204" pitchFamily="34" charset="0"/>
              </a:rPr>
              <a:t>2 ^ 1 = 3       0x3</a:t>
            </a:r>
          </a:p>
        </p:txBody>
      </p:sp>
      <p:sp>
        <p:nvSpPr>
          <p:cNvPr id="44043" name="Text Box 7">
            <a:extLst>
              <a:ext uri="{FF2B5EF4-FFF2-40B4-BE49-F238E27FC236}">
                <a16:creationId xmlns:a16="http://schemas.microsoft.com/office/drawing/2014/main" id="{29EF5FA6-F095-417F-9643-26B7E3E39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5697538"/>
            <a:ext cx="17129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771">
                <a:latin typeface="Courier New" panose="02070309020205020404" pitchFamily="49" charset="0"/>
                <a:cs typeface="Courier New" panose="02070309020205020404" pitchFamily="49" charset="0"/>
              </a:rPr>
              <a:t>128 = 2</a:t>
            </a:r>
            <a:r>
              <a:rPr lang="sk-SK" altLang="sk-SK" sz="1771" baseline="3000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771">
                <a:latin typeface="Courier New" panose="02070309020205020404" pitchFamily="49" charset="0"/>
                <a:cs typeface="Courier New" panose="02070309020205020404" pitchFamily="49" charset="0"/>
              </a:rPr>
              <a:t>1024 = 2</a:t>
            </a:r>
            <a:r>
              <a:rPr lang="sk-SK" altLang="sk-SK" sz="1771" baseline="3000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altLang="sk-SK" sz="1771" baseline="30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044" name="Text Box 7">
            <a:extLst>
              <a:ext uri="{FF2B5EF4-FFF2-40B4-BE49-F238E27FC236}">
                <a16:creationId xmlns:a16="http://schemas.microsoft.com/office/drawing/2014/main" id="{B000C1F9-7EE0-47BB-9683-7E4BAE1E4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5708650"/>
            <a:ext cx="1712913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771">
                <a:latin typeface="Courier New" panose="02070309020205020404" pitchFamily="49" charset="0"/>
                <a:cs typeface="Courier New" panose="02070309020205020404" pitchFamily="49" charset="0"/>
              </a:rPr>
              <a:t>13: 1101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k-SK" altLang="sk-SK" sz="1771">
                <a:latin typeface="Courier New" panose="02070309020205020404" pitchFamily="49" charset="0"/>
                <a:cs typeface="Courier New" panose="02070309020205020404" pitchFamily="49" charset="0"/>
              </a:rPr>
              <a:t> 6:  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ass design 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Glass design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Glass design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Glass design template">
  <a:themeElements>
    <a:clrScheme name="Glass design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lass design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Glass design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ass design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ass design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855CD8FBFA1C40902AF7C6FF147F66" ma:contentTypeVersion="4" ma:contentTypeDescription="Create a new document." ma:contentTypeScope="" ma:versionID="7c101f128f0bed1d6b5ad5c4449bdf6a">
  <xsd:schema xmlns:xsd="http://www.w3.org/2001/XMLSchema" xmlns:xs="http://www.w3.org/2001/XMLSchema" xmlns:p="http://schemas.microsoft.com/office/2006/metadata/properties" xmlns:ns2="997bfeac-795f-49c6-99e7-c5f8f5932131" targetNamespace="http://schemas.microsoft.com/office/2006/metadata/properties" ma:root="true" ma:fieldsID="de8fe5985ba8ceb7891b7f1a1d1edf39" ns2:_="">
    <xsd:import namespace="997bfeac-795f-49c6-99e7-c5f8f5932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bfeac-795f-49c6-99e7-c5f8f5932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4F7433-E877-42D3-BD10-DD5E949303F8}">
  <ds:schemaRefs>
    <ds:schemaRef ds:uri="997bfeac-795f-49c6-99e7-c5f8f59321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9E5BA3-4ACB-419F-897C-9F8233DCD4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38F196-3E2A-4220-AEB4-BA4160A24012}">
  <ds:schemaRefs>
    <ds:schemaRef ds:uri="997bfeac-795f-49c6-99e7-c5f8f593213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Settings\koskova\Application Data\Microsoft\Templates\Glass design template.pot</Template>
  <Application>Microsoft Office PowerPoint</Application>
  <PresentationFormat>Custom</PresentationFormat>
  <Slides>57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Glass design template</vt:lpstr>
      <vt:lpstr>2_Glass design template</vt:lpstr>
      <vt:lpstr>Algoritmizácia a programovanie 12. prednáška </vt:lpstr>
      <vt:lpstr>Obsah</vt:lpstr>
      <vt:lpstr>Príklady definovania konštánt</vt:lpstr>
      <vt:lpstr>getchar a scanf</vt:lpstr>
      <vt:lpstr>scanf a &amp;</vt:lpstr>
      <vt:lpstr>Kde sú dôležité zátvorky</vt:lpstr>
      <vt:lpstr>Skrátené vyhodnocovanie logických výrazov</vt:lpstr>
      <vt:lpstr>Skrátené vyhodnocovanie logických výrazov – využitie</vt:lpstr>
      <vt:lpstr>Skrátené vyhodnocovanie logických výrazov</vt:lpstr>
      <vt:lpstr>Priority vyhodnocovania logických výrazov</vt:lpstr>
      <vt:lpstr>Príkaz while</vt:lpstr>
      <vt:lpstr>Príkaz while: príklad</vt:lpstr>
      <vt:lpstr>Príkaz do-while</vt:lpstr>
      <vt:lpstr>Príkaz for</vt:lpstr>
      <vt:lpstr>Príklad</vt:lpstr>
      <vt:lpstr>ASCII tabuľka</vt:lpstr>
      <vt:lpstr>Nájdenie maxima, minima a pod. v poli (najpočetnejší prvok)</vt:lpstr>
      <vt:lpstr>Vrátenie hodnoty cez parameter funkcie</vt:lpstr>
      <vt:lpstr>Typová konverzia</vt:lpstr>
      <vt:lpstr>Testovanie správnosti otvorenia súboru</vt:lpstr>
      <vt:lpstr>Testovanie správnosti zatvorenia súboru</vt:lpstr>
      <vt:lpstr>Testovanie konca súboru: EOF</vt:lpstr>
      <vt:lpstr>Kontrola konca súbora – aj vo vnorených cykloch</vt:lpstr>
      <vt:lpstr>Základné práce s otvoreným súborom</vt:lpstr>
      <vt:lpstr>Príklady: kontrola správneho zátvorkovania</vt:lpstr>
      <vt:lpstr>Základy práce s poliami</vt:lpstr>
      <vt:lpstr>Definícia a inicializácia reťazca</vt:lpstr>
      <vt:lpstr>Štandardné funkcie pre prácu s reťazcami</vt:lpstr>
      <vt:lpstr>Definícia štruktúry (4)</vt:lpstr>
      <vt:lpstr>Prístup k položkám štruktúry</vt:lpstr>
      <vt:lpstr>Pole v štruktúre</vt:lpstr>
      <vt:lpstr>Štruktúra v inej štruktúre</vt:lpstr>
      <vt:lpstr>Príklad: štruktúra v inej štruktúre</vt:lpstr>
      <vt:lpstr>Globálne a lokálne premenné</vt:lpstr>
      <vt:lpstr>Jednoduché dátové typy</vt:lpstr>
      <vt:lpstr>Parametre funkcií - volanie hodnotou: int A(int i)</vt:lpstr>
      <vt:lpstr>Parametre funkcií - volanie odkazom:  int A(int *i)</vt:lpstr>
      <vt:lpstr>&amp; a &amp;&amp;</vt:lpstr>
      <vt:lpstr>Ukazovatele</vt:lpstr>
      <vt:lpstr>Ukazovatele</vt:lpstr>
      <vt:lpstr>Ukazovatele a polia</vt:lpstr>
      <vt:lpstr>Ukazovatele</vt:lpstr>
      <vt:lpstr>Spájaný zoznam</vt:lpstr>
      <vt:lpstr>Spájaný zoznam</vt:lpstr>
      <vt:lpstr>Spájaný zoznam – zmena zoznamu vs. posun v zozname</vt:lpstr>
      <vt:lpstr>Spájaný zoznam – vloženie prvku na inú pozíciu v zozname</vt:lpstr>
      <vt:lpstr>Spájaný zoznam – vloženie prvku na inú pozíciu v zozname</vt:lpstr>
      <vt:lpstr>Spájaný zoznam – vloženie prvku na inú pozíciu v zozname</vt:lpstr>
      <vt:lpstr>Spájaný zoznam – vloženie prvku na inú pozíciu v zozname</vt:lpstr>
      <vt:lpstr>Spájaný zoznam – prístup k položkám prvku</vt:lpstr>
      <vt:lpstr>Spájaný zoznam – kontrola hodnoty dalšieho prvku</vt:lpstr>
      <vt:lpstr>Spájaný zoznam – kontrola hodnoty dalšieho prvku</vt:lpstr>
      <vt:lpstr>Spájaný zoznam – kontrola hodnoty dalšieho prvku</vt:lpstr>
      <vt:lpstr>Spájaný zoznam – kontrola hodnoty dalšieho prvku</vt:lpstr>
      <vt:lpstr>Spájaný zoznam – začiatok (časti) zoznamu</vt:lpstr>
      <vt:lpstr>Spájaný zoznam – zmena zoznamu vo funkcii</vt:lpstr>
      <vt:lpstr>Binárne operácie</vt:lpstr>
    </vt:vector>
  </TitlesOfParts>
  <Company>FIIT STU Bratislava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Procedurálne programovanie</dc:title>
  <dc:creator>janog</dc:creator>
  <cp:revision>1</cp:revision>
  <cp:lastPrinted>1601-01-01T00:00:00Z</cp:lastPrinted>
  <dcterms:created xsi:type="dcterms:W3CDTF">2005-06-24T10:35:13Z</dcterms:created>
  <dcterms:modified xsi:type="dcterms:W3CDTF">2025-01-26T21:52:37Z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TC010875761033</vt:lpwstr>
  </property>
  <property fmtid="{D5CDD505-2E9C-101B-9397-08002B2CF9AE}" pid="3" name="ContentTypeId">
    <vt:lpwstr>0x01010056855CD8FBFA1C40902AF7C6FF147F66</vt:lpwstr>
  </property>
</Properties>
</file>